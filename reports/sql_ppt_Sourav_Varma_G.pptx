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Happy Font TH" charset="1" panose="02000503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jpe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7.png" Type="http://schemas.openxmlformats.org/officeDocument/2006/relationships/image"/><Relationship Id="rId13" Target="../media/image8.svg" Type="http://schemas.openxmlformats.org/officeDocument/2006/relationships/image"/><Relationship Id="rId14" Target="../media/image9.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23.png" Type="http://schemas.openxmlformats.org/officeDocument/2006/relationships/image"/><Relationship Id="rId13" Target="../media/image24.svg" Type="http://schemas.openxmlformats.org/officeDocument/2006/relationships/image"/><Relationship Id="rId14" Target="../media/image25.png" Type="http://schemas.openxmlformats.org/officeDocument/2006/relationships/image"/><Relationship Id="rId15" Target="../media/image26.svg" Type="http://schemas.openxmlformats.org/officeDocument/2006/relationships/image"/><Relationship Id="rId16" Target="../media/image9.png" Type="http://schemas.openxmlformats.org/officeDocument/2006/relationships/image"/><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32.svg" Type="http://schemas.openxmlformats.org/officeDocument/2006/relationships/image"/><Relationship Id="rId12" Target="../media/image7.png" Type="http://schemas.openxmlformats.org/officeDocument/2006/relationships/image"/><Relationship Id="rId13" Target="../media/image8.svg" Type="http://schemas.openxmlformats.org/officeDocument/2006/relationships/image"/><Relationship Id="rId14" Target="../media/image9.png" Type="http://schemas.openxmlformats.org/officeDocument/2006/relationships/image"/><Relationship Id="rId15" Target="../media/image33.png" Type="http://schemas.openxmlformats.org/officeDocument/2006/relationships/image"/><Relationship Id="rId16" Target="../media/image34.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7.png" Type="http://schemas.openxmlformats.org/officeDocument/2006/relationships/image"/><Relationship Id="rId13" Target="../media/image8.svg" Type="http://schemas.openxmlformats.org/officeDocument/2006/relationships/image"/><Relationship Id="rId14" Target="../media/image37.png" Type="http://schemas.openxmlformats.org/officeDocument/2006/relationships/image"/><Relationship Id="rId15" Target="../media/image38.svg" Type="http://schemas.openxmlformats.org/officeDocument/2006/relationships/image"/><Relationship Id="rId16" Target="../media/image9.png" Type="http://schemas.openxmlformats.org/officeDocument/2006/relationships/image"/><Relationship Id="rId2" Target="../media/image35.png" Type="http://schemas.openxmlformats.org/officeDocument/2006/relationships/image"/><Relationship Id="rId3" Target="../media/image36.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39.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31.png" Type="http://schemas.openxmlformats.org/officeDocument/2006/relationships/image"/><Relationship Id="rId9" Target="../media/image3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0.png" Type="http://schemas.openxmlformats.org/officeDocument/2006/relationships/image"/><Relationship Id="rId4" Target="../media/image41.png" Type="http://schemas.openxmlformats.org/officeDocument/2006/relationships/image"/><Relationship Id="rId5" Target="../media/image4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3.png" Type="http://schemas.openxmlformats.org/officeDocument/2006/relationships/image"/><Relationship Id="rId4" Target="../media/image4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5.png" Type="http://schemas.openxmlformats.org/officeDocument/2006/relationships/image"/><Relationship Id="rId4" Target="../media/image4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7.png" Type="http://schemas.openxmlformats.org/officeDocument/2006/relationships/image"/><Relationship Id="rId4" Target="../media/image4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9.png" Type="http://schemas.openxmlformats.org/officeDocument/2006/relationships/image"/><Relationship Id="rId4" Target="../media/image50.png" Type="http://schemas.openxmlformats.org/officeDocument/2006/relationships/image"/><Relationship Id="rId5" Target="../media/image5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52.png" Type="http://schemas.openxmlformats.org/officeDocument/2006/relationships/image"/><Relationship Id="rId4" Target="../media/image53.png" Type="http://schemas.openxmlformats.org/officeDocument/2006/relationships/image"/><Relationship Id="rId5" Target="../media/image5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55.png" Type="http://schemas.openxmlformats.org/officeDocument/2006/relationships/image"/><Relationship Id="rId4" Target="../media/image5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57.png" Type="http://schemas.openxmlformats.org/officeDocument/2006/relationships/image"/><Relationship Id="rId4" Target="../media/image5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59.png" Type="http://schemas.openxmlformats.org/officeDocument/2006/relationships/image"/><Relationship Id="rId4" Target="../media/image6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61.png" Type="http://schemas.openxmlformats.org/officeDocument/2006/relationships/image"/><Relationship Id="rId4" Target="../media/image6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32.svg" Type="http://schemas.openxmlformats.org/officeDocument/2006/relationships/image"/><Relationship Id="rId12" Target="../media/image7.png" Type="http://schemas.openxmlformats.org/officeDocument/2006/relationships/image"/><Relationship Id="rId13" Target="../media/image8.svg" Type="http://schemas.openxmlformats.org/officeDocument/2006/relationships/image"/><Relationship Id="rId14" Target="../media/image9.png" Type="http://schemas.openxmlformats.org/officeDocument/2006/relationships/image"/><Relationship Id="rId15" Target="../media/image63.png" Type="http://schemas.openxmlformats.org/officeDocument/2006/relationships/image"/><Relationship Id="rId16" Target="../media/image64.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7.png" Type="http://schemas.openxmlformats.org/officeDocument/2006/relationships/image"/><Relationship Id="rId13" Target="../media/image8.svg" Type="http://schemas.openxmlformats.org/officeDocument/2006/relationships/image"/><Relationship Id="rId14" Target="../media/image37.png" Type="http://schemas.openxmlformats.org/officeDocument/2006/relationships/image"/><Relationship Id="rId15" Target="../media/image38.svg" Type="http://schemas.openxmlformats.org/officeDocument/2006/relationships/image"/><Relationship Id="rId16" Target="../media/image9.png" Type="http://schemas.openxmlformats.org/officeDocument/2006/relationships/image"/><Relationship Id="rId2" Target="../media/image33.png" Type="http://schemas.openxmlformats.org/officeDocument/2006/relationships/image"/><Relationship Id="rId3" Target="../media/image3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32.svg" Type="http://schemas.openxmlformats.org/officeDocument/2006/relationships/image"/><Relationship Id="rId12" Target="../media/image7.png" Type="http://schemas.openxmlformats.org/officeDocument/2006/relationships/image"/><Relationship Id="rId13" Target="../media/image8.svg" Type="http://schemas.openxmlformats.org/officeDocument/2006/relationships/image"/><Relationship Id="rId14" Target="../media/image9.png" Type="http://schemas.openxmlformats.org/officeDocument/2006/relationships/image"/><Relationship Id="rId15" Target="../media/image65.png" Type="http://schemas.openxmlformats.org/officeDocument/2006/relationships/image"/><Relationship Id="rId16" Target="../media/image66.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31.png" Type="http://schemas.openxmlformats.org/officeDocument/2006/relationships/image"/><Relationship Id="rId8" Target="../media/image3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8E6E6"/>
        </a:solidFill>
      </p:bgPr>
    </p:bg>
    <p:spTree>
      <p:nvGrpSpPr>
        <p:cNvPr id="1" name=""/>
        <p:cNvGrpSpPr/>
        <p:nvPr/>
      </p:nvGrpSpPr>
      <p:grpSpPr>
        <a:xfrm>
          <a:off x="0" y="0"/>
          <a:ext cx="0" cy="0"/>
          <a:chOff x="0" y="0"/>
          <a:chExt cx="0" cy="0"/>
        </a:xfrm>
      </p:grpSpPr>
      <p:sp>
        <p:nvSpPr>
          <p:cNvPr name="TextBox 2" id="2"/>
          <p:cNvSpPr txBox="true"/>
          <p:nvPr/>
        </p:nvSpPr>
        <p:spPr>
          <a:xfrm rot="-739611">
            <a:off x="2517406" y="2716566"/>
            <a:ext cx="4056980" cy="1442138"/>
          </a:xfrm>
          <a:prstGeom prst="rect">
            <a:avLst/>
          </a:prstGeom>
        </p:spPr>
        <p:txBody>
          <a:bodyPr anchor="t" rtlCol="false" tIns="0" lIns="0" bIns="0" rIns="0">
            <a:spAutoFit/>
          </a:bodyPr>
          <a:lstStyle/>
          <a:p>
            <a:pPr algn="l">
              <a:lnSpc>
                <a:spcPts val="7799"/>
              </a:lnSpc>
            </a:pPr>
            <a:r>
              <a:rPr lang="en-US" sz="9999" spc="-879">
                <a:solidFill>
                  <a:srgbClr val="0390A7"/>
                </a:solidFill>
                <a:latin typeface="Happy Font TH"/>
                <a:ea typeface="Happy Font TH"/>
                <a:cs typeface="Happy Font TH"/>
                <a:sym typeface="Happy Font TH"/>
              </a:rPr>
              <a:t>System</a:t>
            </a:r>
          </a:p>
          <a:p>
            <a:pPr algn="l">
              <a:lnSpc>
                <a:spcPts val="7799"/>
              </a:lnSpc>
            </a:pPr>
          </a:p>
        </p:txBody>
      </p:sp>
      <p:sp>
        <p:nvSpPr>
          <p:cNvPr name="TextBox 3" id="3"/>
          <p:cNvSpPr txBox="true"/>
          <p:nvPr/>
        </p:nvSpPr>
        <p:spPr>
          <a:xfrm rot="-473251">
            <a:off x="-663354" y="1305870"/>
            <a:ext cx="10311557" cy="3221161"/>
          </a:xfrm>
          <a:prstGeom prst="rect">
            <a:avLst/>
          </a:prstGeom>
        </p:spPr>
        <p:txBody>
          <a:bodyPr anchor="t" rtlCol="false" tIns="0" lIns="0" bIns="0" rIns="0">
            <a:spAutoFit/>
          </a:bodyPr>
          <a:lstStyle/>
          <a:p>
            <a:pPr algn="l">
              <a:lnSpc>
                <a:spcPts val="7799"/>
              </a:lnSpc>
            </a:pPr>
            <a:r>
              <a:rPr lang="en-US" sz="9999" spc="-879">
                <a:solidFill>
                  <a:srgbClr val="0390A7"/>
                </a:solidFill>
                <a:latin typeface="Happy Font TH"/>
                <a:ea typeface="Happy Font TH"/>
                <a:cs typeface="Happy Font TH"/>
                <a:sym typeface="Happy Font TH"/>
              </a:rPr>
              <a:t>Employee Management </a:t>
            </a:r>
          </a:p>
        </p:txBody>
      </p:sp>
      <p:grpSp>
        <p:nvGrpSpPr>
          <p:cNvPr name="Group 4" id="4"/>
          <p:cNvGrpSpPr/>
          <p:nvPr/>
        </p:nvGrpSpPr>
        <p:grpSpPr>
          <a:xfrm rot="-479999">
            <a:off x="3106883" y="6815013"/>
            <a:ext cx="5666929" cy="2436001"/>
            <a:chOff x="0" y="0"/>
            <a:chExt cx="1492525" cy="641581"/>
          </a:xfrm>
        </p:grpSpPr>
        <p:sp>
          <p:nvSpPr>
            <p:cNvPr name="Freeform 5" id="5"/>
            <p:cNvSpPr/>
            <p:nvPr/>
          </p:nvSpPr>
          <p:spPr>
            <a:xfrm flipH="false" flipV="false" rot="0">
              <a:off x="0" y="0"/>
              <a:ext cx="1492524" cy="641581"/>
            </a:xfrm>
            <a:custGeom>
              <a:avLst/>
              <a:gdLst/>
              <a:ahLst/>
              <a:cxnLst/>
              <a:rect r="r" b="b" t="t" l="l"/>
              <a:pathLst>
                <a:path h="641581" w="1492524">
                  <a:moveTo>
                    <a:pt x="69674" y="0"/>
                  </a:moveTo>
                  <a:lnTo>
                    <a:pt x="1422850" y="0"/>
                  </a:lnTo>
                  <a:cubicBezTo>
                    <a:pt x="1461330" y="0"/>
                    <a:pt x="1492524" y="31194"/>
                    <a:pt x="1492524" y="69674"/>
                  </a:cubicBezTo>
                  <a:lnTo>
                    <a:pt x="1492524" y="571907"/>
                  </a:lnTo>
                  <a:cubicBezTo>
                    <a:pt x="1492524" y="610386"/>
                    <a:pt x="1461330" y="641581"/>
                    <a:pt x="1422850" y="641581"/>
                  </a:cubicBezTo>
                  <a:lnTo>
                    <a:pt x="69674" y="641581"/>
                  </a:lnTo>
                  <a:cubicBezTo>
                    <a:pt x="31194" y="641581"/>
                    <a:pt x="0" y="610386"/>
                    <a:pt x="0" y="571907"/>
                  </a:cubicBezTo>
                  <a:lnTo>
                    <a:pt x="0" y="69674"/>
                  </a:lnTo>
                  <a:cubicBezTo>
                    <a:pt x="0" y="31194"/>
                    <a:pt x="31194" y="0"/>
                    <a:pt x="69674" y="0"/>
                  </a:cubicBezTo>
                  <a:close/>
                </a:path>
              </a:pathLst>
            </a:custGeom>
            <a:solidFill>
              <a:srgbClr val="F4F4F4"/>
            </a:solidFill>
            <a:ln w="19050" cap="rnd">
              <a:solidFill>
                <a:srgbClr val="000000"/>
              </a:solidFill>
              <a:prstDash val="solid"/>
              <a:round/>
            </a:ln>
          </p:spPr>
        </p:sp>
        <p:sp>
          <p:nvSpPr>
            <p:cNvPr name="TextBox 6" id="6"/>
            <p:cNvSpPr txBox="true"/>
            <p:nvPr/>
          </p:nvSpPr>
          <p:spPr>
            <a:xfrm>
              <a:off x="0" y="-76200"/>
              <a:ext cx="1492525" cy="717781"/>
            </a:xfrm>
            <a:prstGeom prst="rect">
              <a:avLst/>
            </a:prstGeom>
          </p:spPr>
          <p:txBody>
            <a:bodyPr anchor="ctr" rtlCol="false" tIns="50800" lIns="50800" bIns="50800" rIns="50800"/>
            <a:lstStyle/>
            <a:p>
              <a:pPr algn="ctr">
                <a:lnSpc>
                  <a:spcPts val="5880"/>
                </a:lnSpc>
              </a:pPr>
            </a:p>
          </p:txBody>
        </p:sp>
      </p:grpSp>
      <p:sp>
        <p:nvSpPr>
          <p:cNvPr name="Freeform 7" id="7"/>
          <p:cNvSpPr/>
          <p:nvPr/>
        </p:nvSpPr>
        <p:spPr>
          <a:xfrm flipH="false" flipV="false" rot="-300000">
            <a:off x="337709" y="409377"/>
            <a:ext cx="2020187" cy="1108944"/>
          </a:xfrm>
          <a:custGeom>
            <a:avLst/>
            <a:gdLst/>
            <a:ahLst/>
            <a:cxnLst/>
            <a:rect r="r" b="b" t="t" l="l"/>
            <a:pathLst>
              <a:path h="1108944" w="2020187">
                <a:moveTo>
                  <a:pt x="0" y="0"/>
                </a:moveTo>
                <a:lnTo>
                  <a:pt x="2020186" y="0"/>
                </a:lnTo>
                <a:lnTo>
                  <a:pt x="2020186" y="1108944"/>
                </a:lnTo>
                <a:lnTo>
                  <a:pt x="0" y="11089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5037131">
            <a:off x="2411486" y="6337170"/>
            <a:ext cx="974875" cy="1051335"/>
          </a:xfrm>
          <a:custGeom>
            <a:avLst/>
            <a:gdLst/>
            <a:ahLst/>
            <a:cxnLst/>
            <a:rect r="r" b="b" t="t" l="l"/>
            <a:pathLst>
              <a:path h="1051335" w="974875">
                <a:moveTo>
                  <a:pt x="0" y="0"/>
                </a:moveTo>
                <a:lnTo>
                  <a:pt x="974875" y="0"/>
                </a:lnTo>
                <a:lnTo>
                  <a:pt x="974875" y="1051336"/>
                </a:lnTo>
                <a:lnTo>
                  <a:pt x="0" y="10513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3950969">
            <a:off x="8163658" y="600317"/>
            <a:ext cx="200635" cy="251365"/>
          </a:xfrm>
          <a:custGeom>
            <a:avLst/>
            <a:gdLst/>
            <a:ahLst/>
            <a:cxnLst/>
            <a:rect r="r" b="b" t="t" l="l"/>
            <a:pathLst>
              <a:path h="251365" w="200635">
                <a:moveTo>
                  <a:pt x="0" y="0"/>
                </a:moveTo>
                <a:lnTo>
                  <a:pt x="200634" y="0"/>
                </a:lnTo>
                <a:lnTo>
                  <a:pt x="200634" y="251364"/>
                </a:lnTo>
                <a:lnTo>
                  <a:pt x="0" y="2513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5308566">
            <a:off x="1375791" y="5662281"/>
            <a:ext cx="200635" cy="251365"/>
          </a:xfrm>
          <a:custGeom>
            <a:avLst/>
            <a:gdLst/>
            <a:ahLst/>
            <a:cxnLst/>
            <a:rect r="r" b="b" t="t" l="l"/>
            <a:pathLst>
              <a:path h="251365" w="200635">
                <a:moveTo>
                  <a:pt x="0" y="0"/>
                </a:moveTo>
                <a:lnTo>
                  <a:pt x="200634" y="0"/>
                </a:lnTo>
                <a:lnTo>
                  <a:pt x="200634" y="251364"/>
                </a:lnTo>
                <a:lnTo>
                  <a:pt x="0" y="2513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1719061">
            <a:off x="17610934" y="275256"/>
            <a:ext cx="379921" cy="383118"/>
          </a:xfrm>
          <a:custGeom>
            <a:avLst/>
            <a:gdLst/>
            <a:ahLst/>
            <a:cxnLst/>
            <a:rect r="r" b="b" t="t" l="l"/>
            <a:pathLst>
              <a:path h="383118" w="379921">
                <a:moveTo>
                  <a:pt x="0" y="0"/>
                </a:moveTo>
                <a:lnTo>
                  <a:pt x="379921" y="0"/>
                </a:lnTo>
                <a:lnTo>
                  <a:pt x="379921" y="383117"/>
                </a:lnTo>
                <a:lnTo>
                  <a:pt x="0" y="3831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719061">
            <a:off x="361815" y="9590678"/>
            <a:ext cx="379921" cy="383118"/>
          </a:xfrm>
          <a:custGeom>
            <a:avLst/>
            <a:gdLst/>
            <a:ahLst/>
            <a:cxnLst/>
            <a:rect r="r" b="b" t="t" l="l"/>
            <a:pathLst>
              <a:path h="383118" w="379921">
                <a:moveTo>
                  <a:pt x="0" y="0"/>
                </a:moveTo>
                <a:lnTo>
                  <a:pt x="379921" y="0"/>
                </a:lnTo>
                <a:lnTo>
                  <a:pt x="379921" y="383118"/>
                </a:lnTo>
                <a:lnTo>
                  <a:pt x="0" y="38311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3221352" y="9277474"/>
            <a:ext cx="4838090" cy="1009526"/>
          </a:xfrm>
          <a:custGeom>
            <a:avLst/>
            <a:gdLst/>
            <a:ahLst/>
            <a:cxnLst/>
            <a:rect r="r" b="b" t="t" l="l"/>
            <a:pathLst>
              <a:path h="1009526" w="4838090">
                <a:moveTo>
                  <a:pt x="0" y="0"/>
                </a:moveTo>
                <a:lnTo>
                  <a:pt x="4838091" y="0"/>
                </a:lnTo>
                <a:lnTo>
                  <a:pt x="4838091" y="1009526"/>
                </a:lnTo>
                <a:lnTo>
                  <a:pt x="0" y="1009526"/>
                </a:lnTo>
                <a:lnTo>
                  <a:pt x="0" y="0"/>
                </a:lnTo>
                <a:close/>
              </a:path>
            </a:pathLst>
          </a:custGeom>
          <a:blipFill>
            <a:blip r:embed="rId10"/>
            <a:stretch>
              <a:fillRect l="0" t="0" r="0" b="0"/>
            </a:stretch>
          </a:blipFill>
        </p:spPr>
      </p:sp>
      <p:sp>
        <p:nvSpPr>
          <p:cNvPr name="Freeform 14" id="14"/>
          <p:cNvSpPr/>
          <p:nvPr/>
        </p:nvSpPr>
        <p:spPr>
          <a:xfrm flipH="false" flipV="false" rot="0">
            <a:off x="9941083" y="1036458"/>
            <a:ext cx="7407500" cy="7897797"/>
          </a:xfrm>
          <a:custGeom>
            <a:avLst/>
            <a:gdLst/>
            <a:ahLst/>
            <a:cxnLst/>
            <a:rect r="r" b="b" t="t" l="l"/>
            <a:pathLst>
              <a:path h="7897797" w="7407500">
                <a:moveTo>
                  <a:pt x="0" y="0"/>
                </a:moveTo>
                <a:lnTo>
                  <a:pt x="7407500" y="0"/>
                </a:lnTo>
                <a:lnTo>
                  <a:pt x="7407500" y="7897797"/>
                </a:lnTo>
                <a:lnTo>
                  <a:pt x="0" y="7897797"/>
                </a:lnTo>
                <a:lnTo>
                  <a:pt x="0" y="0"/>
                </a:lnTo>
                <a:close/>
              </a:path>
            </a:pathLst>
          </a:custGeom>
          <a:blipFill>
            <a:blip r:embed="rId11"/>
            <a:stretch>
              <a:fillRect l="-119802" t="-19951" r="-20667" b="-6915"/>
            </a:stretch>
          </a:blipFill>
        </p:spPr>
      </p:sp>
      <p:sp>
        <p:nvSpPr>
          <p:cNvPr name="TextBox 15" id="15"/>
          <p:cNvSpPr txBox="true"/>
          <p:nvPr/>
        </p:nvSpPr>
        <p:spPr>
          <a:xfrm rot="-479999">
            <a:off x="3926015" y="7463234"/>
            <a:ext cx="4033967" cy="1177290"/>
          </a:xfrm>
          <a:prstGeom prst="rect">
            <a:avLst/>
          </a:prstGeom>
        </p:spPr>
        <p:txBody>
          <a:bodyPr anchor="t" rtlCol="false" tIns="0" lIns="0" bIns="0" rIns="0">
            <a:spAutoFit/>
          </a:bodyPr>
          <a:lstStyle/>
          <a:p>
            <a:pPr algn="ctr">
              <a:lnSpc>
                <a:spcPts val="4620"/>
              </a:lnSpc>
            </a:pPr>
            <a:r>
              <a:rPr lang="en-US" sz="4200" spc="-210">
                <a:solidFill>
                  <a:srgbClr val="010101"/>
                </a:solidFill>
                <a:latin typeface="Happy Font TH"/>
                <a:ea typeface="Happy Font TH"/>
                <a:cs typeface="Happy Font TH"/>
                <a:sym typeface="Happy Font TH"/>
              </a:rPr>
              <a:t>Presented by</a:t>
            </a:r>
          </a:p>
          <a:p>
            <a:pPr algn="ctr">
              <a:lnSpc>
                <a:spcPts val="4620"/>
              </a:lnSpc>
            </a:pPr>
            <a:r>
              <a:rPr lang="en-US" sz="4200" spc="-210">
                <a:solidFill>
                  <a:srgbClr val="010101"/>
                </a:solidFill>
                <a:latin typeface="Happy Font TH"/>
                <a:ea typeface="Happy Font TH"/>
                <a:cs typeface="Happy Font TH"/>
                <a:sym typeface="Happy Font TH"/>
              </a:rPr>
              <a:t>Sourav Varma G</a:t>
            </a:r>
          </a:p>
        </p:txBody>
      </p:sp>
      <p:sp>
        <p:nvSpPr>
          <p:cNvPr name="Freeform 16" id="16"/>
          <p:cNvSpPr/>
          <p:nvPr/>
        </p:nvSpPr>
        <p:spPr>
          <a:xfrm flipH="false" flipV="false" rot="-1985749">
            <a:off x="8726591" y="8910544"/>
            <a:ext cx="550608" cy="585292"/>
          </a:xfrm>
          <a:custGeom>
            <a:avLst/>
            <a:gdLst/>
            <a:ahLst/>
            <a:cxnLst/>
            <a:rect r="r" b="b" t="t" l="l"/>
            <a:pathLst>
              <a:path h="585292" w="550608">
                <a:moveTo>
                  <a:pt x="0" y="0"/>
                </a:moveTo>
                <a:lnTo>
                  <a:pt x="550608" y="0"/>
                </a:lnTo>
                <a:lnTo>
                  <a:pt x="550608" y="585292"/>
                </a:lnTo>
                <a:lnTo>
                  <a:pt x="0" y="58529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7" id="17"/>
          <p:cNvSpPr/>
          <p:nvPr/>
        </p:nvSpPr>
        <p:spPr>
          <a:xfrm flipH="false" flipV="false" rot="195028">
            <a:off x="8070121" y="5805632"/>
            <a:ext cx="631145" cy="279385"/>
          </a:xfrm>
          <a:custGeom>
            <a:avLst/>
            <a:gdLst/>
            <a:ahLst/>
            <a:cxnLst/>
            <a:rect r="r" b="b" t="t" l="l"/>
            <a:pathLst>
              <a:path h="279385" w="631145">
                <a:moveTo>
                  <a:pt x="0" y="0"/>
                </a:moveTo>
                <a:lnTo>
                  <a:pt x="631144" y="0"/>
                </a:lnTo>
                <a:lnTo>
                  <a:pt x="631144" y="279384"/>
                </a:lnTo>
                <a:lnTo>
                  <a:pt x="0" y="27938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8E6E6"/>
        </a:solidFill>
      </p:bgPr>
    </p:bg>
    <p:spTree>
      <p:nvGrpSpPr>
        <p:cNvPr id="1" name=""/>
        <p:cNvGrpSpPr/>
        <p:nvPr/>
      </p:nvGrpSpPr>
      <p:grpSpPr>
        <a:xfrm>
          <a:off x="0" y="0"/>
          <a:ext cx="0" cy="0"/>
          <a:chOff x="0" y="0"/>
          <a:chExt cx="0" cy="0"/>
        </a:xfrm>
      </p:grpSpPr>
      <p:sp>
        <p:nvSpPr>
          <p:cNvPr name="Freeform 2" id="2"/>
          <p:cNvSpPr/>
          <p:nvPr/>
        </p:nvSpPr>
        <p:spPr>
          <a:xfrm flipH="false" flipV="false" rot="0">
            <a:off x="10113383" y="2482615"/>
            <a:ext cx="7505451" cy="6045300"/>
          </a:xfrm>
          <a:custGeom>
            <a:avLst/>
            <a:gdLst/>
            <a:ahLst/>
            <a:cxnLst/>
            <a:rect r="r" b="b" t="t" l="l"/>
            <a:pathLst>
              <a:path h="6045300" w="7505451">
                <a:moveTo>
                  <a:pt x="0" y="0"/>
                </a:moveTo>
                <a:lnTo>
                  <a:pt x="7505451" y="0"/>
                </a:lnTo>
                <a:lnTo>
                  <a:pt x="7505451" y="6045300"/>
                </a:lnTo>
                <a:lnTo>
                  <a:pt x="0" y="6045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695999">
            <a:off x="6483341" y="7307732"/>
            <a:ext cx="3011645" cy="1538685"/>
            <a:chOff x="0" y="0"/>
            <a:chExt cx="793190" cy="405250"/>
          </a:xfrm>
        </p:grpSpPr>
        <p:sp>
          <p:nvSpPr>
            <p:cNvPr name="Freeform 4" id="4"/>
            <p:cNvSpPr/>
            <p:nvPr/>
          </p:nvSpPr>
          <p:spPr>
            <a:xfrm flipH="false" flipV="false" rot="0">
              <a:off x="0" y="0"/>
              <a:ext cx="793190" cy="405250"/>
            </a:xfrm>
            <a:custGeom>
              <a:avLst/>
              <a:gdLst/>
              <a:ahLst/>
              <a:cxnLst/>
              <a:rect r="r" b="b" t="t" l="l"/>
              <a:pathLst>
                <a:path h="405250" w="793190">
                  <a:moveTo>
                    <a:pt x="131104" y="0"/>
                  </a:moveTo>
                  <a:lnTo>
                    <a:pt x="662087" y="0"/>
                  </a:lnTo>
                  <a:cubicBezTo>
                    <a:pt x="696858" y="0"/>
                    <a:pt x="730204" y="13813"/>
                    <a:pt x="754791" y="38399"/>
                  </a:cubicBezTo>
                  <a:cubicBezTo>
                    <a:pt x="779378" y="62986"/>
                    <a:pt x="793190" y="96333"/>
                    <a:pt x="793190" y="131104"/>
                  </a:cubicBezTo>
                  <a:lnTo>
                    <a:pt x="793190" y="274147"/>
                  </a:lnTo>
                  <a:cubicBezTo>
                    <a:pt x="793190" y="346553"/>
                    <a:pt x="734493" y="405250"/>
                    <a:pt x="662087" y="405250"/>
                  </a:cubicBezTo>
                  <a:lnTo>
                    <a:pt x="131104" y="405250"/>
                  </a:lnTo>
                  <a:cubicBezTo>
                    <a:pt x="58697" y="405250"/>
                    <a:pt x="0" y="346553"/>
                    <a:pt x="0" y="274147"/>
                  </a:cubicBezTo>
                  <a:lnTo>
                    <a:pt x="0" y="131104"/>
                  </a:lnTo>
                  <a:cubicBezTo>
                    <a:pt x="0" y="58697"/>
                    <a:pt x="58697" y="0"/>
                    <a:pt x="131104" y="0"/>
                  </a:cubicBezTo>
                  <a:close/>
                </a:path>
              </a:pathLst>
            </a:custGeom>
            <a:solidFill>
              <a:srgbClr val="F4F4F4"/>
            </a:solidFill>
            <a:ln w="19050" cap="rnd">
              <a:solidFill>
                <a:srgbClr val="000000"/>
              </a:solidFill>
              <a:prstDash val="solid"/>
              <a:round/>
            </a:ln>
          </p:spPr>
        </p:sp>
        <p:sp>
          <p:nvSpPr>
            <p:cNvPr name="TextBox 5" id="5"/>
            <p:cNvSpPr txBox="true"/>
            <p:nvPr/>
          </p:nvSpPr>
          <p:spPr>
            <a:xfrm>
              <a:off x="0" y="-57150"/>
              <a:ext cx="793190" cy="462400"/>
            </a:xfrm>
            <a:prstGeom prst="rect">
              <a:avLst/>
            </a:prstGeom>
          </p:spPr>
          <p:txBody>
            <a:bodyPr anchor="ctr" rtlCol="false" tIns="50800" lIns="50800" bIns="50800" rIns="50800"/>
            <a:lstStyle/>
            <a:p>
              <a:pPr algn="ctr">
                <a:lnSpc>
                  <a:spcPts val="4200"/>
                </a:lnSpc>
              </a:pPr>
            </a:p>
          </p:txBody>
        </p:sp>
      </p:grpSp>
      <p:sp>
        <p:nvSpPr>
          <p:cNvPr name="TextBox 6" id="6"/>
          <p:cNvSpPr txBox="true"/>
          <p:nvPr/>
        </p:nvSpPr>
        <p:spPr>
          <a:xfrm rot="-695999">
            <a:off x="6974142" y="7814922"/>
            <a:ext cx="2053027" cy="636270"/>
          </a:xfrm>
          <a:prstGeom prst="rect">
            <a:avLst/>
          </a:prstGeom>
        </p:spPr>
        <p:txBody>
          <a:bodyPr anchor="t" rtlCol="false" tIns="0" lIns="0" bIns="0" rIns="0">
            <a:spAutoFit/>
          </a:bodyPr>
          <a:lstStyle/>
          <a:p>
            <a:pPr algn="ctr">
              <a:lnSpc>
                <a:spcPts val="2340"/>
              </a:lnSpc>
            </a:pPr>
            <a:r>
              <a:rPr lang="en-US" sz="3000" spc="-263">
                <a:solidFill>
                  <a:srgbClr val="010101"/>
                </a:solidFill>
                <a:latin typeface="Happy Font TH"/>
                <a:ea typeface="Happy Font TH"/>
                <a:cs typeface="Happy Font TH"/>
                <a:sym typeface="Happy Font TH"/>
              </a:rPr>
              <a:t>Improves HR efficiency</a:t>
            </a:r>
          </a:p>
        </p:txBody>
      </p:sp>
      <p:grpSp>
        <p:nvGrpSpPr>
          <p:cNvPr name="Group 7" id="7"/>
          <p:cNvGrpSpPr/>
          <p:nvPr/>
        </p:nvGrpSpPr>
        <p:grpSpPr>
          <a:xfrm rot="-300000">
            <a:off x="1070136" y="2712767"/>
            <a:ext cx="4812170" cy="1023395"/>
            <a:chOff x="0" y="0"/>
            <a:chExt cx="1267403" cy="269536"/>
          </a:xfrm>
        </p:grpSpPr>
        <p:sp>
          <p:nvSpPr>
            <p:cNvPr name="Freeform 8" id="8"/>
            <p:cNvSpPr/>
            <p:nvPr/>
          </p:nvSpPr>
          <p:spPr>
            <a:xfrm flipH="false" flipV="false" rot="0">
              <a:off x="0" y="0"/>
              <a:ext cx="1267403" cy="269536"/>
            </a:xfrm>
            <a:custGeom>
              <a:avLst/>
              <a:gdLst/>
              <a:ahLst/>
              <a:cxnLst/>
              <a:rect r="r" b="b" t="t" l="l"/>
              <a:pathLst>
                <a:path h="269536" w="1267403">
                  <a:moveTo>
                    <a:pt x="82050" y="0"/>
                  </a:moveTo>
                  <a:lnTo>
                    <a:pt x="1185353" y="0"/>
                  </a:lnTo>
                  <a:cubicBezTo>
                    <a:pt x="1207114" y="0"/>
                    <a:pt x="1227983" y="8645"/>
                    <a:pt x="1243371" y="24032"/>
                  </a:cubicBezTo>
                  <a:cubicBezTo>
                    <a:pt x="1258758" y="39419"/>
                    <a:pt x="1267403" y="60289"/>
                    <a:pt x="1267403" y="82050"/>
                  </a:cubicBezTo>
                  <a:lnTo>
                    <a:pt x="1267403" y="187486"/>
                  </a:lnTo>
                  <a:cubicBezTo>
                    <a:pt x="1267403" y="209247"/>
                    <a:pt x="1258758" y="230117"/>
                    <a:pt x="1243371" y="245504"/>
                  </a:cubicBezTo>
                  <a:cubicBezTo>
                    <a:pt x="1227983" y="260892"/>
                    <a:pt x="1207114" y="269536"/>
                    <a:pt x="1185353" y="269536"/>
                  </a:cubicBezTo>
                  <a:lnTo>
                    <a:pt x="82050" y="269536"/>
                  </a:lnTo>
                  <a:cubicBezTo>
                    <a:pt x="60289" y="269536"/>
                    <a:pt x="39419" y="260892"/>
                    <a:pt x="24032" y="245504"/>
                  </a:cubicBezTo>
                  <a:cubicBezTo>
                    <a:pt x="8645" y="230117"/>
                    <a:pt x="0" y="209247"/>
                    <a:pt x="0" y="187486"/>
                  </a:cubicBezTo>
                  <a:lnTo>
                    <a:pt x="0" y="82050"/>
                  </a:lnTo>
                  <a:cubicBezTo>
                    <a:pt x="0" y="60289"/>
                    <a:pt x="8645" y="39419"/>
                    <a:pt x="24032" y="24032"/>
                  </a:cubicBezTo>
                  <a:cubicBezTo>
                    <a:pt x="39419" y="8645"/>
                    <a:pt x="60289" y="0"/>
                    <a:pt x="82050" y="0"/>
                  </a:cubicBezTo>
                  <a:close/>
                </a:path>
              </a:pathLst>
            </a:custGeom>
            <a:solidFill>
              <a:srgbClr val="F4F4F4"/>
            </a:solidFill>
            <a:ln w="19050" cap="rnd">
              <a:solidFill>
                <a:srgbClr val="000000"/>
              </a:solidFill>
              <a:prstDash val="solid"/>
              <a:round/>
            </a:ln>
          </p:spPr>
        </p:sp>
        <p:sp>
          <p:nvSpPr>
            <p:cNvPr name="TextBox 9" id="9"/>
            <p:cNvSpPr txBox="true"/>
            <p:nvPr/>
          </p:nvSpPr>
          <p:spPr>
            <a:xfrm>
              <a:off x="0" y="-47625"/>
              <a:ext cx="1267403" cy="317161"/>
            </a:xfrm>
            <a:prstGeom prst="rect">
              <a:avLst/>
            </a:prstGeom>
          </p:spPr>
          <p:txBody>
            <a:bodyPr anchor="ctr" rtlCol="false" tIns="50800" lIns="50800" bIns="50800" rIns="50800"/>
            <a:lstStyle/>
            <a:p>
              <a:pPr algn="ctr">
                <a:lnSpc>
                  <a:spcPts val="2800"/>
                </a:lnSpc>
              </a:pPr>
            </a:p>
          </p:txBody>
        </p:sp>
      </p:grpSp>
      <p:sp>
        <p:nvSpPr>
          <p:cNvPr name="TextBox 10" id="10"/>
          <p:cNvSpPr txBox="true"/>
          <p:nvPr/>
        </p:nvSpPr>
        <p:spPr>
          <a:xfrm rot="-300000">
            <a:off x="1064360" y="2736555"/>
            <a:ext cx="4915290" cy="857250"/>
          </a:xfrm>
          <a:prstGeom prst="rect">
            <a:avLst/>
          </a:prstGeom>
        </p:spPr>
        <p:txBody>
          <a:bodyPr anchor="t" rtlCol="false" tIns="0" lIns="0" bIns="0" rIns="0">
            <a:spAutoFit/>
          </a:bodyPr>
          <a:lstStyle/>
          <a:p>
            <a:pPr algn="ctr">
              <a:lnSpc>
                <a:spcPts val="3300"/>
              </a:lnSpc>
            </a:pPr>
            <a:r>
              <a:rPr lang="en-US" sz="3000" spc="-150">
                <a:solidFill>
                  <a:srgbClr val="010101"/>
                </a:solidFill>
                <a:latin typeface="Happy Font TH"/>
                <a:ea typeface="Happy Font TH"/>
                <a:cs typeface="Happy Font TH"/>
                <a:sym typeface="Happy Font TH"/>
              </a:rPr>
              <a:t>A system used to manage employee data</a:t>
            </a:r>
          </a:p>
        </p:txBody>
      </p:sp>
      <p:grpSp>
        <p:nvGrpSpPr>
          <p:cNvPr name="Group 11" id="11"/>
          <p:cNvGrpSpPr/>
          <p:nvPr/>
        </p:nvGrpSpPr>
        <p:grpSpPr>
          <a:xfrm rot="-600000">
            <a:off x="3997127" y="4784584"/>
            <a:ext cx="5579372" cy="1217213"/>
            <a:chOff x="0" y="0"/>
            <a:chExt cx="1871305" cy="408250"/>
          </a:xfrm>
        </p:grpSpPr>
        <p:sp>
          <p:nvSpPr>
            <p:cNvPr name="Freeform 12" id="12"/>
            <p:cNvSpPr/>
            <p:nvPr/>
          </p:nvSpPr>
          <p:spPr>
            <a:xfrm flipH="false" flipV="false" rot="0">
              <a:off x="0" y="0"/>
              <a:ext cx="1871305" cy="408250"/>
            </a:xfrm>
            <a:custGeom>
              <a:avLst/>
              <a:gdLst/>
              <a:ahLst/>
              <a:cxnLst/>
              <a:rect r="r" b="b" t="t" l="l"/>
              <a:pathLst>
                <a:path h="408250" w="1871305">
                  <a:moveTo>
                    <a:pt x="70767" y="0"/>
                  </a:moveTo>
                  <a:lnTo>
                    <a:pt x="1800537" y="0"/>
                  </a:lnTo>
                  <a:cubicBezTo>
                    <a:pt x="1819306" y="0"/>
                    <a:pt x="1837306" y="7456"/>
                    <a:pt x="1850577" y="20727"/>
                  </a:cubicBezTo>
                  <a:cubicBezTo>
                    <a:pt x="1863849" y="33999"/>
                    <a:pt x="1871305" y="51999"/>
                    <a:pt x="1871305" y="70767"/>
                  </a:cubicBezTo>
                  <a:lnTo>
                    <a:pt x="1871305" y="337482"/>
                  </a:lnTo>
                  <a:cubicBezTo>
                    <a:pt x="1871305" y="376566"/>
                    <a:pt x="1839621" y="408250"/>
                    <a:pt x="1800537" y="408250"/>
                  </a:cubicBezTo>
                  <a:lnTo>
                    <a:pt x="70767" y="408250"/>
                  </a:lnTo>
                  <a:cubicBezTo>
                    <a:pt x="31684" y="408250"/>
                    <a:pt x="0" y="376566"/>
                    <a:pt x="0" y="337482"/>
                  </a:cubicBezTo>
                  <a:lnTo>
                    <a:pt x="0" y="70767"/>
                  </a:lnTo>
                  <a:cubicBezTo>
                    <a:pt x="0" y="31684"/>
                    <a:pt x="31684" y="0"/>
                    <a:pt x="70767" y="0"/>
                  </a:cubicBezTo>
                  <a:close/>
                </a:path>
              </a:pathLst>
            </a:custGeom>
            <a:solidFill>
              <a:srgbClr val="F4F4F4"/>
            </a:solidFill>
            <a:ln w="19050" cap="rnd">
              <a:solidFill>
                <a:srgbClr val="000000"/>
              </a:solidFill>
              <a:prstDash val="solid"/>
              <a:round/>
            </a:ln>
          </p:spPr>
        </p:sp>
        <p:sp>
          <p:nvSpPr>
            <p:cNvPr name="TextBox 13" id="13"/>
            <p:cNvSpPr txBox="true"/>
            <p:nvPr/>
          </p:nvSpPr>
          <p:spPr>
            <a:xfrm>
              <a:off x="0" y="-47625"/>
              <a:ext cx="1871305" cy="455875"/>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600000">
            <a:off x="4704395" y="4973945"/>
            <a:ext cx="4168145" cy="857250"/>
          </a:xfrm>
          <a:prstGeom prst="rect">
            <a:avLst/>
          </a:prstGeom>
        </p:spPr>
        <p:txBody>
          <a:bodyPr anchor="t" rtlCol="false" tIns="0" lIns="0" bIns="0" rIns="0">
            <a:spAutoFit/>
          </a:bodyPr>
          <a:lstStyle/>
          <a:p>
            <a:pPr algn="ctr">
              <a:lnSpc>
                <a:spcPts val="3300"/>
              </a:lnSpc>
            </a:pPr>
            <a:r>
              <a:rPr lang="en-US" sz="3000" spc="-150">
                <a:solidFill>
                  <a:srgbClr val="010101"/>
                </a:solidFill>
                <a:latin typeface="Happy Font TH"/>
                <a:ea typeface="Happy Font TH"/>
                <a:cs typeface="Happy Font TH"/>
                <a:sym typeface="Happy Font TH"/>
              </a:rPr>
              <a:t>Tracks departments, job roles, salaries, leaves</a:t>
            </a:r>
          </a:p>
        </p:txBody>
      </p:sp>
      <p:grpSp>
        <p:nvGrpSpPr>
          <p:cNvPr name="Group 15" id="15"/>
          <p:cNvGrpSpPr/>
          <p:nvPr/>
        </p:nvGrpSpPr>
        <p:grpSpPr>
          <a:xfrm rot="472950">
            <a:off x="1453273" y="7041838"/>
            <a:ext cx="2806597" cy="1550073"/>
            <a:chOff x="0" y="0"/>
            <a:chExt cx="739186" cy="408250"/>
          </a:xfrm>
        </p:grpSpPr>
        <p:sp>
          <p:nvSpPr>
            <p:cNvPr name="Freeform 16" id="16"/>
            <p:cNvSpPr/>
            <p:nvPr/>
          </p:nvSpPr>
          <p:spPr>
            <a:xfrm flipH="false" flipV="false" rot="0">
              <a:off x="0" y="0"/>
              <a:ext cx="739186" cy="408250"/>
            </a:xfrm>
            <a:custGeom>
              <a:avLst/>
              <a:gdLst/>
              <a:ahLst/>
              <a:cxnLst/>
              <a:rect r="r" b="b" t="t" l="l"/>
              <a:pathLst>
                <a:path h="408250" w="739186">
                  <a:moveTo>
                    <a:pt x="140682" y="0"/>
                  </a:moveTo>
                  <a:lnTo>
                    <a:pt x="598504" y="0"/>
                  </a:lnTo>
                  <a:cubicBezTo>
                    <a:pt x="676201" y="0"/>
                    <a:pt x="739186" y="62986"/>
                    <a:pt x="739186" y="140682"/>
                  </a:cubicBezTo>
                  <a:lnTo>
                    <a:pt x="739186" y="267568"/>
                  </a:lnTo>
                  <a:cubicBezTo>
                    <a:pt x="739186" y="345264"/>
                    <a:pt x="676201" y="408250"/>
                    <a:pt x="598504" y="408250"/>
                  </a:cubicBezTo>
                  <a:lnTo>
                    <a:pt x="140682" y="408250"/>
                  </a:lnTo>
                  <a:cubicBezTo>
                    <a:pt x="103371" y="408250"/>
                    <a:pt x="67588" y="393428"/>
                    <a:pt x="41205" y="367045"/>
                  </a:cubicBezTo>
                  <a:cubicBezTo>
                    <a:pt x="14822" y="340662"/>
                    <a:pt x="0" y="304879"/>
                    <a:pt x="0" y="267568"/>
                  </a:cubicBezTo>
                  <a:lnTo>
                    <a:pt x="0" y="140682"/>
                  </a:lnTo>
                  <a:cubicBezTo>
                    <a:pt x="0" y="62986"/>
                    <a:pt x="62986" y="0"/>
                    <a:pt x="140682" y="0"/>
                  </a:cubicBezTo>
                  <a:close/>
                </a:path>
              </a:pathLst>
            </a:custGeom>
            <a:solidFill>
              <a:srgbClr val="F4F4F4"/>
            </a:solidFill>
            <a:ln w="19050" cap="rnd">
              <a:solidFill>
                <a:srgbClr val="000000"/>
              </a:solidFill>
              <a:prstDash val="solid"/>
              <a:round/>
            </a:ln>
          </p:spPr>
        </p:sp>
        <p:sp>
          <p:nvSpPr>
            <p:cNvPr name="TextBox 17" id="17"/>
            <p:cNvSpPr txBox="true"/>
            <p:nvPr/>
          </p:nvSpPr>
          <p:spPr>
            <a:xfrm>
              <a:off x="0" y="-38100"/>
              <a:ext cx="739186" cy="446350"/>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472950">
            <a:off x="1787098" y="7198310"/>
            <a:ext cx="2136334" cy="1276350"/>
          </a:xfrm>
          <a:prstGeom prst="rect">
            <a:avLst/>
          </a:prstGeom>
        </p:spPr>
        <p:txBody>
          <a:bodyPr anchor="t" rtlCol="false" tIns="0" lIns="0" bIns="0" rIns="0">
            <a:spAutoFit/>
          </a:bodyPr>
          <a:lstStyle/>
          <a:p>
            <a:pPr algn="ctr">
              <a:lnSpc>
                <a:spcPts val="3300"/>
              </a:lnSpc>
            </a:pPr>
            <a:r>
              <a:rPr lang="en-US" sz="3000" spc="-150">
                <a:solidFill>
                  <a:srgbClr val="010101"/>
                </a:solidFill>
                <a:latin typeface="Happy Font TH"/>
                <a:ea typeface="Happy Font TH"/>
                <a:cs typeface="Happy Font TH"/>
                <a:sym typeface="Happy Font TH"/>
              </a:rPr>
              <a:t>Used for payroll processing</a:t>
            </a:r>
          </a:p>
        </p:txBody>
      </p:sp>
      <p:sp>
        <p:nvSpPr>
          <p:cNvPr name="Freeform 19" id="19"/>
          <p:cNvSpPr/>
          <p:nvPr/>
        </p:nvSpPr>
        <p:spPr>
          <a:xfrm flipH="false" flipV="false" rot="2366768">
            <a:off x="5974750" y="3818237"/>
            <a:ext cx="200635" cy="251365"/>
          </a:xfrm>
          <a:custGeom>
            <a:avLst/>
            <a:gdLst/>
            <a:ahLst/>
            <a:cxnLst/>
            <a:rect r="r" b="b" t="t" l="l"/>
            <a:pathLst>
              <a:path h="251365" w="200635">
                <a:moveTo>
                  <a:pt x="0" y="0"/>
                </a:moveTo>
                <a:lnTo>
                  <a:pt x="200634" y="0"/>
                </a:lnTo>
                <a:lnTo>
                  <a:pt x="200634" y="251365"/>
                </a:lnTo>
                <a:lnTo>
                  <a:pt x="0" y="2513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5308566">
            <a:off x="1259924" y="8904184"/>
            <a:ext cx="200635" cy="251365"/>
          </a:xfrm>
          <a:custGeom>
            <a:avLst/>
            <a:gdLst/>
            <a:ahLst/>
            <a:cxnLst/>
            <a:rect r="r" b="b" t="t" l="l"/>
            <a:pathLst>
              <a:path h="251365" w="200635">
                <a:moveTo>
                  <a:pt x="0" y="0"/>
                </a:moveTo>
                <a:lnTo>
                  <a:pt x="200635" y="0"/>
                </a:lnTo>
                <a:lnTo>
                  <a:pt x="200635" y="251364"/>
                </a:lnTo>
                <a:lnTo>
                  <a:pt x="0" y="2513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0">
            <a:off x="2214592" y="4379236"/>
            <a:ext cx="1281540" cy="764264"/>
          </a:xfrm>
          <a:custGeom>
            <a:avLst/>
            <a:gdLst/>
            <a:ahLst/>
            <a:cxnLst/>
            <a:rect r="r" b="b" t="t" l="l"/>
            <a:pathLst>
              <a:path h="764264" w="1281540">
                <a:moveTo>
                  <a:pt x="0" y="0"/>
                </a:moveTo>
                <a:lnTo>
                  <a:pt x="1281540" y="0"/>
                </a:lnTo>
                <a:lnTo>
                  <a:pt x="1281540" y="764264"/>
                </a:lnTo>
                <a:lnTo>
                  <a:pt x="0" y="7642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604550">
            <a:off x="8889921" y="6050283"/>
            <a:ext cx="700761" cy="384670"/>
          </a:xfrm>
          <a:custGeom>
            <a:avLst/>
            <a:gdLst/>
            <a:ahLst/>
            <a:cxnLst/>
            <a:rect r="r" b="b" t="t" l="l"/>
            <a:pathLst>
              <a:path h="384670" w="700761">
                <a:moveTo>
                  <a:pt x="0" y="0"/>
                </a:moveTo>
                <a:lnTo>
                  <a:pt x="700761" y="0"/>
                </a:lnTo>
                <a:lnTo>
                  <a:pt x="700761" y="384670"/>
                </a:lnTo>
                <a:lnTo>
                  <a:pt x="0" y="3846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3" id="23"/>
          <p:cNvSpPr/>
          <p:nvPr/>
        </p:nvSpPr>
        <p:spPr>
          <a:xfrm flipH="false" flipV="false" rot="-1985749">
            <a:off x="115131" y="223114"/>
            <a:ext cx="550608" cy="585292"/>
          </a:xfrm>
          <a:custGeom>
            <a:avLst/>
            <a:gdLst/>
            <a:ahLst/>
            <a:cxnLst/>
            <a:rect r="r" b="b" t="t" l="l"/>
            <a:pathLst>
              <a:path h="585292" w="550608">
                <a:moveTo>
                  <a:pt x="0" y="0"/>
                </a:moveTo>
                <a:lnTo>
                  <a:pt x="550608" y="0"/>
                </a:lnTo>
                <a:lnTo>
                  <a:pt x="550608" y="585292"/>
                </a:lnTo>
                <a:lnTo>
                  <a:pt x="0" y="58529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4" id="24"/>
          <p:cNvSpPr/>
          <p:nvPr/>
        </p:nvSpPr>
        <p:spPr>
          <a:xfrm flipH="false" flipV="false" rot="1719061">
            <a:off x="12842719" y="5800391"/>
            <a:ext cx="379921" cy="383118"/>
          </a:xfrm>
          <a:custGeom>
            <a:avLst/>
            <a:gdLst/>
            <a:ahLst/>
            <a:cxnLst/>
            <a:rect r="r" b="b" t="t" l="l"/>
            <a:pathLst>
              <a:path h="383118" w="379921">
                <a:moveTo>
                  <a:pt x="0" y="0"/>
                </a:moveTo>
                <a:lnTo>
                  <a:pt x="379920" y="0"/>
                </a:lnTo>
                <a:lnTo>
                  <a:pt x="379920" y="383118"/>
                </a:lnTo>
                <a:lnTo>
                  <a:pt x="0" y="38311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5" id="25"/>
          <p:cNvSpPr/>
          <p:nvPr/>
        </p:nvSpPr>
        <p:spPr>
          <a:xfrm flipH="false" flipV="false" rot="1719061">
            <a:off x="5469239" y="8682747"/>
            <a:ext cx="379921" cy="383118"/>
          </a:xfrm>
          <a:custGeom>
            <a:avLst/>
            <a:gdLst/>
            <a:ahLst/>
            <a:cxnLst/>
            <a:rect r="r" b="b" t="t" l="l"/>
            <a:pathLst>
              <a:path h="383118" w="379921">
                <a:moveTo>
                  <a:pt x="0" y="0"/>
                </a:moveTo>
                <a:lnTo>
                  <a:pt x="379920" y="0"/>
                </a:lnTo>
                <a:lnTo>
                  <a:pt x="379920" y="383118"/>
                </a:lnTo>
                <a:lnTo>
                  <a:pt x="0" y="38311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6" id="26"/>
          <p:cNvSpPr txBox="true"/>
          <p:nvPr/>
        </p:nvSpPr>
        <p:spPr>
          <a:xfrm rot="0">
            <a:off x="1028700" y="839610"/>
            <a:ext cx="14963396" cy="893446"/>
          </a:xfrm>
          <a:prstGeom prst="rect">
            <a:avLst/>
          </a:prstGeom>
        </p:spPr>
        <p:txBody>
          <a:bodyPr anchor="t" rtlCol="false" tIns="0" lIns="0" bIns="0" rIns="0">
            <a:spAutoFit/>
          </a:bodyPr>
          <a:lstStyle/>
          <a:p>
            <a:pPr algn="l">
              <a:lnSpc>
                <a:spcPts val="6240"/>
              </a:lnSpc>
            </a:pPr>
            <a:r>
              <a:rPr lang="en-US" sz="8000" spc="-704">
                <a:solidFill>
                  <a:srgbClr val="0390A7"/>
                </a:solidFill>
                <a:latin typeface="Happy Font TH"/>
                <a:ea typeface="Happy Font TH"/>
                <a:cs typeface="Happy Font TH"/>
                <a:sym typeface="Happy Font TH"/>
              </a:rPr>
              <a:t>What is Employee Management System?</a:t>
            </a:r>
          </a:p>
        </p:txBody>
      </p:sp>
      <p:sp>
        <p:nvSpPr>
          <p:cNvPr name="Freeform 27" id="27"/>
          <p:cNvSpPr/>
          <p:nvPr/>
        </p:nvSpPr>
        <p:spPr>
          <a:xfrm flipH="false" flipV="false" rot="0">
            <a:off x="13385388" y="9414246"/>
            <a:ext cx="4838090" cy="1009526"/>
          </a:xfrm>
          <a:custGeom>
            <a:avLst/>
            <a:gdLst/>
            <a:ahLst/>
            <a:cxnLst/>
            <a:rect r="r" b="b" t="t" l="l"/>
            <a:pathLst>
              <a:path h="1009526" w="4838090">
                <a:moveTo>
                  <a:pt x="0" y="0"/>
                </a:moveTo>
                <a:lnTo>
                  <a:pt x="4838090" y="0"/>
                </a:lnTo>
                <a:lnTo>
                  <a:pt x="4838090" y="1009526"/>
                </a:lnTo>
                <a:lnTo>
                  <a:pt x="0" y="1009526"/>
                </a:lnTo>
                <a:lnTo>
                  <a:pt x="0" y="0"/>
                </a:lnTo>
                <a:close/>
              </a:path>
            </a:pathLst>
          </a:custGeom>
          <a:blipFill>
            <a:blip r:embed="rId14"/>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8E6E6"/>
        </a:solidFill>
      </p:bgPr>
    </p:bg>
    <p:spTree>
      <p:nvGrpSpPr>
        <p:cNvPr id="1" name=""/>
        <p:cNvGrpSpPr/>
        <p:nvPr/>
      </p:nvGrpSpPr>
      <p:grpSpPr>
        <a:xfrm>
          <a:off x="0" y="0"/>
          <a:ext cx="0" cy="0"/>
          <a:chOff x="0" y="0"/>
          <a:chExt cx="0" cy="0"/>
        </a:xfrm>
      </p:grpSpPr>
      <p:sp>
        <p:nvSpPr>
          <p:cNvPr name="TextBox 2" id="2"/>
          <p:cNvSpPr txBox="true"/>
          <p:nvPr/>
        </p:nvSpPr>
        <p:spPr>
          <a:xfrm rot="0">
            <a:off x="1299993" y="185107"/>
            <a:ext cx="10369249" cy="3148547"/>
          </a:xfrm>
          <a:prstGeom prst="rect">
            <a:avLst/>
          </a:prstGeom>
        </p:spPr>
        <p:txBody>
          <a:bodyPr anchor="t" rtlCol="false" tIns="0" lIns="0" bIns="0" rIns="0">
            <a:spAutoFit/>
          </a:bodyPr>
          <a:lstStyle/>
          <a:p>
            <a:pPr algn="l">
              <a:lnSpc>
                <a:spcPts val="11652"/>
              </a:lnSpc>
            </a:pPr>
            <a:r>
              <a:rPr lang="en-US" sz="14939" spc="-1314">
                <a:solidFill>
                  <a:srgbClr val="0390A7"/>
                </a:solidFill>
                <a:latin typeface="Happy Font TH"/>
                <a:ea typeface="Happy Font TH"/>
                <a:cs typeface="Happy Font TH"/>
                <a:sym typeface="Happy Font TH"/>
              </a:rPr>
              <a:t>Objectives of EMS</a:t>
            </a:r>
          </a:p>
        </p:txBody>
      </p:sp>
      <p:sp>
        <p:nvSpPr>
          <p:cNvPr name="Freeform 3" id="3"/>
          <p:cNvSpPr/>
          <p:nvPr/>
        </p:nvSpPr>
        <p:spPr>
          <a:xfrm flipH="false" flipV="false" rot="0">
            <a:off x="7028285" y="2598839"/>
            <a:ext cx="10231015" cy="6659461"/>
          </a:xfrm>
          <a:custGeom>
            <a:avLst/>
            <a:gdLst/>
            <a:ahLst/>
            <a:cxnLst/>
            <a:rect r="r" b="b" t="t" l="l"/>
            <a:pathLst>
              <a:path h="6659461" w="10231015">
                <a:moveTo>
                  <a:pt x="0" y="0"/>
                </a:moveTo>
                <a:lnTo>
                  <a:pt x="10231015" y="0"/>
                </a:lnTo>
                <a:lnTo>
                  <a:pt x="10231015" y="6659461"/>
                </a:lnTo>
                <a:lnTo>
                  <a:pt x="0" y="66594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892996">
            <a:off x="7893457" y="2488419"/>
            <a:ext cx="2501085" cy="1382039"/>
            <a:chOff x="0" y="0"/>
            <a:chExt cx="658722" cy="363994"/>
          </a:xfrm>
        </p:grpSpPr>
        <p:sp>
          <p:nvSpPr>
            <p:cNvPr name="Freeform 5" id="5"/>
            <p:cNvSpPr/>
            <p:nvPr/>
          </p:nvSpPr>
          <p:spPr>
            <a:xfrm flipH="false" flipV="false" rot="0">
              <a:off x="0" y="0"/>
              <a:ext cx="658722" cy="363994"/>
            </a:xfrm>
            <a:custGeom>
              <a:avLst/>
              <a:gdLst/>
              <a:ahLst/>
              <a:cxnLst/>
              <a:rect r="r" b="b" t="t" l="l"/>
              <a:pathLst>
                <a:path h="363994" w="658722">
                  <a:moveTo>
                    <a:pt x="157867" y="0"/>
                  </a:moveTo>
                  <a:lnTo>
                    <a:pt x="500855" y="0"/>
                  </a:lnTo>
                  <a:cubicBezTo>
                    <a:pt x="542724" y="0"/>
                    <a:pt x="582878" y="16632"/>
                    <a:pt x="612484" y="46238"/>
                  </a:cubicBezTo>
                  <a:cubicBezTo>
                    <a:pt x="642090" y="75844"/>
                    <a:pt x="658722" y="115998"/>
                    <a:pt x="658722" y="157867"/>
                  </a:cubicBezTo>
                  <a:lnTo>
                    <a:pt x="658722" y="206127"/>
                  </a:lnTo>
                  <a:cubicBezTo>
                    <a:pt x="658722" y="247996"/>
                    <a:pt x="642090" y="288150"/>
                    <a:pt x="612484" y="317756"/>
                  </a:cubicBezTo>
                  <a:cubicBezTo>
                    <a:pt x="582878" y="347361"/>
                    <a:pt x="542724" y="363994"/>
                    <a:pt x="500855" y="363994"/>
                  </a:cubicBezTo>
                  <a:lnTo>
                    <a:pt x="157867" y="363994"/>
                  </a:lnTo>
                  <a:cubicBezTo>
                    <a:pt x="115998" y="363994"/>
                    <a:pt x="75844" y="347361"/>
                    <a:pt x="46238" y="317756"/>
                  </a:cubicBezTo>
                  <a:cubicBezTo>
                    <a:pt x="16632" y="288150"/>
                    <a:pt x="0" y="247996"/>
                    <a:pt x="0" y="206127"/>
                  </a:cubicBezTo>
                  <a:lnTo>
                    <a:pt x="0" y="157867"/>
                  </a:lnTo>
                  <a:cubicBezTo>
                    <a:pt x="0" y="115998"/>
                    <a:pt x="16632" y="75844"/>
                    <a:pt x="46238" y="46238"/>
                  </a:cubicBezTo>
                  <a:cubicBezTo>
                    <a:pt x="75844" y="16632"/>
                    <a:pt x="115998" y="0"/>
                    <a:pt x="157867" y="0"/>
                  </a:cubicBezTo>
                  <a:close/>
                </a:path>
              </a:pathLst>
            </a:custGeom>
            <a:solidFill>
              <a:srgbClr val="F4F4F4"/>
            </a:solidFill>
            <a:ln w="19050" cap="rnd">
              <a:solidFill>
                <a:srgbClr val="000000"/>
              </a:solidFill>
              <a:prstDash val="solid"/>
              <a:round/>
            </a:ln>
          </p:spPr>
        </p:sp>
        <p:sp>
          <p:nvSpPr>
            <p:cNvPr name="TextBox 6" id="6"/>
            <p:cNvSpPr txBox="true"/>
            <p:nvPr/>
          </p:nvSpPr>
          <p:spPr>
            <a:xfrm>
              <a:off x="0" y="-38100"/>
              <a:ext cx="658722" cy="402094"/>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1899198">
            <a:off x="11192795" y="993499"/>
            <a:ext cx="724949" cy="566227"/>
          </a:xfrm>
          <a:custGeom>
            <a:avLst/>
            <a:gdLst/>
            <a:ahLst/>
            <a:cxnLst/>
            <a:rect r="r" b="b" t="t" l="l"/>
            <a:pathLst>
              <a:path h="566227" w="724949">
                <a:moveTo>
                  <a:pt x="0" y="0"/>
                </a:moveTo>
                <a:lnTo>
                  <a:pt x="724948" y="0"/>
                </a:lnTo>
                <a:lnTo>
                  <a:pt x="724948" y="566227"/>
                </a:lnTo>
                <a:lnTo>
                  <a:pt x="0" y="5662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95028">
            <a:off x="6646553" y="7298310"/>
            <a:ext cx="631145" cy="279385"/>
          </a:xfrm>
          <a:custGeom>
            <a:avLst/>
            <a:gdLst/>
            <a:ahLst/>
            <a:cxnLst/>
            <a:rect r="r" b="b" t="t" l="l"/>
            <a:pathLst>
              <a:path h="279385" w="631145">
                <a:moveTo>
                  <a:pt x="0" y="0"/>
                </a:moveTo>
                <a:lnTo>
                  <a:pt x="631145" y="0"/>
                </a:lnTo>
                <a:lnTo>
                  <a:pt x="631145" y="279385"/>
                </a:lnTo>
                <a:lnTo>
                  <a:pt x="0" y="2793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335999">
            <a:off x="408642" y="6640136"/>
            <a:ext cx="4063762" cy="1910454"/>
            <a:chOff x="0" y="0"/>
            <a:chExt cx="1070291" cy="503165"/>
          </a:xfrm>
        </p:grpSpPr>
        <p:sp>
          <p:nvSpPr>
            <p:cNvPr name="Freeform 10" id="10"/>
            <p:cNvSpPr/>
            <p:nvPr/>
          </p:nvSpPr>
          <p:spPr>
            <a:xfrm flipH="false" flipV="false" rot="0">
              <a:off x="0" y="0"/>
              <a:ext cx="1070291" cy="503165"/>
            </a:xfrm>
            <a:custGeom>
              <a:avLst/>
              <a:gdLst/>
              <a:ahLst/>
              <a:cxnLst/>
              <a:rect r="r" b="b" t="t" l="l"/>
              <a:pathLst>
                <a:path h="503165" w="1070291">
                  <a:moveTo>
                    <a:pt x="97161" y="0"/>
                  </a:moveTo>
                  <a:lnTo>
                    <a:pt x="973130" y="0"/>
                  </a:lnTo>
                  <a:cubicBezTo>
                    <a:pt x="1026791" y="0"/>
                    <a:pt x="1070291" y="43500"/>
                    <a:pt x="1070291" y="97161"/>
                  </a:cubicBezTo>
                  <a:lnTo>
                    <a:pt x="1070291" y="406004"/>
                  </a:lnTo>
                  <a:cubicBezTo>
                    <a:pt x="1070291" y="459665"/>
                    <a:pt x="1026791" y="503165"/>
                    <a:pt x="973130" y="503165"/>
                  </a:cubicBezTo>
                  <a:lnTo>
                    <a:pt x="97161" y="503165"/>
                  </a:lnTo>
                  <a:cubicBezTo>
                    <a:pt x="43500" y="503165"/>
                    <a:pt x="0" y="459665"/>
                    <a:pt x="0" y="406004"/>
                  </a:cubicBezTo>
                  <a:lnTo>
                    <a:pt x="0" y="97161"/>
                  </a:lnTo>
                  <a:cubicBezTo>
                    <a:pt x="0" y="43500"/>
                    <a:pt x="43500" y="0"/>
                    <a:pt x="97161" y="0"/>
                  </a:cubicBezTo>
                  <a:close/>
                </a:path>
              </a:pathLst>
            </a:custGeom>
            <a:solidFill>
              <a:srgbClr val="F4F4F4"/>
            </a:solidFill>
            <a:ln w="19050" cap="rnd">
              <a:solidFill>
                <a:srgbClr val="000000"/>
              </a:solidFill>
              <a:prstDash val="solid"/>
              <a:round/>
            </a:ln>
          </p:spPr>
        </p:sp>
        <p:sp>
          <p:nvSpPr>
            <p:cNvPr name="TextBox 11" id="11"/>
            <p:cNvSpPr txBox="true"/>
            <p:nvPr/>
          </p:nvSpPr>
          <p:spPr>
            <a:xfrm>
              <a:off x="0" y="-38100"/>
              <a:ext cx="1070291" cy="54126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471844">
            <a:off x="12655576" y="1149143"/>
            <a:ext cx="4554964" cy="1025834"/>
            <a:chOff x="0" y="0"/>
            <a:chExt cx="1199661" cy="270178"/>
          </a:xfrm>
        </p:grpSpPr>
        <p:sp>
          <p:nvSpPr>
            <p:cNvPr name="Freeform 13" id="13"/>
            <p:cNvSpPr/>
            <p:nvPr/>
          </p:nvSpPr>
          <p:spPr>
            <a:xfrm flipH="false" flipV="false" rot="0">
              <a:off x="0" y="0"/>
              <a:ext cx="1199661" cy="270178"/>
            </a:xfrm>
            <a:custGeom>
              <a:avLst/>
              <a:gdLst/>
              <a:ahLst/>
              <a:cxnLst/>
              <a:rect r="r" b="b" t="t" l="l"/>
              <a:pathLst>
                <a:path h="270178" w="1199661">
                  <a:moveTo>
                    <a:pt x="86683" y="0"/>
                  </a:moveTo>
                  <a:lnTo>
                    <a:pt x="1112978" y="0"/>
                  </a:lnTo>
                  <a:cubicBezTo>
                    <a:pt x="1160852" y="0"/>
                    <a:pt x="1199661" y="38809"/>
                    <a:pt x="1199661" y="86683"/>
                  </a:cubicBezTo>
                  <a:lnTo>
                    <a:pt x="1199661" y="183495"/>
                  </a:lnTo>
                  <a:cubicBezTo>
                    <a:pt x="1199661" y="206485"/>
                    <a:pt x="1190528" y="228533"/>
                    <a:pt x="1174272" y="244790"/>
                  </a:cubicBezTo>
                  <a:cubicBezTo>
                    <a:pt x="1158016" y="261046"/>
                    <a:pt x="1135968" y="270178"/>
                    <a:pt x="1112978" y="270178"/>
                  </a:cubicBezTo>
                  <a:lnTo>
                    <a:pt x="86683" y="270178"/>
                  </a:lnTo>
                  <a:cubicBezTo>
                    <a:pt x="63693" y="270178"/>
                    <a:pt x="41645" y="261046"/>
                    <a:pt x="25389" y="244790"/>
                  </a:cubicBezTo>
                  <a:cubicBezTo>
                    <a:pt x="9133" y="228533"/>
                    <a:pt x="0" y="206485"/>
                    <a:pt x="0" y="183495"/>
                  </a:cubicBezTo>
                  <a:lnTo>
                    <a:pt x="0" y="86683"/>
                  </a:lnTo>
                  <a:cubicBezTo>
                    <a:pt x="0" y="63693"/>
                    <a:pt x="9133" y="41645"/>
                    <a:pt x="25389" y="25389"/>
                  </a:cubicBezTo>
                  <a:cubicBezTo>
                    <a:pt x="41645" y="9133"/>
                    <a:pt x="63693" y="0"/>
                    <a:pt x="86683" y="0"/>
                  </a:cubicBezTo>
                  <a:close/>
                </a:path>
              </a:pathLst>
            </a:custGeom>
            <a:solidFill>
              <a:srgbClr val="F4F4F4"/>
            </a:solidFill>
            <a:ln w="19050" cap="rnd">
              <a:solidFill>
                <a:srgbClr val="000000"/>
              </a:solidFill>
              <a:prstDash val="solid"/>
              <a:round/>
            </a:ln>
          </p:spPr>
        </p:sp>
        <p:sp>
          <p:nvSpPr>
            <p:cNvPr name="TextBox 14" id="14"/>
            <p:cNvSpPr txBox="true"/>
            <p:nvPr/>
          </p:nvSpPr>
          <p:spPr>
            <a:xfrm>
              <a:off x="0" y="-38100"/>
              <a:ext cx="1199661" cy="308278"/>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360308">
            <a:off x="3831426" y="8475909"/>
            <a:ext cx="3877561" cy="1138914"/>
            <a:chOff x="0" y="0"/>
            <a:chExt cx="1021251" cy="299961"/>
          </a:xfrm>
        </p:grpSpPr>
        <p:sp>
          <p:nvSpPr>
            <p:cNvPr name="Freeform 16" id="16"/>
            <p:cNvSpPr/>
            <p:nvPr/>
          </p:nvSpPr>
          <p:spPr>
            <a:xfrm flipH="false" flipV="false" rot="0">
              <a:off x="0" y="0"/>
              <a:ext cx="1021251" cy="299961"/>
            </a:xfrm>
            <a:custGeom>
              <a:avLst/>
              <a:gdLst/>
              <a:ahLst/>
              <a:cxnLst/>
              <a:rect r="r" b="b" t="t" l="l"/>
              <a:pathLst>
                <a:path h="299961" w="1021251">
                  <a:moveTo>
                    <a:pt x="101826" y="0"/>
                  </a:moveTo>
                  <a:lnTo>
                    <a:pt x="919424" y="0"/>
                  </a:lnTo>
                  <a:cubicBezTo>
                    <a:pt x="946430" y="0"/>
                    <a:pt x="972330" y="10728"/>
                    <a:pt x="991426" y="29824"/>
                  </a:cubicBezTo>
                  <a:cubicBezTo>
                    <a:pt x="1010522" y="48920"/>
                    <a:pt x="1021251" y="74820"/>
                    <a:pt x="1021251" y="101826"/>
                  </a:cubicBezTo>
                  <a:lnTo>
                    <a:pt x="1021251" y="198134"/>
                  </a:lnTo>
                  <a:cubicBezTo>
                    <a:pt x="1021251" y="225140"/>
                    <a:pt x="1010522" y="251040"/>
                    <a:pt x="991426" y="270137"/>
                  </a:cubicBezTo>
                  <a:cubicBezTo>
                    <a:pt x="972330" y="289233"/>
                    <a:pt x="946430" y="299961"/>
                    <a:pt x="919424" y="299961"/>
                  </a:cubicBezTo>
                  <a:lnTo>
                    <a:pt x="101826" y="299961"/>
                  </a:lnTo>
                  <a:cubicBezTo>
                    <a:pt x="74820" y="299961"/>
                    <a:pt x="48920" y="289233"/>
                    <a:pt x="29824" y="270137"/>
                  </a:cubicBezTo>
                  <a:cubicBezTo>
                    <a:pt x="10728" y="251040"/>
                    <a:pt x="0" y="225140"/>
                    <a:pt x="0" y="198134"/>
                  </a:cubicBezTo>
                  <a:lnTo>
                    <a:pt x="0" y="101826"/>
                  </a:lnTo>
                  <a:cubicBezTo>
                    <a:pt x="0" y="74820"/>
                    <a:pt x="10728" y="48920"/>
                    <a:pt x="29824" y="29824"/>
                  </a:cubicBezTo>
                  <a:cubicBezTo>
                    <a:pt x="48920" y="10728"/>
                    <a:pt x="74820" y="0"/>
                    <a:pt x="101826" y="0"/>
                  </a:cubicBezTo>
                  <a:close/>
                </a:path>
              </a:pathLst>
            </a:custGeom>
            <a:solidFill>
              <a:srgbClr val="F4F4F4"/>
            </a:solidFill>
            <a:ln w="19050" cap="rnd">
              <a:solidFill>
                <a:srgbClr val="000000"/>
              </a:solidFill>
              <a:prstDash val="solid"/>
              <a:round/>
            </a:ln>
          </p:spPr>
        </p:sp>
        <p:sp>
          <p:nvSpPr>
            <p:cNvPr name="TextBox 17" id="17"/>
            <p:cNvSpPr txBox="true"/>
            <p:nvPr/>
          </p:nvSpPr>
          <p:spPr>
            <a:xfrm>
              <a:off x="0" y="-38100"/>
              <a:ext cx="1021251" cy="338061"/>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2366768">
            <a:off x="11364135" y="2621236"/>
            <a:ext cx="200635" cy="251365"/>
          </a:xfrm>
          <a:custGeom>
            <a:avLst/>
            <a:gdLst/>
            <a:ahLst/>
            <a:cxnLst/>
            <a:rect r="r" b="b" t="t" l="l"/>
            <a:pathLst>
              <a:path h="251365" w="200635">
                <a:moveTo>
                  <a:pt x="0" y="0"/>
                </a:moveTo>
                <a:lnTo>
                  <a:pt x="200634" y="0"/>
                </a:lnTo>
                <a:lnTo>
                  <a:pt x="200634" y="251365"/>
                </a:lnTo>
                <a:lnTo>
                  <a:pt x="0" y="2513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9706846">
            <a:off x="793800" y="568968"/>
            <a:ext cx="200635" cy="251365"/>
          </a:xfrm>
          <a:custGeom>
            <a:avLst/>
            <a:gdLst/>
            <a:ahLst/>
            <a:cxnLst/>
            <a:rect r="r" b="b" t="t" l="l"/>
            <a:pathLst>
              <a:path h="251365" w="200635">
                <a:moveTo>
                  <a:pt x="0" y="0"/>
                </a:moveTo>
                <a:lnTo>
                  <a:pt x="200634" y="0"/>
                </a:lnTo>
                <a:lnTo>
                  <a:pt x="200634" y="251365"/>
                </a:lnTo>
                <a:lnTo>
                  <a:pt x="0" y="2513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5843847" y="3786346"/>
            <a:ext cx="1281540" cy="764264"/>
          </a:xfrm>
          <a:custGeom>
            <a:avLst/>
            <a:gdLst/>
            <a:ahLst/>
            <a:cxnLst/>
            <a:rect r="r" b="b" t="t" l="l"/>
            <a:pathLst>
              <a:path h="764264" w="1281540">
                <a:moveTo>
                  <a:pt x="0" y="0"/>
                </a:moveTo>
                <a:lnTo>
                  <a:pt x="1281540" y="0"/>
                </a:lnTo>
                <a:lnTo>
                  <a:pt x="1281540" y="764264"/>
                </a:lnTo>
                <a:lnTo>
                  <a:pt x="0" y="76426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1" id="21"/>
          <p:cNvSpPr/>
          <p:nvPr/>
        </p:nvSpPr>
        <p:spPr>
          <a:xfrm flipH="false" flipV="false" rot="-1430843">
            <a:off x="12764494" y="2583860"/>
            <a:ext cx="641811" cy="647699"/>
          </a:xfrm>
          <a:custGeom>
            <a:avLst/>
            <a:gdLst/>
            <a:ahLst/>
            <a:cxnLst/>
            <a:rect r="r" b="b" t="t" l="l"/>
            <a:pathLst>
              <a:path h="647699" w="641811">
                <a:moveTo>
                  <a:pt x="0" y="0"/>
                </a:moveTo>
                <a:lnTo>
                  <a:pt x="641811" y="0"/>
                </a:lnTo>
                <a:lnTo>
                  <a:pt x="641811" y="647700"/>
                </a:lnTo>
                <a:lnTo>
                  <a:pt x="0" y="6477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2" id="22"/>
          <p:cNvSpPr/>
          <p:nvPr/>
        </p:nvSpPr>
        <p:spPr>
          <a:xfrm flipH="false" flipV="false" rot="-846099">
            <a:off x="12981334" y="6989429"/>
            <a:ext cx="808108" cy="355485"/>
          </a:xfrm>
          <a:custGeom>
            <a:avLst/>
            <a:gdLst/>
            <a:ahLst/>
            <a:cxnLst/>
            <a:rect r="r" b="b" t="t" l="l"/>
            <a:pathLst>
              <a:path h="355485" w="808108">
                <a:moveTo>
                  <a:pt x="0" y="0"/>
                </a:moveTo>
                <a:lnTo>
                  <a:pt x="808108" y="0"/>
                </a:lnTo>
                <a:lnTo>
                  <a:pt x="808108" y="355485"/>
                </a:lnTo>
                <a:lnTo>
                  <a:pt x="0" y="35548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3" id="23"/>
          <p:cNvSpPr txBox="true"/>
          <p:nvPr/>
        </p:nvSpPr>
        <p:spPr>
          <a:xfrm rot="-892996">
            <a:off x="8130684" y="2768899"/>
            <a:ext cx="2053027" cy="931545"/>
          </a:xfrm>
          <a:prstGeom prst="rect">
            <a:avLst/>
          </a:prstGeom>
        </p:spPr>
        <p:txBody>
          <a:bodyPr anchor="t" rtlCol="false" tIns="0" lIns="0" bIns="0" rIns="0">
            <a:spAutoFit/>
          </a:bodyPr>
          <a:lstStyle/>
          <a:p>
            <a:pPr algn="ctr">
              <a:lnSpc>
                <a:spcPts val="2340"/>
              </a:lnSpc>
            </a:pPr>
            <a:r>
              <a:rPr lang="en-US" sz="3000" spc="-263">
                <a:solidFill>
                  <a:srgbClr val="010101"/>
                </a:solidFill>
                <a:latin typeface="Happy Font TH"/>
                <a:ea typeface="Happy Font TH"/>
                <a:cs typeface="Happy Font TH"/>
                <a:sym typeface="Happy Font TH"/>
              </a:rPr>
              <a:t>Track leaves and qualifications</a:t>
            </a:r>
          </a:p>
        </p:txBody>
      </p:sp>
      <p:sp>
        <p:nvSpPr>
          <p:cNvPr name="TextBox 24" id="24"/>
          <p:cNvSpPr txBox="true"/>
          <p:nvPr/>
        </p:nvSpPr>
        <p:spPr>
          <a:xfrm rot="-335999">
            <a:off x="965030" y="6966668"/>
            <a:ext cx="2954345" cy="1276350"/>
          </a:xfrm>
          <a:prstGeom prst="rect">
            <a:avLst/>
          </a:prstGeom>
        </p:spPr>
        <p:txBody>
          <a:bodyPr anchor="t" rtlCol="false" tIns="0" lIns="0" bIns="0" rIns="0">
            <a:spAutoFit/>
          </a:bodyPr>
          <a:lstStyle/>
          <a:p>
            <a:pPr algn="ctr">
              <a:lnSpc>
                <a:spcPts val="3300"/>
              </a:lnSpc>
            </a:pPr>
            <a:r>
              <a:rPr lang="en-US" sz="3000" spc="-150">
                <a:solidFill>
                  <a:srgbClr val="010101"/>
                </a:solidFill>
                <a:latin typeface="Happy Font TH"/>
                <a:ea typeface="Happy Font TH"/>
                <a:cs typeface="Happy Font TH"/>
                <a:sym typeface="Happy Font TH"/>
              </a:rPr>
              <a:t>Store employee and department information</a:t>
            </a:r>
          </a:p>
        </p:txBody>
      </p:sp>
      <p:sp>
        <p:nvSpPr>
          <p:cNvPr name="TextBox 25" id="25"/>
          <p:cNvSpPr txBox="true"/>
          <p:nvPr/>
        </p:nvSpPr>
        <p:spPr>
          <a:xfrm rot="471844">
            <a:off x="13049663" y="1193443"/>
            <a:ext cx="3764184" cy="857250"/>
          </a:xfrm>
          <a:prstGeom prst="rect">
            <a:avLst/>
          </a:prstGeom>
        </p:spPr>
        <p:txBody>
          <a:bodyPr anchor="t" rtlCol="false" tIns="0" lIns="0" bIns="0" rIns="0">
            <a:spAutoFit/>
          </a:bodyPr>
          <a:lstStyle/>
          <a:p>
            <a:pPr algn="ctr">
              <a:lnSpc>
                <a:spcPts val="3300"/>
              </a:lnSpc>
            </a:pPr>
            <a:r>
              <a:rPr lang="en-US" sz="3000" spc="-150">
                <a:solidFill>
                  <a:srgbClr val="010101"/>
                </a:solidFill>
                <a:latin typeface="Happy Font TH"/>
                <a:ea typeface="Happy Font TH"/>
                <a:cs typeface="Happy Font TH"/>
                <a:sym typeface="Happy Font TH"/>
              </a:rPr>
              <a:t>Generate payroll automatically</a:t>
            </a:r>
          </a:p>
        </p:txBody>
      </p:sp>
      <p:sp>
        <p:nvSpPr>
          <p:cNvPr name="TextBox 26" id="26"/>
          <p:cNvSpPr txBox="true"/>
          <p:nvPr/>
        </p:nvSpPr>
        <p:spPr>
          <a:xfrm rot="-360308">
            <a:off x="4294030" y="8620674"/>
            <a:ext cx="2954345" cy="857250"/>
          </a:xfrm>
          <a:prstGeom prst="rect">
            <a:avLst/>
          </a:prstGeom>
        </p:spPr>
        <p:txBody>
          <a:bodyPr anchor="t" rtlCol="false" tIns="0" lIns="0" bIns="0" rIns="0">
            <a:spAutoFit/>
          </a:bodyPr>
          <a:lstStyle/>
          <a:p>
            <a:pPr algn="ctr">
              <a:lnSpc>
                <a:spcPts val="3300"/>
              </a:lnSpc>
            </a:pPr>
            <a:r>
              <a:rPr lang="en-US" sz="3000" spc="-150">
                <a:solidFill>
                  <a:srgbClr val="010101"/>
                </a:solidFill>
                <a:latin typeface="Happy Font TH"/>
                <a:ea typeface="Happy Font TH"/>
                <a:cs typeface="Happy Font TH"/>
                <a:sym typeface="Happy Font TH"/>
              </a:rPr>
              <a:t>Maintain salary &amp; bonus structure</a:t>
            </a:r>
          </a:p>
        </p:txBody>
      </p:sp>
      <p:sp>
        <p:nvSpPr>
          <p:cNvPr name="Freeform 27" id="27"/>
          <p:cNvSpPr/>
          <p:nvPr/>
        </p:nvSpPr>
        <p:spPr>
          <a:xfrm flipH="false" flipV="false" rot="0">
            <a:off x="13385388" y="9414246"/>
            <a:ext cx="4838090" cy="1009526"/>
          </a:xfrm>
          <a:custGeom>
            <a:avLst/>
            <a:gdLst/>
            <a:ahLst/>
            <a:cxnLst/>
            <a:rect r="r" b="b" t="t" l="l"/>
            <a:pathLst>
              <a:path h="1009526" w="4838090">
                <a:moveTo>
                  <a:pt x="0" y="0"/>
                </a:moveTo>
                <a:lnTo>
                  <a:pt x="4838090" y="0"/>
                </a:lnTo>
                <a:lnTo>
                  <a:pt x="4838090" y="1009526"/>
                </a:lnTo>
                <a:lnTo>
                  <a:pt x="0" y="1009526"/>
                </a:lnTo>
                <a:lnTo>
                  <a:pt x="0" y="0"/>
                </a:lnTo>
                <a:close/>
              </a:path>
            </a:pathLst>
          </a:custGeom>
          <a:blipFill>
            <a:blip r:embed="rId16"/>
            <a:stretch>
              <a:fillRect l="0" t="0" r="0" b="0"/>
            </a:stretch>
          </a:blipFill>
        </p:spPr>
      </p:sp>
      <p:grpSp>
        <p:nvGrpSpPr>
          <p:cNvPr name="Group 28" id="28"/>
          <p:cNvGrpSpPr/>
          <p:nvPr/>
        </p:nvGrpSpPr>
        <p:grpSpPr>
          <a:xfrm rot="333772">
            <a:off x="813981" y="4387409"/>
            <a:ext cx="4577105" cy="1238654"/>
            <a:chOff x="0" y="0"/>
            <a:chExt cx="1205493" cy="326230"/>
          </a:xfrm>
        </p:grpSpPr>
        <p:sp>
          <p:nvSpPr>
            <p:cNvPr name="Freeform 29" id="29"/>
            <p:cNvSpPr/>
            <p:nvPr/>
          </p:nvSpPr>
          <p:spPr>
            <a:xfrm flipH="false" flipV="false" rot="0">
              <a:off x="0" y="0"/>
              <a:ext cx="1205493" cy="326230"/>
            </a:xfrm>
            <a:custGeom>
              <a:avLst/>
              <a:gdLst/>
              <a:ahLst/>
              <a:cxnLst/>
              <a:rect r="r" b="b" t="t" l="l"/>
              <a:pathLst>
                <a:path h="326230" w="1205493">
                  <a:moveTo>
                    <a:pt x="86264" y="0"/>
                  </a:moveTo>
                  <a:lnTo>
                    <a:pt x="1119229" y="0"/>
                  </a:lnTo>
                  <a:cubicBezTo>
                    <a:pt x="1166871" y="0"/>
                    <a:pt x="1205493" y="38622"/>
                    <a:pt x="1205493" y="86264"/>
                  </a:cubicBezTo>
                  <a:lnTo>
                    <a:pt x="1205493" y="239966"/>
                  </a:lnTo>
                  <a:cubicBezTo>
                    <a:pt x="1205493" y="287608"/>
                    <a:pt x="1166871" y="326230"/>
                    <a:pt x="1119229" y="326230"/>
                  </a:cubicBezTo>
                  <a:lnTo>
                    <a:pt x="86264" y="326230"/>
                  </a:lnTo>
                  <a:cubicBezTo>
                    <a:pt x="63385" y="326230"/>
                    <a:pt x="41444" y="317141"/>
                    <a:pt x="25266" y="300964"/>
                  </a:cubicBezTo>
                  <a:cubicBezTo>
                    <a:pt x="9088" y="284786"/>
                    <a:pt x="0" y="262845"/>
                    <a:pt x="0" y="239966"/>
                  </a:cubicBezTo>
                  <a:lnTo>
                    <a:pt x="0" y="86264"/>
                  </a:lnTo>
                  <a:cubicBezTo>
                    <a:pt x="0" y="38622"/>
                    <a:pt x="38622" y="0"/>
                    <a:pt x="86264" y="0"/>
                  </a:cubicBezTo>
                  <a:close/>
                </a:path>
              </a:pathLst>
            </a:custGeom>
            <a:solidFill>
              <a:srgbClr val="F4F4F4"/>
            </a:solidFill>
            <a:ln w="19050" cap="rnd">
              <a:solidFill>
                <a:srgbClr val="000000"/>
              </a:solidFill>
              <a:prstDash val="solid"/>
              <a:round/>
            </a:ln>
          </p:spPr>
        </p:sp>
        <p:sp>
          <p:nvSpPr>
            <p:cNvPr name="TextBox 30" id="30"/>
            <p:cNvSpPr txBox="true"/>
            <p:nvPr/>
          </p:nvSpPr>
          <p:spPr>
            <a:xfrm>
              <a:off x="0" y="-38100"/>
              <a:ext cx="1205493" cy="364330"/>
            </a:xfrm>
            <a:prstGeom prst="rect">
              <a:avLst/>
            </a:prstGeom>
          </p:spPr>
          <p:txBody>
            <a:bodyPr anchor="ctr" rtlCol="false" tIns="50800" lIns="50800" bIns="50800" rIns="50800"/>
            <a:lstStyle/>
            <a:p>
              <a:pPr algn="ctr">
                <a:lnSpc>
                  <a:spcPts val="2659"/>
                </a:lnSpc>
              </a:pPr>
            </a:p>
          </p:txBody>
        </p:sp>
      </p:grpSp>
      <p:sp>
        <p:nvSpPr>
          <p:cNvPr name="TextBox 31" id="31"/>
          <p:cNvSpPr txBox="true"/>
          <p:nvPr/>
        </p:nvSpPr>
        <p:spPr>
          <a:xfrm rot="333772">
            <a:off x="1379483" y="4587590"/>
            <a:ext cx="3444254" cy="857250"/>
          </a:xfrm>
          <a:prstGeom prst="rect">
            <a:avLst/>
          </a:prstGeom>
        </p:spPr>
        <p:txBody>
          <a:bodyPr anchor="t" rtlCol="false" tIns="0" lIns="0" bIns="0" rIns="0">
            <a:spAutoFit/>
          </a:bodyPr>
          <a:lstStyle/>
          <a:p>
            <a:pPr algn="ctr">
              <a:lnSpc>
                <a:spcPts val="3300"/>
              </a:lnSpc>
            </a:pPr>
            <a:r>
              <a:rPr lang="en-US" sz="3000" spc="-150">
                <a:solidFill>
                  <a:srgbClr val="010101"/>
                </a:solidFill>
                <a:latin typeface="Happy Font TH"/>
                <a:ea typeface="Happy Font TH"/>
                <a:cs typeface="Happy Font TH"/>
                <a:sym typeface="Happy Font TH"/>
              </a:rPr>
              <a:t>Provide insights through SQL analysis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8E6E6"/>
        </a:solidFill>
      </p:bgPr>
    </p:bg>
    <p:spTree>
      <p:nvGrpSpPr>
        <p:cNvPr id="1" name=""/>
        <p:cNvGrpSpPr/>
        <p:nvPr/>
      </p:nvGrpSpPr>
      <p:grpSpPr>
        <a:xfrm>
          <a:off x="0" y="0"/>
          <a:ext cx="0" cy="0"/>
          <a:chOff x="0" y="0"/>
          <a:chExt cx="0" cy="0"/>
        </a:xfrm>
      </p:grpSpPr>
      <p:sp>
        <p:nvSpPr>
          <p:cNvPr name="TextBox 2" id="2"/>
          <p:cNvSpPr txBox="true"/>
          <p:nvPr/>
        </p:nvSpPr>
        <p:spPr>
          <a:xfrm rot="0">
            <a:off x="1028700" y="845480"/>
            <a:ext cx="16230600" cy="1682701"/>
          </a:xfrm>
          <a:prstGeom prst="rect">
            <a:avLst/>
          </a:prstGeom>
        </p:spPr>
        <p:txBody>
          <a:bodyPr anchor="t" rtlCol="false" tIns="0" lIns="0" bIns="0" rIns="0">
            <a:spAutoFit/>
          </a:bodyPr>
          <a:lstStyle/>
          <a:p>
            <a:pPr algn="l">
              <a:lnSpc>
                <a:spcPts val="11652"/>
              </a:lnSpc>
            </a:pPr>
            <a:r>
              <a:rPr lang="en-US" sz="14939" spc="-1314">
                <a:solidFill>
                  <a:srgbClr val="0390A7"/>
                </a:solidFill>
                <a:latin typeface="Happy Font TH"/>
                <a:ea typeface="Happy Font TH"/>
                <a:cs typeface="Happy Font TH"/>
                <a:sym typeface="Happy Font TH"/>
              </a:rPr>
              <a:t>Problem Statement</a:t>
            </a:r>
          </a:p>
        </p:txBody>
      </p:sp>
      <p:sp>
        <p:nvSpPr>
          <p:cNvPr name="Freeform 3" id="3"/>
          <p:cNvSpPr/>
          <p:nvPr/>
        </p:nvSpPr>
        <p:spPr>
          <a:xfrm flipH="false" flipV="false" rot="2366768">
            <a:off x="14749301" y="2402498"/>
            <a:ext cx="200635" cy="251365"/>
          </a:xfrm>
          <a:custGeom>
            <a:avLst/>
            <a:gdLst/>
            <a:ahLst/>
            <a:cxnLst/>
            <a:rect r="r" b="b" t="t" l="l"/>
            <a:pathLst>
              <a:path h="251365" w="200635">
                <a:moveTo>
                  <a:pt x="0" y="0"/>
                </a:moveTo>
                <a:lnTo>
                  <a:pt x="200634" y="0"/>
                </a:lnTo>
                <a:lnTo>
                  <a:pt x="200634" y="251364"/>
                </a:lnTo>
                <a:lnTo>
                  <a:pt x="0" y="2513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9706846">
            <a:off x="930390" y="903018"/>
            <a:ext cx="200635" cy="251365"/>
          </a:xfrm>
          <a:custGeom>
            <a:avLst/>
            <a:gdLst/>
            <a:ahLst/>
            <a:cxnLst/>
            <a:rect r="r" b="b" t="t" l="l"/>
            <a:pathLst>
              <a:path h="251365" w="200635">
                <a:moveTo>
                  <a:pt x="0" y="0"/>
                </a:moveTo>
                <a:lnTo>
                  <a:pt x="200635" y="0"/>
                </a:lnTo>
                <a:lnTo>
                  <a:pt x="200635" y="251364"/>
                </a:lnTo>
                <a:lnTo>
                  <a:pt x="0" y="2513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985749">
            <a:off x="9973085" y="9509153"/>
            <a:ext cx="508097" cy="540103"/>
          </a:xfrm>
          <a:custGeom>
            <a:avLst/>
            <a:gdLst/>
            <a:ahLst/>
            <a:cxnLst/>
            <a:rect r="r" b="b" t="t" l="l"/>
            <a:pathLst>
              <a:path h="540103" w="508097">
                <a:moveTo>
                  <a:pt x="0" y="0"/>
                </a:moveTo>
                <a:lnTo>
                  <a:pt x="508096" y="0"/>
                </a:lnTo>
                <a:lnTo>
                  <a:pt x="508096" y="540103"/>
                </a:lnTo>
                <a:lnTo>
                  <a:pt x="0" y="5401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6072759">
            <a:off x="9767100" y="6129419"/>
            <a:ext cx="920065" cy="996134"/>
          </a:xfrm>
          <a:custGeom>
            <a:avLst/>
            <a:gdLst/>
            <a:ahLst/>
            <a:cxnLst/>
            <a:rect r="r" b="b" t="t" l="l"/>
            <a:pathLst>
              <a:path h="996134" w="920065">
                <a:moveTo>
                  <a:pt x="0" y="0"/>
                </a:moveTo>
                <a:lnTo>
                  <a:pt x="920066" y="0"/>
                </a:lnTo>
                <a:lnTo>
                  <a:pt x="920066" y="996133"/>
                </a:lnTo>
                <a:lnTo>
                  <a:pt x="0" y="9961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165290" y="2781554"/>
            <a:ext cx="754643" cy="703381"/>
          </a:xfrm>
          <a:custGeom>
            <a:avLst/>
            <a:gdLst/>
            <a:ahLst/>
            <a:cxnLst/>
            <a:rect r="r" b="b" t="t" l="l"/>
            <a:pathLst>
              <a:path h="703381" w="754643">
                <a:moveTo>
                  <a:pt x="0" y="0"/>
                </a:moveTo>
                <a:lnTo>
                  <a:pt x="754643" y="0"/>
                </a:lnTo>
                <a:lnTo>
                  <a:pt x="754643" y="703382"/>
                </a:lnTo>
                <a:lnTo>
                  <a:pt x="0" y="7033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1392367">
            <a:off x="13759214" y="7697235"/>
            <a:ext cx="567587" cy="723136"/>
          </a:xfrm>
          <a:custGeom>
            <a:avLst/>
            <a:gdLst/>
            <a:ahLst/>
            <a:cxnLst/>
            <a:rect r="r" b="b" t="t" l="l"/>
            <a:pathLst>
              <a:path h="723136" w="567587">
                <a:moveTo>
                  <a:pt x="0" y="0"/>
                </a:moveTo>
                <a:lnTo>
                  <a:pt x="567587" y="0"/>
                </a:lnTo>
                <a:lnTo>
                  <a:pt x="567587" y="723136"/>
                </a:lnTo>
                <a:lnTo>
                  <a:pt x="0" y="72313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706164" y="9414246"/>
            <a:ext cx="379921" cy="383118"/>
          </a:xfrm>
          <a:custGeom>
            <a:avLst/>
            <a:gdLst/>
            <a:ahLst/>
            <a:cxnLst/>
            <a:rect r="r" b="b" t="t" l="l"/>
            <a:pathLst>
              <a:path h="383118" w="379921">
                <a:moveTo>
                  <a:pt x="0" y="0"/>
                </a:moveTo>
                <a:lnTo>
                  <a:pt x="379920" y="0"/>
                </a:lnTo>
                <a:lnTo>
                  <a:pt x="379920" y="383118"/>
                </a:lnTo>
                <a:lnTo>
                  <a:pt x="0" y="38311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0" id="10"/>
          <p:cNvSpPr txBox="true"/>
          <p:nvPr/>
        </p:nvSpPr>
        <p:spPr>
          <a:xfrm rot="0">
            <a:off x="1727993" y="3299698"/>
            <a:ext cx="8499140" cy="2952750"/>
          </a:xfrm>
          <a:prstGeom prst="rect">
            <a:avLst/>
          </a:prstGeom>
        </p:spPr>
        <p:txBody>
          <a:bodyPr anchor="t" rtlCol="false" tIns="0" lIns="0" bIns="0" rIns="0">
            <a:spAutoFit/>
          </a:bodyPr>
          <a:lstStyle/>
          <a:p>
            <a:pPr algn="ctr">
              <a:lnSpc>
                <a:spcPts val="3300"/>
              </a:lnSpc>
            </a:pPr>
            <a:r>
              <a:rPr lang="en-US" sz="3000" spc="-150">
                <a:solidFill>
                  <a:srgbClr val="010101"/>
                </a:solidFill>
                <a:latin typeface="Happy Font TH"/>
                <a:ea typeface="Happy Font TH"/>
                <a:cs typeface="Happy Font TH"/>
                <a:sym typeface="Happy Font TH"/>
              </a:rPr>
              <a:t>The main problem is that employee information in a company is often stored in different places — like files, spreadsheets, or notes. Because of this, it becomes difficult to track employee details, salary, leaves, qualifications, and payroll correctly.</a:t>
            </a:r>
          </a:p>
          <a:p>
            <a:pPr algn="ctr">
              <a:lnSpc>
                <a:spcPts val="3300"/>
              </a:lnSpc>
            </a:pPr>
            <a:r>
              <a:rPr lang="en-US" sz="3000" spc="-150">
                <a:solidFill>
                  <a:srgbClr val="010101"/>
                </a:solidFill>
                <a:latin typeface="Happy Font TH"/>
                <a:ea typeface="Happy Font TH"/>
                <a:cs typeface="Happy Font TH"/>
                <a:sym typeface="Happy Font TH"/>
              </a:rPr>
              <a:t> This can lead to mistakes, missing data, and a lot of extra work for the HR team.</a:t>
            </a:r>
          </a:p>
        </p:txBody>
      </p:sp>
      <p:sp>
        <p:nvSpPr>
          <p:cNvPr name="Freeform 11" id="11"/>
          <p:cNvSpPr/>
          <p:nvPr/>
        </p:nvSpPr>
        <p:spPr>
          <a:xfrm flipH="false" flipV="false" rot="0">
            <a:off x="13385388" y="9414246"/>
            <a:ext cx="4838090" cy="1009526"/>
          </a:xfrm>
          <a:custGeom>
            <a:avLst/>
            <a:gdLst/>
            <a:ahLst/>
            <a:cxnLst/>
            <a:rect r="r" b="b" t="t" l="l"/>
            <a:pathLst>
              <a:path h="1009526" w="4838090">
                <a:moveTo>
                  <a:pt x="0" y="0"/>
                </a:moveTo>
                <a:lnTo>
                  <a:pt x="4838090" y="0"/>
                </a:lnTo>
                <a:lnTo>
                  <a:pt x="4838090" y="1009526"/>
                </a:lnTo>
                <a:lnTo>
                  <a:pt x="0" y="1009526"/>
                </a:lnTo>
                <a:lnTo>
                  <a:pt x="0" y="0"/>
                </a:lnTo>
                <a:close/>
              </a:path>
            </a:pathLst>
          </a:custGeom>
          <a:blipFill>
            <a:blip r:embed="rId14"/>
            <a:stretch>
              <a:fillRect l="0" t="0" r="0" b="0"/>
            </a:stretch>
          </a:blipFill>
        </p:spPr>
      </p:sp>
      <p:sp>
        <p:nvSpPr>
          <p:cNvPr name="Freeform 12" id="12"/>
          <p:cNvSpPr/>
          <p:nvPr/>
        </p:nvSpPr>
        <p:spPr>
          <a:xfrm flipH="false" flipV="false" rot="0">
            <a:off x="10964850" y="3010492"/>
            <a:ext cx="6962925" cy="4165095"/>
          </a:xfrm>
          <a:custGeom>
            <a:avLst/>
            <a:gdLst/>
            <a:ahLst/>
            <a:cxnLst/>
            <a:rect r="r" b="b" t="t" l="l"/>
            <a:pathLst>
              <a:path h="4165095" w="6962925">
                <a:moveTo>
                  <a:pt x="0" y="0"/>
                </a:moveTo>
                <a:lnTo>
                  <a:pt x="6962925" y="0"/>
                </a:lnTo>
                <a:lnTo>
                  <a:pt x="6962925" y="4165095"/>
                </a:lnTo>
                <a:lnTo>
                  <a:pt x="0" y="416509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3" id="13"/>
          <p:cNvSpPr txBox="true"/>
          <p:nvPr/>
        </p:nvSpPr>
        <p:spPr>
          <a:xfrm rot="0">
            <a:off x="1919933" y="6826544"/>
            <a:ext cx="7755989" cy="3371850"/>
          </a:xfrm>
          <a:prstGeom prst="rect">
            <a:avLst/>
          </a:prstGeom>
        </p:spPr>
        <p:txBody>
          <a:bodyPr anchor="t" rtlCol="false" tIns="0" lIns="0" bIns="0" rIns="0">
            <a:spAutoFit/>
          </a:bodyPr>
          <a:lstStyle/>
          <a:p>
            <a:pPr algn="ctr">
              <a:lnSpc>
                <a:spcPts val="3300"/>
              </a:lnSpc>
            </a:pPr>
            <a:r>
              <a:rPr lang="en-US" sz="3000" spc="-150">
                <a:solidFill>
                  <a:srgbClr val="010101"/>
                </a:solidFill>
                <a:latin typeface="Happy Font TH"/>
                <a:ea typeface="Happy Font TH"/>
                <a:cs typeface="Happy Font TH"/>
                <a:sym typeface="Happy Font TH"/>
              </a:rPr>
              <a:t>So, the purpose of this project is to create one proper SQL database where all employee-related information can be stored, updated, and analyzed easily.</a:t>
            </a:r>
          </a:p>
          <a:p>
            <a:pPr algn="ctr">
              <a:lnSpc>
                <a:spcPts val="3300"/>
              </a:lnSpc>
            </a:pPr>
            <a:r>
              <a:rPr lang="en-US" sz="3000" spc="-150">
                <a:solidFill>
                  <a:srgbClr val="010101"/>
                </a:solidFill>
                <a:latin typeface="Happy Font TH"/>
                <a:ea typeface="Happy Font TH"/>
                <a:cs typeface="Happy Font TH"/>
                <a:sym typeface="Happy Font TH"/>
              </a:rPr>
              <a:t> With this system, the company can manage employees, departments, salaries, bonuses, leaves, and payroll in an organized and error-free way.</a:t>
            </a:r>
          </a:p>
          <a:p>
            <a:pPr algn="ctr">
              <a:lnSpc>
                <a:spcPts val="330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8E6E6"/>
        </a:solidFill>
      </p:bgPr>
    </p:bg>
    <p:spTree>
      <p:nvGrpSpPr>
        <p:cNvPr id="1" name=""/>
        <p:cNvGrpSpPr/>
        <p:nvPr/>
      </p:nvGrpSpPr>
      <p:grpSpPr>
        <a:xfrm>
          <a:off x="0" y="0"/>
          <a:ext cx="0" cy="0"/>
          <a:chOff x="0" y="0"/>
          <a:chExt cx="0" cy="0"/>
        </a:xfrm>
      </p:grpSpPr>
      <p:grpSp>
        <p:nvGrpSpPr>
          <p:cNvPr name="Group 2" id="2"/>
          <p:cNvGrpSpPr/>
          <p:nvPr/>
        </p:nvGrpSpPr>
        <p:grpSpPr>
          <a:xfrm rot="0">
            <a:off x="-7530655" y="5143500"/>
            <a:ext cx="11553193" cy="3459306"/>
            <a:chOff x="0" y="0"/>
            <a:chExt cx="3042816" cy="911093"/>
          </a:xfrm>
        </p:grpSpPr>
        <p:sp>
          <p:nvSpPr>
            <p:cNvPr name="Freeform 3" id="3"/>
            <p:cNvSpPr/>
            <p:nvPr/>
          </p:nvSpPr>
          <p:spPr>
            <a:xfrm flipH="false" flipV="false" rot="0">
              <a:off x="0" y="0"/>
              <a:ext cx="3042816" cy="911093"/>
            </a:xfrm>
            <a:custGeom>
              <a:avLst/>
              <a:gdLst/>
              <a:ahLst/>
              <a:cxnLst/>
              <a:rect r="r" b="b" t="t" l="l"/>
              <a:pathLst>
                <a:path h="911093" w="3042816">
                  <a:moveTo>
                    <a:pt x="0" y="0"/>
                  </a:moveTo>
                  <a:lnTo>
                    <a:pt x="3042816" y="0"/>
                  </a:lnTo>
                  <a:lnTo>
                    <a:pt x="3042816" y="911093"/>
                  </a:lnTo>
                  <a:lnTo>
                    <a:pt x="0" y="911093"/>
                  </a:lnTo>
                  <a:close/>
                </a:path>
              </a:pathLst>
            </a:custGeom>
            <a:solidFill>
              <a:srgbClr val="F4F4F4"/>
            </a:solidFill>
          </p:spPr>
        </p:sp>
        <p:sp>
          <p:nvSpPr>
            <p:cNvPr name="TextBox 4" id="4"/>
            <p:cNvSpPr txBox="true"/>
            <p:nvPr/>
          </p:nvSpPr>
          <p:spPr>
            <a:xfrm>
              <a:off x="0" y="-38100"/>
              <a:ext cx="3042816" cy="94919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319396" y="1047631"/>
            <a:ext cx="7990193" cy="8229600"/>
          </a:xfrm>
          <a:custGeom>
            <a:avLst/>
            <a:gdLst/>
            <a:ahLst/>
            <a:cxnLst/>
            <a:rect r="r" b="b" t="t" l="l"/>
            <a:pathLst>
              <a:path h="8229600" w="7990193">
                <a:moveTo>
                  <a:pt x="0" y="0"/>
                </a:moveTo>
                <a:lnTo>
                  <a:pt x="7990193" y="0"/>
                </a:lnTo>
                <a:lnTo>
                  <a:pt x="7990193"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6258517" y="570246"/>
            <a:ext cx="11000783" cy="3159076"/>
          </a:xfrm>
          <a:prstGeom prst="rect">
            <a:avLst/>
          </a:prstGeom>
        </p:spPr>
        <p:txBody>
          <a:bodyPr anchor="t" rtlCol="false" tIns="0" lIns="0" bIns="0" rIns="0">
            <a:spAutoFit/>
          </a:bodyPr>
          <a:lstStyle/>
          <a:p>
            <a:pPr algn="r">
              <a:lnSpc>
                <a:spcPts val="11652"/>
              </a:lnSpc>
            </a:pPr>
            <a:r>
              <a:rPr lang="en-US" sz="14939" spc="-1314">
                <a:solidFill>
                  <a:srgbClr val="0390A7"/>
                </a:solidFill>
                <a:latin typeface="Happy Font TH"/>
                <a:ea typeface="Happy Font TH"/>
                <a:cs typeface="Happy Font TH"/>
                <a:sym typeface="Happy Font TH"/>
              </a:rPr>
              <a:t>Database Tables</a:t>
            </a:r>
          </a:p>
        </p:txBody>
      </p:sp>
      <p:grpSp>
        <p:nvGrpSpPr>
          <p:cNvPr name="Group 7" id="7"/>
          <p:cNvGrpSpPr/>
          <p:nvPr/>
        </p:nvGrpSpPr>
        <p:grpSpPr>
          <a:xfrm rot="333772">
            <a:off x="10709418" y="6386057"/>
            <a:ext cx="2967803" cy="1138914"/>
            <a:chOff x="0" y="0"/>
            <a:chExt cx="781644" cy="299961"/>
          </a:xfrm>
        </p:grpSpPr>
        <p:sp>
          <p:nvSpPr>
            <p:cNvPr name="Freeform 8" id="8"/>
            <p:cNvSpPr/>
            <p:nvPr/>
          </p:nvSpPr>
          <p:spPr>
            <a:xfrm flipH="false" flipV="false" rot="0">
              <a:off x="0" y="0"/>
              <a:ext cx="781644" cy="299961"/>
            </a:xfrm>
            <a:custGeom>
              <a:avLst/>
              <a:gdLst/>
              <a:ahLst/>
              <a:cxnLst/>
              <a:rect r="r" b="b" t="t" l="l"/>
              <a:pathLst>
                <a:path h="299961" w="781644">
                  <a:moveTo>
                    <a:pt x="133040" y="0"/>
                  </a:moveTo>
                  <a:lnTo>
                    <a:pt x="648603" y="0"/>
                  </a:lnTo>
                  <a:cubicBezTo>
                    <a:pt x="683888" y="0"/>
                    <a:pt x="717727" y="14017"/>
                    <a:pt x="742677" y="38967"/>
                  </a:cubicBezTo>
                  <a:cubicBezTo>
                    <a:pt x="767627" y="63917"/>
                    <a:pt x="781644" y="97756"/>
                    <a:pt x="781644" y="133040"/>
                  </a:cubicBezTo>
                  <a:lnTo>
                    <a:pt x="781644" y="166920"/>
                  </a:lnTo>
                  <a:cubicBezTo>
                    <a:pt x="781644" y="240397"/>
                    <a:pt x="722079" y="299961"/>
                    <a:pt x="648603" y="299961"/>
                  </a:cubicBezTo>
                  <a:lnTo>
                    <a:pt x="133040" y="299961"/>
                  </a:lnTo>
                  <a:cubicBezTo>
                    <a:pt x="97756" y="299961"/>
                    <a:pt x="63917" y="285944"/>
                    <a:pt x="38967" y="260994"/>
                  </a:cubicBezTo>
                  <a:cubicBezTo>
                    <a:pt x="14017" y="236044"/>
                    <a:pt x="0" y="202205"/>
                    <a:pt x="0" y="166920"/>
                  </a:cubicBezTo>
                  <a:lnTo>
                    <a:pt x="0" y="133040"/>
                  </a:lnTo>
                  <a:cubicBezTo>
                    <a:pt x="0" y="97756"/>
                    <a:pt x="14017" y="63917"/>
                    <a:pt x="38967" y="38967"/>
                  </a:cubicBezTo>
                  <a:cubicBezTo>
                    <a:pt x="63917" y="14017"/>
                    <a:pt x="97756" y="0"/>
                    <a:pt x="133040" y="0"/>
                  </a:cubicBezTo>
                  <a:close/>
                </a:path>
              </a:pathLst>
            </a:custGeom>
            <a:solidFill>
              <a:srgbClr val="F4F4F4"/>
            </a:solidFill>
            <a:ln w="19050" cap="rnd">
              <a:solidFill>
                <a:srgbClr val="000000"/>
              </a:solidFill>
              <a:prstDash val="solid"/>
              <a:round/>
            </a:ln>
          </p:spPr>
        </p:sp>
        <p:sp>
          <p:nvSpPr>
            <p:cNvPr name="TextBox 9" id="9"/>
            <p:cNvSpPr txBox="true"/>
            <p:nvPr/>
          </p:nvSpPr>
          <p:spPr>
            <a:xfrm>
              <a:off x="0" y="-38100"/>
              <a:ext cx="781644" cy="338061"/>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333772">
            <a:off x="10971857" y="6689742"/>
            <a:ext cx="2441078" cy="438150"/>
          </a:xfrm>
          <a:prstGeom prst="rect">
            <a:avLst/>
          </a:prstGeom>
        </p:spPr>
        <p:txBody>
          <a:bodyPr anchor="t" rtlCol="false" tIns="0" lIns="0" bIns="0" rIns="0">
            <a:spAutoFit/>
          </a:bodyPr>
          <a:lstStyle/>
          <a:p>
            <a:pPr algn="ctr">
              <a:lnSpc>
                <a:spcPts val="3300"/>
              </a:lnSpc>
            </a:pPr>
            <a:r>
              <a:rPr lang="en-US" sz="3000" spc="-150">
                <a:solidFill>
                  <a:srgbClr val="010101"/>
                </a:solidFill>
                <a:latin typeface="Happy Font TH"/>
                <a:ea typeface="Happy Font TH"/>
                <a:cs typeface="Happy Font TH"/>
                <a:sym typeface="Happy Font TH"/>
              </a:rPr>
              <a:t>JobDepartment</a:t>
            </a:r>
          </a:p>
        </p:txBody>
      </p:sp>
      <p:grpSp>
        <p:nvGrpSpPr>
          <p:cNvPr name="Group 11" id="11"/>
          <p:cNvGrpSpPr/>
          <p:nvPr/>
        </p:nvGrpSpPr>
        <p:grpSpPr>
          <a:xfrm rot="-231756">
            <a:off x="11878191" y="4446682"/>
            <a:ext cx="2393559" cy="839017"/>
            <a:chOff x="0" y="0"/>
            <a:chExt cx="630402" cy="220976"/>
          </a:xfrm>
        </p:grpSpPr>
        <p:sp>
          <p:nvSpPr>
            <p:cNvPr name="Freeform 12" id="12"/>
            <p:cNvSpPr/>
            <p:nvPr/>
          </p:nvSpPr>
          <p:spPr>
            <a:xfrm flipH="false" flipV="false" rot="0">
              <a:off x="0" y="0"/>
              <a:ext cx="630402" cy="220976"/>
            </a:xfrm>
            <a:custGeom>
              <a:avLst/>
              <a:gdLst/>
              <a:ahLst/>
              <a:cxnLst/>
              <a:rect r="r" b="b" t="t" l="l"/>
              <a:pathLst>
                <a:path h="220976" w="630402">
                  <a:moveTo>
                    <a:pt x="110488" y="0"/>
                  </a:moveTo>
                  <a:lnTo>
                    <a:pt x="519915" y="0"/>
                  </a:lnTo>
                  <a:cubicBezTo>
                    <a:pt x="580935" y="0"/>
                    <a:pt x="630402" y="49467"/>
                    <a:pt x="630402" y="110488"/>
                  </a:cubicBezTo>
                  <a:lnTo>
                    <a:pt x="630402" y="110488"/>
                  </a:lnTo>
                  <a:cubicBezTo>
                    <a:pt x="630402" y="139791"/>
                    <a:pt x="618762" y="167894"/>
                    <a:pt x="598041" y="188615"/>
                  </a:cubicBezTo>
                  <a:cubicBezTo>
                    <a:pt x="577321" y="209335"/>
                    <a:pt x="549218" y="220976"/>
                    <a:pt x="519915" y="220976"/>
                  </a:cubicBezTo>
                  <a:lnTo>
                    <a:pt x="110488" y="220976"/>
                  </a:lnTo>
                  <a:cubicBezTo>
                    <a:pt x="81185" y="220976"/>
                    <a:pt x="53082" y="209335"/>
                    <a:pt x="32361" y="188615"/>
                  </a:cubicBezTo>
                  <a:cubicBezTo>
                    <a:pt x="11641" y="167894"/>
                    <a:pt x="0" y="139791"/>
                    <a:pt x="0" y="110488"/>
                  </a:cubicBezTo>
                  <a:lnTo>
                    <a:pt x="0" y="110488"/>
                  </a:lnTo>
                  <a:cubicBezTo>
                    <a:pt x="0" y="81185"/>
                    <a:pt x="11641" y="53082"/>
                    <a:pt x="32361" y="32361"/>
                  </a:cubicBezTo>
                  <a:cubicBezTo>
                    <a:pt x="53082" y="11641"/>
                    <a:pt x="81185" y="0"/>
                    <a:pt x="110488" y="0"/>
                  </a:cubicBezTo>
                  <a:close/>
                </a:path>
              </a:pathLst>
            </a:custGeom>
            <a:solidFill>
              <a:srgbClr val="F4F4F4"/>
            </a:solidFill>
            <a:ln w="19050" cap="rnd">
              <a:solidFill>
                <a:srgbClr val="000000"/>
              </a:solidFill>
              <a:prstDash val="solid"/>
              <a:round/>
            </a:ln>
          </p:spPr>
        </p:sp>
        <p:sp>
          <p:nvSpPr>
            <p:cNvPr name="TextBox 13" id="13"/>
            <p:cNvSpPr txBox="true"/>
            <p:nvPr/>
          </p:nvSpPr>
          <p:spPr>
            <a:xfrm>
              <a:off x="0" y="-38100"/>
              <a:ext cx="630402" cy="259076"/>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231756">
            <a:off x="12181370" y="4663042"/>
            <a:ext cx="1744578" cy="438150"/>
          </a:xfrm>
          <a:prstGeom prst="rect">
            <a:avLst/>
          </a:prstGeom>
        </p:spPr>
        <p:txBody>
          <a:bodyPr anchor="t" rtlCol="false" tIns="0" lIns="0" bIns="0" rIns="0">
            <a:spAutoFit/>
          </a:bodyPr>
          <a:lstStyle/>
          <a:p>
            <a:pPr algn="ctr">
              <a:lnSpc>
                <a:spcPts val="3300"/>
              </a:lnSpc>
            </a:pPr>
            <a:r>
              <a:rPr lang="en-US" sz="3000" spc="-150">
                <a:solidFill>
                  <a:srgbClr val="010101"/>
                </a:solidFill>
                <a:latin typeface="Happy Font TH"/>
                <a:ea typeface="Happy Font TH"/>
                <a:cs typeface="Happy Font TH"/>
                <a:sym typeface="Happy Font TH"/>
              </a:rPr>
              <a:t>Employee</a:t>
            </a:r>
          </a:p>
        </p:txBody>
      </p:sp>
      <p:grpSp>
        <p:nvGrpSpPr>
          <p:cNvPr name="Group 15" id="15"/>
          <p:cNvGrpSpPr/>
          <p:nvPr/>
        </p:nvGrpSpPr>
        <p:grpSpPr>
          <a:xfrm rot="-693617">
            <a:off x="14287280" y="6386057"/>
            <a:ext cx="2398276" cy="1138914"/>
            <a:chOff x="0" y="0"/>
            <a:chExt cx="631645" cy="299961"/>
          </a:xfrm>
        </p:grpSpPr>
        <p:sp>
          <p:nvSpPr>
            <p:cNvPr name="Freeform 16" id="16"/>
            <p:cNvSpPr/>
            <p:nvPr/>
          </p:nvSpPr>
          <p:spPr>
            <a:xfrm flipH="false" flipV="false" rot="0">
              <a:off x="0" y="0"/>
              <a:ext cx="631645" cy="299961"/>
            </a:xfrm>
            <a:custGeom>
              <a:avLst/>
              <a:gdLst/>
              <a:ahLst/>
              <a:cxnLst/>
              <a:rect r="r" b="b" t="t" l="l"/>
              <a:pathLst>
                <a:path h="299961" w="631645">
                  <a:moveTo>
                    <a:pt x="149980" y="0"/>
                  </a:moveTo>
                  <a:lnTo>
                    <a:pt x="481664" y="0"/>
                  </a:lnTo>
                  <a:cubicBezTo>
                    <a:pt x="521442" y="0"/>
                    <a:pt x="559590" y="15801"/>
                    <a:pt x="587716" y="43928"/>
                  </a:cubicBezTo>
                  <a:cubicBezTo>
                    <a:pt x="615843" y="72055"/>
                    <a:pt x="631645" y="110203"/>
                    <a:pt x="631645" y="149980"/>
                  </a:cubicBezTo>
                  <a:lnTo>
                    <a:pt x="631645" y="149980"/>
                  </a:lnTo>
                  <a:cubicBezTo>
                    <a:pt x="631645" y="232812"/>
                    <a:pt x="564496" y="299961"/>
                    <a:pt x="481664" y="299961"/>
                  </a:cubicBezTo>
                  <a:lnTo>
                    <a:pt x="149980" y="299961"/>
                  </a:lnTo>
                  <a:cubicBezTo>
                    <a:pt x="67149" y="299961"/>
                    <a:pt x="0" y="232812"/>
                    <a:pt x="0" y="149980"/>
                  </a:cubicBezTo>
                  <a:lnTo>
                    <a:pt x="0" y="149980"/>
                  </a:lnTo>
                  <a:cubicBezTo>
                    <a:pt x="0" y="67149"/>
                    <a:pt x="67149" y="0"/>
                    <a:pt x="149980" y="0"/>
                  </a:cubicBezTo>
                  <a:close/>
                </a:path>
              </a:pathLst>
            </a:custGeom>
            <a:solidFill>
              <a:srgbClr val="F4F4F4"/>
            </a:solidFill>
            <a:ln w="19050" cap="rnd">
              <a:solidFill>
                <a:srgbClr val="000000"/>
              </a:solidFill>
              <a:prstDash val="solid"/>
              <a:round/>
            </a:ln>
          </p:spPr>
        </p:sp>
        <p:sp>
          <p:nvSpPr>
            <p:cNvPr name="TextBox 17" id="17"/>
            <p:cNvSpPr txBox="true"/>
            <p:nvPr/>
          </p:nvSpPr>
          <p:spPr>
            <a:xfrm>
              <a:off x="0" y="-38100"/>
              <a:ext cx="631645" cy="338061"/>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693617">
            <a:off x="14638461" y="6645845"/>
            <a:ext cx="1744578" cy="857250"/>
          </a:xfrm>
          <a:prstGeom prst="rect">
            <a:avLst/>
          </a:prstGeom>
        </p:spPr>
        <p:txBody>
          <a:bodyPr anchor="t" rtlCol="false" tIns="0" lIns="0" bIns="0" rIns="0">
            <a:spAutoFit/>
          </a:bodyPr>
          <a:lstStyle/>
          <a:p>
            <a:pPr algn="ctr">
              <a:lnSpc>
                <a:spcPts val="3300"/>
              </a:lnSpc>
            </a:pPr>
            <a:r>
              <a:rPr lang="en-US" sz="3000" spc="-150">
                <a:solidFill>
                  <a:srgbClr val="010101"/>
                </a:solidFill>
                <a:latin typeface="Happy Font TH"/>
                <a:ea typeface="Happy Font TH"/>
                <a:cs typeface="Happy Font TH"/>
                <a:sym typeface="Happy Font TH"/>
              </a:rPr>
              <a:t>SalaryBonus</a:t>
            </a:r>
          </a:p>
        </p:txBody>
      </p:sp>
      <p:grpSp>
        <p:nvGrpSpPr>
          <p:cNvPr name="Group 19" id="19"/>
          <p:cNvGrpSpPr/>
          <p:nvPr/>
        </p:nvGrpSpPr>
        <p:grpSpPr>
          <a:xfrm rot="242731">
            <a:off x="14876661" y="4459574"/>
            <a:ext cx="2664185" cy="1138914"/>
            <a:chOff x="0" y="0"/>
            <a:chExt cx="701678" cy="299961"/>
          </a:xfrm>
        </p:grpSpPr>
        <p:sp>
          <p:nvSpPr>
            <p:cNvPr name="Freeform 20" id="20"/>
            <p:cNvSpPr/>
            <p:nvPr/>
          </p:nvSpPr>
          <p:spPr>
            <a:xfrm flipH="false" flipV="false" rot="0">
              <a:off x="0" y="0"/>
              <a:ext cx="701678" cy="299961"/>
            </a:xfrm>
            <a:custGeom>
              <a:avLst/>
              <a:gdLst/>
              <a:ahLst/>
              <a:cxnLst/>
              <a:rect r="r" b="b" t="t" l="l"/>
              <a:pathLst>
                <a:path h="299961" w="701678">
                  <a:moveTo>
                    <a:pt x="148202" y="0"/>
                  </a:moveTo>
                  <a:lnTo>
                    <a:pt x="553476" y="0"/>
                  </a:lnTo>
                  <a:cubicBezTo>
                    <a:pt x="635326" y="0"/>
                    <a:pt x="701678" y="66352"/>
                    <a:pt x="701678" y="148202"/>
                  </a:cubicBezTo>
                  <a:lnTo>
                    <a:pt x="701678" y="151759"/>
                  </a:lnTo>
                  <a:cubicBezTo>
                    <a:pt x="701678" y="191064"/>
                    <a:pt x="686064" y="228760"/>
                    <a:pt x="658271" y="256553"/>
                  </a:cubicBezTo>
                  <a:cubicBezTo>
                    <a:pt x="630478" y="284347"/>
                    <a:pt x="592782" y="299961"/>
                    <a:pt x="553476" y="299961"/>
                  </a:cubicBezTo>
                  <a:lnTo>
                    <a:pt x="148202" y="299961"/>
                  </a:lnTo>
                  <a:cubicBezTo>
                    <a:pt x="108896" y="299961"/>
                    <a:pt x="71201" y="284347"/>
                    <a:pt x="43407" y="256553"/>
                  </a:cubicBezTo>
                  <a:cubicBezTo>
                    <a:pt x="15614" y="228760"/>
                    <a:pt x="0" y="191064"/>
                    <a:pt x="0" y="151759"/>
                  </a:cubicBezTo>
                  <a:lnTo>
                    <a:pt x="0" y="148202"/>
                  </a:lnTo>
                  <a:cubicBezTo>
                    <a:pt x="0" y="108896"/>
                    <a:pt x="15614" y="71201"/>
                    <a:pt x="43407" y="43407"/>
                  </a:cubicBezTo>
                  <a:cubicBezTo>
                    <a:pt x="71201" y="15614"/>
                    <a:pt x="108896" y="0"/>
                    <a:pt x="148202" y="0"/>
                  </a:cubicBezTo>
                  <a:close/>
                </a:path>
              </a:pathLst>
            </a:custGeom>
            <a:solidFill>
              <a:srgbClr val="F4F4F4"/>
            </a:solidFill>
            <a:ln w="19050" cap="rnd">
              <a:solidFill>
                <a:srgbClr val="000000"/>
              </a:solidFill>
              <a:prstDash val="solid"/>
              <a:round/>
            </a:ln>
          </p:spPr>
        </p:sp>
        <p:sp>
          <p:nvSpPr>
            <p:cNvPr name="TextBox 21" id="21"/>
            <p:cNvSpPr txBox="true"/>
            <p:nvPr/>
          </p:nvSpPr>
          <p:spPr>
            <a:xfrm>
              <a:off x="0" y="-38100"/>
              <a:ext cx="701678" cy="338061"/>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242731">
            <a:off x="15136531" y="4794287"/>
            <a:ext cx="2143100" cy="438150"/>
          </a:xfrm>
          <a:prstGeom prst="rect">
            <a:avLst/>
          </a:prstGeom>
        </p:spPr>
        <p:txBody>
          <a:bodyPr anchor="t" rtlCol="false" tIns="0" lIns="0" bIns="0" rIns="0">
            <a:spAutoFit/>
          </a:bodyPr>
          <a:lstStyle/>
          <a:p>
            <a:pPr algn="ctr">
              <a:lnSpc>
                <a:spcPts val="3300"/>
              </a:lnSpc>
            </a:pPr>
            <a:r>
              <a:rPr lang="en-US" sz="3000" spc="-150">
                <a:solidFill>
                  <a:srgbClr val="010101"/>
                </a:solidFill>
                <a:latin typeface="Happy Font TH"/>
                <a:ea typeface="Happy Font TH"/>
                <a:cs typeface="Happy Font TH"/>
                <a:sym typeface="Happy Font TH"/>
              </a:rPr>
              <a:t>Qualification</a:t>
            </a:r>
          </a:p>
        </p:txBody>
      </p:sp>
      <p:grpSp>
        <p:nvGrpSpPr>
          <p:cNvPr name="Group 23" id="23"/>
          <p:cNvGrpSpPr/>
          <p:nvPr/>
        </p:nvGrpSpPr>
        <p:grpSpPr>
          <a:xfrm rot="-892996">
            <a:off x="14598346" y="8408031"/>
            <a:ext cx="2359393" cy="556600"/>
            <a:chOff x="0" y="0"/>
            <a:chExt cx="621404" cy="146594"/>
          </a:xfrm>
        </p:grpSpPr>
        <p:sp>
          <p:nvSpPr>
            <p:cNvPr name="Freeform 24" id="24"/>
            <p:cNvSpPr/>
            <p:nvPr/>
          </p:nvSpPr>
          <p:spPr>
            <a:xfrm flipH="false" flipV="false" rot="0">
              <a:off x="0" y="0"/>
              <a:ext cx="621404" cy="146594"/>
            </a:xfrm>
            <a:custGeom>
              <a:avLst/>
              <a:gdLst/>
              <a:ahLst/>
              <a:cxnLst/>
              <a:rect r="r" b="b" t="t" l="l"/>
              <a:pathLst>
                <a:path h="146594" w="621404">
                  <a:moveTo>
                    <a:pt x="73297" y="0"/>
                  </a:moveTo>
                  <a:lnTo>
                    <a:pt x="548107" y="0"/>
                  </a:lnTo>
                  <a:cubicBezTo>
                    <a:pt x="588588" y="0"/>
                    <a:pt x="621404" y="32816"/>
                    <a:pt x="621404" y="73297"/>
                  </a:cubicBezTo>
                  <a:lnTo>
                    <a:pt x="621404" y="73297"/>
                  </a:lnTo>
                  <a:cubicBezTo>
                    <a:pt x="621404" y="92737"/>
                    <a:pt x="613681" y="111380"/>
                    <a:pt x="599936" y="125126"/>
                  </a:cubicBezTo>
                  <a:cubicBezTo>
                    <a:pt x="586190" y="138872"/>
                    <a:pt x="567546" y="146594"/>
                    <a:pt x="548107" y="146594"/>
                  </a:cubicBezTo>
                  <a:lnTo>
                    <a:pt x="73297" y="146594"/>
                  </a:lnTo>
                  <a:cubicBezTo>
                    <a:pt x="32816" y="146594"/>
                    <a:pt x="0" y="113778"/>
                    <a:pt x="0" y="73297"/>
                  </a:cubicBezTo>
                  <a:lnTo>
                    <a:pt x="0" y="73297"/>
                  </a:lnTo>
                  <a:cubicBezTo>
                    <a:pt x="0" y="32816"/>
                    <a:pt x="32816" y="0"/>
                    <a:pt x="73297" y="0"/>
                  </a:cubicBezTo>
                  <a:close/>
                </a:path>
              </a:pathLst>
            </a:custGeom>
            <a:solidFill>
              <a:srgbClr val="F4F4F4"/>
            </a:solidFill>
            <a:ln w="19050" cap="rnd">
              <a:solidFill>
                <a:srgbClr val="000000"/>
              </a:solidFill>
              <a:prstDash val="solid"/>
              <a:round/>
            </a:ln>
          </p:spPr>
        </p:sp>
        <p:sp>
          <p:nvSpPr>
            <p:cNvPr name="TextBox 25" id="25"/>
            <p:cNvSpPr txBox="true"/>
            <p:nvPr/>
          </p:nvSpPr>
          <p:spPr>
            <a:xfrm>
              <a:off x="0" y="-38100"/>
              <a:ext cx="621404" cy="184694"/>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892996">
            <a:off x="14766208" y="8510505"/>
            <a:ext cx="2053027" cy="340995"/>
          </a:xfrm>
          <a:prstGeom prst="rect">
            <a:avLst/>
          </a:prstGeom>
        </p:spPr>
        <p:txBody>
          <a:bodyPr anchor="t" rtlCol="false" tIns="0" lIns="0" bIns="0" rIns="0">
            <a:spAutoFit/>
          </a:bodyPr>
          <a:lstStyle/>
          <a:p>
            <a:pPr algn="ctr">
              <a:lnSpc>
                <a:spcPts val="2340"/>
              </a:lnSpc>
            </a:pPr>
            <a:r>
              <a:rPr lang="en-US" sz="3000" spc="-263">
                <a:solidFill>
                  <a:srgbClr val="010101"/>
                </a:solidFill>
                <a:latin typeface="Happy Font TH"/>
                <a:ea typeface="Happy Font TH"/>
                <a:cs typeface="Happy Font TH"/>
                <a:sym typeface="Happy Font TH"/>
              </a:rPr>
              <a:t>Leaves</a:t>
            </a:r>
          </a:p>
        </p:txBody>
      </p:sp>
      <p:sp>
        <p:nvSpPr>
          <p:cNvPr name="Freeform 27" id="27"/>
          <p:cNvSpPr/>
          <p:nvPr/>
        </p:nvSpPr>
        <p:spPr>
          <a:xfrm flipH="false" flipV="false" rot="2366768">
            <a:off x="17193444" y="5911373"/>
            <a:ext cx="200635" cy="251365"/>
          </a:xfrm>
          <a:custGeom>
            <a:avLst/>
            <a:gdLst/>
            <a:ahLst/>
            <a:cxnLst/>
            <a:rect r="r" b="b" t="t" l="l"/>
            <a:pathLst>
              <a:path h="251365" w="200635">
                <a:moveTo>
                  <a:pt x="0" y="0"/>
                </a:moveTo>
                <a:lnTo>
                  <a:pt x="200634" y="0"/>
                </a:lnTo>
                <a:lnTo>
                  <a:pt x="200634" y="251364"/>
                </a:lnTo>
                <a:lnTo>
                  <a:pt x="0" y="2513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false" flipV="false" rot="-9706846">
            <a:off x="8074689" y="1053764"/>
            <a:ext cx="200635" cy="251365"/>
          </a:xfrm>
          <a:custGeom>
            <a:avLst/>
            <a:gdLst/>
            <a:ahLst/>
            <a:cxnLst/>
            <a:rect r="r" b="b" t="t" l="l"/>
            <a:pathLst>
              <a:path h="251365" w="200635">
                <a:moveTo>
                  <a:pt x="0" y="0"/>
                </a:moveTo>
                <a:lnTo>
                  <a:pt x="200634" y="0"/>
                </a:lnTo>
                <a:lnTo>
                  <a:pt x="200634" y="251364"/>
                </a:lnTo>
                <a:lnTo>
                  <a:pt x="0" y="2513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9" id="29"/>
          <p:cNvSpPr/>
          <p:nvPr/>
        </p:nvSpPr>
        <p:spPr>
          <a:xfrm flipH="false" flipV="false" rot="521015">
            <a:off x="8981612" y="3293957"/>
            <a:ext cx="700761" cy="384670"/>
          </a:xfrm>
          <a:custGeom>
            <a:avLst/>
            <a:gdLst/>
            <a:ahLst/>
            <a:cxnLst/>
            <a:rect r="r" b="b" t="t" l="l"/>
            <a:pathLst>
              <a:path h="384670" w="700761">
                <a:moveTo>
                  <a:pt x="0" y="0"/>
                </a:moveTo>
                <a:lnTo>
                  <a:pt x="700762" y="0"/>
                </a:lnTo>
                <a:lnTo>
                  <a:pt x="700762" y="384670"/>
                </a:lnTo>
                <a:lnTo>
                  <a:pt x="0" y="3846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0" id="30"/>
          <p:cNvSpPr/>
          <p:nvPr/>
        </p:nvSpPr>
        <p:spPr>
          <a:xfrm flipH="false" flipV="false" rot="-1966594">
            <a:off x="8508411" y="4838928"/>
            <a:ext cx="1281540" cy="764264"/>
          </a:xfrm>
          <a:custGeom>
            <a:avLst/>
            <a:gdLst/>
            <a:ahLst/>
            <a:cxnLst/>
            <a:rect r="r" b="b" t="t" l="l"/>
            <a:pathLst>
              <a:path h="764264" w="1281540">
                <a:moveTo>
                  <a:pt x="0" y="0"/>
                </a:moveTo>
                <a:lnTo>
                  <a:pt x="1281540" y="0"/>
                </a:lnTo>
                <a:lnTo>
                  <a:pt x="1281540" y="764264"/>
                </a:lnTo>
                <a:lnTo>
                  <a:pt x="0" y="7642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1" id="31"/>
          <p:cNvSpPr/>
          <p:nvPr/>
        </p:nvSpPr>
        <p:spPr>
          <a:xfrm flipH="false" flipV="false" rot="760222">
            <a:off x="7035674" y="2358005"/>
            <a:ext cx="641811" cy="647699"/>
          </a:xfrm>
          <a:custGeom>
            <a:avLst/>
            <a:gdLst/>
            <a:ahLst/>
            <a:cxnLst/>
            <a:rect r="r" b="b" t="t" l="l"/>
            <a:pathLst>
              <a:path h="647699" w="641811">
                <a:moveTo>
                  <a:pt x="0" y="0"/>
                </a:moveTo>
                <a:lnTo>
                  <a:pt x="641811" y="0"/>
                </a:lnTo>
                <a:lnTo>
                  <a:pt x="641811" y="647700"/>
                </a:lnTo>
                <a:lnTo>
                  <a:pt x="0" y="6477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2" id="32"/>
          <p:cNvSpPr/>
          <p:nvPr/>
        </p:nvSpPr>
        <p:spPr>
          <a:xfrm flipH="false" flipV="false" rot="1719061">
            <a:off x="9025179" y="7821351"/>
            <a:ext cx="379921" cy="383118"/>
          </a:xfrm>
          <a:custGeom>
            <a:avLst/>
            <a:gdLst/>
            <a:ahLst/>
            <a:cxnLst/>
            <a:rect r="r" b="b" t="t" l="l"/>
            <a:pathLst>
              <a:path h="383118" w="379921">
                <a:moveTo>
                  <a:pt x="0" y="0"/>
                </a:moveTo>
                <a:lnTo>
                  <a:pt x="379920" y="0"/>
                </a:lnTo>
                <a:lnTo>
                  <a:pt x="379920" y="383118"/>
                </a:lnTo>
                <a:lnTo>
                  <a:pt x="0" y="38311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3" id="33"/>
          <p:cNvSpPr/>
          <p:nvPr/>
        </p:nvSpPr>
        <p:spPr>
          <a:xfrm flipH="true" flipV="false" rot="-8644545">
            <a:off x="10569072" y="4309221"/>
            <a:ext cx="1241082" cy="988353"/>
          </a:xfrm>
          <a:custGeom>
            <a:avLst/>
            <a:gdLst/>
            <a:ahLst/>
            <a:cxnLst/>
            <a:rect r="r" b="b" t="t" l="l"/>
            <a:pathLst>
              <a:path h="988353" w="1241082">
                <a:moveTo>
                  <a:pt x="1241082" y="0"/>
                </a:moveTo>
                <a:lnTo>
                  <a:pt x="0" y="0"/>
                </a:lnTo>
                <a:lnTo>
                  <a:pt x="0" y="988353"/>
                </a:lnTo>
                <a:lnTo>
                  <a:pt x="1241082" y="988353"/>
                </a:lnTo>
                <a:lnTo>
                  <a:pt x="1241082"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34" id="34"/>
          <p:cNvGrpSpPr/>
          <p:nvPr/>
        </p:nvGrpSpPr>
        <p:grpSpPr>
          <a:xfrm rot="-693617">
            <a:off x="11236669" y="8565959"/>
            <a:ext cx="1913300" cy="663303"/>
            <a:chOff x="0" y="0"/>
            <a:chExt cx="503914" cy="174697"/>
          </a:xfrm>
        </p:grpSpPr>
        <p:sp>
          <p:nvSpPr>
            <p:cNvPr name="Freeform 35" id="35"/>
            <p:cNvSpPr/>
            <p:nvPr/>
          </p:nvSpPr>
          <p:spPr>
            <a:xfrm flipH="false" flipV="false" rot="0">
              <a:off x="0" y="0"/>
              <a:ext cx="503914" cy="174697"/>
            </a:xfrm>
            <a:custGeom>
              <a:avLst/>
              <a:gdLst/>
              <a:ahLst/>
              <a:cxnLst/>
              <a:rect r="r" b="b" t="t" l="l"/>
              <a:pathLst>
                <a:path h="174697" w="503914">
                  <a:moveTo>
                    <a:pt x="87349" y="0"/>
                  </a:moveTo>
                  <a:lnTo>
                    <a:pt x="416566" y="0"/>
                  </a:lnTo>
                  <a:cubicBezTo>
                    <a:pt x="439732" y="0"/>
                    <a:pt x="461949" y="9203"/>
                    <a:pt x="478330" y="25584"/>
                  </a:cubicBezTo>
                  <a:cubicBezTo>
                    <a:pt x="494712" y="41965"/>
                    <a:pt x="503914" y="64182"/>
                    <a:pt x="503914" y="87349"/>
                  </a:cubicBezTo>
                  <a:lnTo>
                    <a:pt x="503914" y="87349"/>
                  </a:lnTo>
                  <a:cubicBezTo>
                    <a:pt x="503914" y="135590"/>
                    <a:pt x="464807" y="174697"/>
                    <a:pt x="416566" y="174697"/>
                  </a:cubicBezTo>
                  <a:lnTo>
                    <a:pt x="87349" y="174697"/>
                  </a:lnTo>
                  <a:cubicBezTo>
                    <a:pt x="64182" y="174697"/>
                    <a:pt x="41965" y="165494"/>
                    <a:pt x="25584" y="149113"/>
                  </a:cubicBezTo>
                  <a:cubicBezTo>
                    <a:pt x="9203" y="132732"/>
                    <a:pt x="0" y="110515"/>
                    <a:pt x="0" y="87349"/>
                  </a:cubicBezTo>
                  <a:lnTo>
                    <a:pt x="0" y="87349"/>
                  </a:lnTo>
                  <a:cubicBezTo>
                    <a:pt x="0" y="64182"/>
                    <a:pt x="9203" y="41965"/>
                    <a:pt x="25584" y="25584"/>
                  </a:cubicBezTo>
                  <a:cubicBezTo>
                    <a:pt x="41965" y="9203"/>
                    <a:pt x="64182" y="0"/>
                    <a:pt x="87349" y="0"/>
                  </a:cubicBezTo>
                  <a:close/>
                </a:path>
              </a:pathLst>
            </a:custGeom>
            <a:solidFill>
              <a:srgbClr val="F4F4F4"/>
            </a:solidFill>
            <a:ln w="19050" cap="rnd">
              <a:solidFill>
                <a:srgbClr val="000000"/>
              </a:solidFill>
              <a:prstDash val="solid"/>
              <a:round/>
            </a:ln>
          </p:spPr>
        </p:sp>
        <p:sp>
          <p:nvSpPr>
            <p:cNvPr name="TextBox 36" id="36"/>
            <p:cNvSpPr txBox="true"/>
            <p:nvPr/>
          </p:nvSpPr>
          <p:spPr>
            <a:xfrm>
              <a:off x="0" y="-38100"/>
              <a:ext cx="503914" cy="212797"/>
            </a:xfrm>
            <a:prstGeom prst="rect">
              <a:avLst/>
            </a:prstGeom>
          </p:spPr>
          <p:txBody>
            <a:bodyPr anchor="ctr" rtlCol="false" tIns="50800" lIns="50800" bIns="50800" rIns="50800"/>
            <a:lstStyle/>
            <a:p>
              <a:pPr algn="ctr">
                <a:lnSpc>
                  <a:spcPts val="2659"/>
                </a:lnSpc>
              </a:pPr>
            </a:p>
          </p:txBody>
        </p:sp>
      </p:grpSp>
      <p:sp>
        <p:nvSpPr>
          <p:cNvPr name="TextBox 37" id="37"/>
          <p:cNvSpPr txBox="true"/>
          <p:nvPr/>
        </p:nvSpPr>
        <p:spPr>
          <a:xfrm rot="-693617">
            <a:off x="11317631" y="8672351"/>
            <a:ext cx="1744578" cy="438150"/>
          </a:xfrm>
          <a:prstGeom prst="rect">
            <a:avLst/>
          </a:prstGeom>
        </p:spPr>
        <p:txBody>
          <a:bodyPr anchor="t" rtlCol="false" tIns="0" lIns="0" bIns="0" rIns="0">
            <a:spAutoFit/>
          </a:bodyPr>
          <a:lstStyle/>
          <a:p>
            <a:pPr algn="ctr">
              <a:lnSpc>
                <a:spcPts val="3300"/>
              </a:lnSpc>
            </a:pPr>
            <a:r>
              <a:rPr lang="en-US" sz="3000" spc="-150">
                <a:solidFill>
                  <a:srgbClr val="010101"/>
                </a:solidFill>
                <a:latin typeface="Happy Font TH"/>
                <a:ea typeface="Happy Font TH"/>
                <a:cs typeface="Happy Font TH"/>
                <a:sym typeface="Happy Font TH"/>
              </a:rPr>
              <a:t>Payroll</a:t>
            </a:r>
          </a:p>
        </p:txBody>
      </p:sp>
      <p:sp>
        <p:nvSpPr>
          <p:cNvPr name="Freeform 38" id="38"/>
          <p:cNvSpPr/>
          <p:nvPr/>
        </p:nvSpPr>
        <p:spPr>
          <a:xfrm flipH="false" flipV="false" rot="0">
            <a:off x="13385388" y="9414246"/>
            <a:ext cx="4838090" cy="1009526"/>
          </a:xfrm>
          <a:custGeom>
            <a:avLst/>
            <a:gdLst/>
            <a:ahLst/>
            <a:cxnLst/>
            <a:rect r="r" b="b" t="t" l="l"/>
            <a:pathLst>
              <a:path h="1009526" w="4838090">
                <a:moveTo>
                  <a:pt x="0" y="0"/>
                </a:moveTo>
                <a:lnTo>
                  <a:pt x="4838090" y="0"/>
                </a:lnTo>
                <a:lnTo>
                  <a:pt x="4838090" y="1009526"/>
                </a:lnTo>
                <a:lnTo>
                  <a:pt x="0" y="1009526"/>
                </a:lnTo>
                <a:lnTo>
                  <a:pt x="0" y="0"/>
                </a:lnTo>
                <a:close/>
              </a:path>
            </a:pathLst>
          </a:custGeom>
          <a:blipFill>
            <a:blip r:embed="rId16"/>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8E6E6"/>
        </a:solidFill>
      </p:bgPr>
    </p:bg>
    <p:spTree>
      <p:nvGrpSpPr>
        <p:cNvPr id="1" name=""/>
        <p:cNvGrpSpPr/>
        <p:nvPr/>
      </p:nvGrpSpPr>
      <p:grpSpPr>
        <a:xfrm>
          <a:off x="0" y="0"/>
          <a:ext cx="0" cy="0"/>
          <a:chOff x="0" y="0"/>
          <a:chExt cx="0" cy="0"/>
        </a:xfrm>
      </p:grpSpPr>
      <p:sp>
        <p:nvSpPr>
          <p:cNvPr name="Freeform 2" id="2"/>
          <p:cNvSpPr/>
          <p:nvPr/>
        </p:nvSpPr>
        <p:spPr>
          <a:xfrm flipH="false" flipV="false" rot="-9706846">
            <a:off x="793800" y="752272"/>
            <a:ext cx="200635" cy="251365"/>
          </a:xfrm>
          <a:custGeom>
            <a:avLst/>
            <a:gdLst/>
            <a:ahLst/>
            <a:cxnLst/>
            <a:rect r="r" b="b" t="t" l="l"/>
            <a:pathLst>
              <a:path h="251365" w="200635">
                <a:moveTo>
                  <a:pt x="0" y="0"/>
                </a:moveTo>
                <a:lnTo>
                  <a:pt x="200634" y="0"/>
                </a:lnTo>
                <a:lnTo>
                  <a:pt x="200634" y="251364"/>
                </a:lnTo>
                <a:lnTo>
                  <a:pt x="0" y="2513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985749">
            <a:off x="11304118" y="8929739"/>
            <a:ext cx="519551" cy="552278"/>
          </a:xfrm>
          <a:custGeom>
            <a:avLst/>
            <a:gdLst/>
            <a:ahLst/>
            <a:cxnLst/>
            <a:rect r="r" b="b" t="t" l="l"/>
            <a:pathLst>
              <a:path h="552278" w="519551">
                <a:moveTo>
                  <a:pt x="0" y="0"/>
                </a:moveTo>
                <a:lnTo>
                  <a:pt x="519550" y="0"/>
                </a:lnTo>
                <a:lnTo>
                  <a:pt x="519550" y="552278"/>
                </a:lnTo>
                <a:lnTo>
                  <a:pt x="0" y="5522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535166" y="1733483"/>
            <a:ext cx="754643" cy="703381"/>
          </a:xfrm>
          <a:custGeom>
            <a:avLst/>
            <a:gdLst/>
            <a:ahLst/>
            <a:cxnLst/>
            <a:rect r="r" b="b" t="t" l="l"/>
            <a:pathLst>
              <a:path h="703381" w="754643">
                <a:moveTo>
                  <a:pt x="0" y="0"/>
                </a:moveTo>
                <a:lnTo>
                  <a:pt x="754643" y="0"/>
                </a:lnTo>
                <a:lnTo>
                  <a:pt x="754643" y="703381"/>
                </a:lnTo>
                <a:lnTo>
                  <a:pt x="0" y="7033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392367">
            <a:off x="5592194" y="8608537"/>
            <a:ext cx="567587" cy="723136"/>
          </a:xfrm>
          <a:custGeom>
            <a:avLst/>
            <a:gdLst/>
            <a:ahLst/>
            <a:cxnLst/>
            <a:rect r="r" b="b" t="t" l="l"/>
            <a:pathLst>
              <a:path h="723136" w="567587">
                <a:moveTo>
                  <a:pt x="0" y="0"/>
                </a:moveTo>
                <a:lnTo>
                  <a:pt x="567588" y="0"/>
                </a:lnTo>
                <a:lnTo>
                  <a:pt x="567588" y="723136"/>
                </a:lnTo>
                <a:lnTo>
                  <a:pt x="0" y="72313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329948" y="9738255"/>
            <a:ext cx="358491" cy="361508"/>
          </a:xfrm>
          <a:custGeom>
            <a:avLst/>
            <a:gdLst/>
            <a:ahLst/>
            <a:cxnLst/>
            <a:rect r="r" b="b" t="t" l="l"/>
            <a:pathLst>
              <a:path h="361508" w="358491">
                <a:moveTo>
                  <a:pt x="0" y="0"/>
                </a:moveTo>
                <a:lnTo>
                  <a:pt x="358491" y="0"/>
                </a:lnTo>
                <a:lnTo>
                  <a:pt x="358491" y="361508"/>
                </a:lnTo>
                <a:lnTo>
                  <a:pt x="0" y="36150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3385388" y="9414246"/>
            <a:ext cx="4838090" cy="1009526"/>
          </a:xfrm>
          <a:custGeom>
            <a:avLst/>
            <a:gdLst/>
            <a:ahLst/>
            <a:cxnLst/>
            <a:rect r="r" b="b" t="t" l="l"/>
            <a:pathLst>
              <a:path h="1009526" w="4838090">
                <a:moveTo>
                  <a:pt x="0" y="0"/>
                </a:moveTo>
                <a:lnTo>
                  <a:pt x="4838090" y="0"/>
                </a:lnTo>
                <a:lnTo>
                  <a:pt x="4838090" y="1009526"/>
                </a:lnTo>
                <a:lnTo>
                  <a:pt x="0" y="1009526"/>
                </a:lnTo>
                <a:lnTo>
                  <a:pt x="0" y="0"/>
                </a:lnTo>
                <a:close/>
              </a:path>
            </a:pathLst>
          </a:custGeom>
          <a:blipFill>
            <a:blip r:embed="rId12"/>
            <a:stretch>
              <a:fillRect l="0" t="0" r="0" b="0"/>
            </a:stretch>
          </a:blipFill>
        </p:spPr>
      </p:sp>
      <p:grpSp>
        <p:nvGrpSpPr>
          <p:cNvPr name="Group 8" id="8"/>
          <p:cNvGrpSpPr/>
          <p:nvPr/>
        </p:nvGrpSpPr>
        <p:grpSpPr>
          <a:xfrm rot="0">
            <a:off x="329948" y="2539329"/>
            <a:ext cx="4395952" cy="994121"/>
            <a:chOff x="0" y="0"/>
            <a:chExt cx="925617" cy="209323"/>
          </a:xfrm>
        </p:grpSpPr>
        <p:sp>
          <p:nvSpPr>
            <p:cNvPr name="Freeform 9" id="9"/>
            <p:cNvSpPr/>
            <p:nvPr/>
          </p:nvSpPr>
          <p:spPr>
            <a:xfrm flipH="false" flipV="false" rot="0">
              <a:off x="0" y="0"/>
              <a:ext cx="925617" cy="209323"/>
            </a:xfrm>
            <a:custGeom>
              <a:avLst/>
              <a:gdLst/>
              <a:ahLst/>
              <a:cxnLst/>
              <a:rect r="r" b="b" t="t" l="l"/>
              <a:pathLst>
                <a:path h="209323" w="925617">
                  <a:moveTo>
                    <a:pt x="89819" y="0"/>
                  </a:moveTo>
                  <a:lnTo>
                    <a:pt x="835798" y="0"/>
                  </a:lnTo>
                  <a:cubicBezTo>
                    <a:pt x="859620" y="0"/>
                    <a:pt x="882465" y="9463"/>
                    <a:pt x="899310" y="26307"/>
                  </a:cubicBezTo>
                  <a:cubicBezTo>
                    <a:pt x="916154" y="43151"/>
                    <a:pt x="925617" y="65997"/>
                    <a:pt x="925617" y="89819"/>
                  </a:cubicBezTo>
                  <a:lnTo>
                    <a:pt x="925617" y="119505"/>
                  </a:lnTo>
                  <a:cubicBezTo>
                    <a:pt x="925617" y="143326"/>
                    <a:pt x="916154" y="166172"/>
                    <a:pt x="899310" y="183016"/>
                  </a:cubicBezTo>
                  <a:cubicBezTo>
                    <a:pt x="882465" y="199860"/>
                    <a:pt x="859620" y="209323"/>
                    <a:pt x="835798" y="209323"/>
                  </a:cubicBezTo>
                  <a:lnTo>
                    <a:pt x="89819" y="209323"/>
                  </a:lnTo>
                  <a:cubicBezTo>
                    <a:pt x="65997" y="209323"/>
                    <a:pt x="43151" y="199860"/>
                    <a:pt x="26307" y="183016"/>
                  </a:cubicBezTo>
                  <a:cubicBezTo>
                    <a:pt x="9463" y="166172"/>
                    <a:pt x="0" y="143326"/>
                    <a:pt x="0" y="119505"/>
                  </a:cubicBezTo>
                  <a:lnTo>
                    <a:pt x="0" y="89819"/>
                  </a:lnTo>
                  <a:cubicBezTo>
                    <a:pt x="0" y="65997"/>
                    <a:pt x="9463" y="43151"/>
                    <a:pt x="26307" y="26307"/>
                  </a:cubicBezTo>
                  <a:cubicBezTo>
                    <a:pt x="43151" y="9463"/>
                    <a:pt x="65997" y="0"/>
                    <a:pt x="89819" y="0"/>
                  </a:cubicBezTo>
                  <a:close/>
                </a:path>
              </a:pathLst>
            </a:custGeom>
            <a:solidFill>
              <a:srgbClr val="F4F4F4"/>
            </a:solidFill>
            <a:ln w="19050" cap="rnd">
              <a:solidFill>
                <a:srgbClr val="000000"/>
              </a:solidFill>
              <a:prstDash val="solid"/>
              <a:round/>
            </a:ln>
          </p:spPr>
        </p:sp>
        <p:sp>
          <p:nvSpPr>
            <p:cNvPr name="TextBox 10" id="10"/>
            <p:cNvSpPr txBox="true"/>
            <p:nvPr/>
          </p:nvSpPr>
          <p:spPr>
            <a:xfrm>
              <a:off x="0" y="-38100"/>
              <a:ext cx="925617" cy="247423"/>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385627" y="4081528"/>
            <a:ext cx="4459659" cy="1008528"/>
            <a:chOff x="0" y="0"/>
            <a:chExt cx="925617" cy="209323"/>
          </a:xfrm>
        </p:grpSpPr>
        <p:sp>
          <p:nvSpPr>
            <p:cNvPr name="Freeform 12" id="12"/>
            <p:cNvSpPr/>
            <p:nvPr/>
          </p:nvSpPr>
          <p:spPr>
            <a:xfrm flipH="false" flipV="false" rot="0">
              <a:off x="0" y="0"/>
              <a:ext cx="925617" cy="209323"/>
            </a:xfrm>
            <a:custGeom>
              <a:avLst/>
              <a:gdLst/>
              <a:ahLst/>
              <a:cxnLst/>
              <a:rect r="r" b="b" t="t" l="l"/>
              <a:pathLst>
                <a:path h="209323" w="925617">
                  <a:moveTo>
                    <a:pt x="88535" y="0"/>
                  </a:moveTo>
                  <a:lnTo>
                    <a:pt x="837081" y="0"/>
                  </a:lnTo>
                  <a:cubicBezTo>
                    <a:pt x="860562" y="0"/>
                    <a:pt x="883082" y="9328"/>
                    <a:pt x="899685" y="25931"/>
                  </a:cubicBezTo>
                  <a:cubicBezTo>
                    <a:pt x="916289" y="42535"/>
                    <a:pt x="925617" y="65054"/>
                    <a:pt x="925617" y="88535"/>
                  </a:cubicBezTo>
                  <a:lnTo>
                    <a:pt x="925617" y="120788"/>
                  </a:lnTo>
                  <a:cubicBezTo>
                    <a:pt x="925617" y="144269"/>
                    <a:pt x="916289" y="166788"/>
                    <a:pt x="899685" y="183392"/>
                  </a:cubicBezTo>
                  <a:cubicBezTo>
                    <a:pt x="883082" y="199995"/>
                    <a:pt x="860562" y="209323"/>
                    <a:pt x="837081" y="209323"/>
                  </a:cubicBezTo>
                  <a:lnTo>
                    <a:pt x="88535" y="209323"/>
                  </a:lnTo>
                  <a:cubicBezTo>
                    <a:pt x="65054" y="209323"/>
                    <a:pt x="42535" y="199995"/>
                    <a:pt x="25931" y="183392"/>
                  </a:cubicBezTo>
                  <a:cubicBezTo>
                    <a:pt x="9328" y="166788"/>
                    <a:pt x="0" y="144269"/>
                    <a:pt x="0" y="120788"/>
                  </a:cubicBezTo>
                  <a:lnTo>
                    <a:pt x="0" y="88535"/>
                  </a:lnTo>
                  <a:cubicBezTo>
                    <a:pt x="0" y="65054"/>
                    <a:pt x="9328" y="42535"/>
                    <a:pt x="25931" y="25931"/>
                  </a:cubicBezTo>
                  <a:cubicBezTo>
                    <a:pt x="42535" y="9328"/>
                    <a:pt x="65054" y="0"/>
                    <a:pt x="88535" y="0"/>
                  </a:cubicBezTo>
                  <a:close/>
                </a:path>
              </a:pathLst>
            </a:custGeom>
            <a:solidFill>
              <a:srgbClr val="F4F4F4"/>
            </a:solidFill>
            <a:ln w="19050" cap="rnd">
              <a:solidFill>
                <a:srgbClr val="000000"/>
              </a:solidFill>
              <a:prstDash val="solid"/>
              <a:round/>
            </a:ln>
          </p:spPr>
        </p:sp>
        <p:sp>
          <p:nvSpPr>
            <p:cNvPr name="TextBox 13" id="13"/>
            <p:cNvSpPr txBox="true"/>
            <p:nvPr/>
          </p:nvSpPr>
          <p:spPr>
            <a:xfrm>
              <a:off x="0" y="-38100"/>
              <a:ext cx="925617" cy="247423"/>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5060611" y="2817864"/>
            <a:ext cx="4154348" cy="1425198"/>
            <a:chOff x="0" y="0"/>
            <a:chExt cx="955429" cy="327771"/>
          </a:xfrm>
        </p:grpSpPr>
        <p:sp>
          <p:nvSpPr>
            <p:cNvPr name="Freeform 15" id="15"/>
            <p:cNvSpPr/>
            <p:nvPr/>
          </p:nvSpPr>
          <p:spPr>
            <a:xfrm flipH="false" flipV="false" rot="0">
              <a:off x="0" y="0"/>
              <a:ext cx="955429" cy="327771"/>
            </a:xfrm>
            <a:custGeom>
              <a:avLst/>
              <a:gdLst/>
              <a:ahLst/>
              <a:cxnLst/>
              <a:rect r="r" b="b" t="t" l="l"/>
              <a:pathLst>
                <a:path h="327771" w="955429">
                  <a:moveTo>
                    <a:pt x="95042" y="0"/>
                  </a:moveTo>
                  <a:lnTo>
                    <a:pt x="860387" y="0"/>
                  </a:lnTo>
                  <a:cubicBezTo>
                    <a:pt x="885594" y="0"/>
                    <a:pt x="909768" y="10013"/>
                    <a:pt x="927592" y="27837"/>
                  </a:cubicBezTo>
                  <a:cubicBezTo>
                    <a:pt x="945416" y="45661"/>
                    <a:pt x="955429" y="69835"/>
                    <a:pt x="955429" y="95042"/>
                  </a:cubicBezTo>
                  <a:lnTo>
                    <a:pt x="955429" y="232729"/>
                  </a:lnTo>
                  <a:cubicBezTo>
                    <a:pt x="955429" y="257936"/>
                    <a:pt x="945416" y="282110"/>
                    <a:pt x="927592" y="299934"/>
                  </a:cubicBezTo>
                  <a:cubicBezTo>
                    <a:pt x="909768" y="317758"/>
                    <a:pt x="885594" y="327771"/>
                    <a:pt x="860387" y="327771"/>
                  </a:cubicBezTo>
                  <a:lnTo>
                    <a:pt x="95042" y="327771"/>
                  </a:lnTo>
                  <a:cubicBezTo>
                    <a:pt x="69835" y="327771"/>
                    <a:pt x="45661" y="317758"/>
                    <a:pt x="27837" y="299934"/>
                  </a:cubicBezTo>
                  <a:cubicBezTo>
                    <a:pt x="10013" y="282110"/>
                    <a:pt x="0" y="257936"/>
                    <a:pt x="0" y="232729"/>
                  </a:cubicBezTo>
                  <a:lnTo>
                    <a:pt x="0" y="95042"/>
                  </a:lnTo>
                  <a:cubicBezTo>
                    <a:pt x="0" y="69835"/>
                    <a:pt x="10013" y="45661"/>
                    <a:pt x="27837" y="27837"/>
                  </a:cubicBezTo>
                  <a:cubicBezTo>
                    <a:pt x="45661" y="10013"/>
                    <a:pt x="69835" y="0"/>
                    <a:pt x="95042" y="0"/>
                  </a:cubicBezTo>
                  <a:close/>
                </a:path>
              </a:pathLst>
            </a:custGeom>
            <a:solidFill>
              <a:srgbClr val="F4F4F4"/>
            </a:solidFill>
            <a:ln w="19050" cap="rnd">
              <a:solidFill>
                <a:srgbClr val="000000"/>
              </a:solidFill>
              <a:prstDash val="solid"/>
              <a:round/>
            </a:ln>
          </p:spPr>
        </p:sp>
        <p:sp>
          <p:nvSpPr>
            <p:cNvPr name="TextBox 16" id="16"/>
            <p:cNvSpPr txBox="true"/>
            <p:nvPr/>
          </p:nvSpPr>
          <p:spPr>
            <a:xfrm>
              <a:off x="0" y="-38100"/>
              <a:ext cx="955429" cy="365871"/>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5126849" y="4624062"/>
            <a:ext cx="3955975" cy="894622"/>
            <a:chOff x="0" y="0"/>
            <a:chExt cx="925617" cy="209323"/>
          </a:xfrm>
        </p:grpSpPr>
        <p:sp>
          <p:nvSpPr>
            <p:cNvPr name="Freeform 18" id="18"/>
            <p:cNvSpPr/>
            <p:nvPr/>
          </p:nvSpPr>
          <p:spPr>
            <a:xfrm flipH="false" flipV="false" rot="0">
              <a:off x="0" y="0"/>
              <a:ext cx="925617" cy="209323"/>
            </a:xfrm>
            <a:custGeom>
              <a:avLst/>
              <a:gdLst/>
              <a:ahLst/>
              <a:cxnLst/>
              <a:rect r="r" b="b" t="t" l="l"/>
              <a:pathLst>
                <a:path h="209323" w="925617">
                  <a:moveTo>
                    <a:pt x="99808" y="0"/>
                  </a:moveTo>
                  <a:lnTo>
                    <a:pt x="825809" y="0"/>
                  </a:lnTo>
                  <a:cubicBezTo>
                    <a:pt x="852279" y="0"/>
                    <a:pt x="877666" y="10515"/>
                    <a:pt x="896384" y="29233"/>
                  </a:cubicBezTo>
                  <a:cubicBezTo>
                    <a:pt x="915101" y="47951"/>
                    <a:pt x="925617" y="73337"/>
                    <a:pt x="925617" y="99808"/>
                  </a:cubicBezTo>
                  <a:lnTo>
                    <a:pt x="925617" y="109515"/>
                  </a:lnTo>
                  <a:cubicBezTo>
                    <a:pt x="925617" y="164638"/>
                    <a:pt x="880931" y="209323"/>
                    <a:pt x="825809" y="209323"/>
                  </a:cubicBezTo>
                  <a:lnTo>
                    <a:pt x="99808" y="209323"/>
                  </a:lnTo>
                  <a:cubicBezTo>
                    <a:pt x="44686" y="209323"/>
                    <a:pt x="0" y="164638"/>
                    <a:pt x="0" y="109515"/>
                  </a:cubicBezTo>
                  <a:lnTo>
                    <a:pt x="0" y="99808"/>
                  </a:lnTo>
                  <a:cubicBezTo>
                    <a:pt x="0" y="44686"/>
                    <a:pt x="44686" y="0"/>
                    <a:pt x="99808" y="0"/>
                  </a:cubicBezTo>
                  <a:close/>
                </a:path>
              </a:pathLst>
            </a:custGeom>
            <a:solidFill>
              <a:srgbClr val="F4F4F4"/>
            </a:solidFill>
            <a:ln w="19050" cap="rnd">
              <a:solidFill>
                <a:srgbClr val="000000"/>
              </a:solidFill>
              <a:prstDash val="solid"/>
              <a:round/>
            </a:ln>
          </p:spPr>
        </p:sp>
        <p:sp>
          <p:nvSpPr>
            <p:cNvPr name="TextBox 19" id="19"/>
            <p:cNvSpPr txBox="true"/>
            <p:nvPr/>
          </p:nvSpPr>
          <p:spPr>
            <a:xfrm>
              <a:off x="0" y="-38100"/>
              <a:ext cx="925617" cy="247423"/>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549936" y="5642211"/>
            <a:ext cx="4295351" cy="971370"/>
            <a:chOff x="0" y="0"/>
            <a:chExt cx="925617" cy="209323"/>
          </a:xfrm>
        </p:grpSpPr>
        <p:sp>
          <p:nvSpPr>
            <p:cNvPr name="Freeform 21" id="21"/>
            <p:cNvSpPr/>
            <p:nvPr/>
          </p:nvSpPr>
          <p:spPr>
            <a:xfrm flipH="false" flipV="false" rot="0">
              <a:off x="0" y="0"/>
              <a:ext cx="925617" cy="209323"/>
            </a:xfrm>
            <a:custGeom>
              <a:avLst/>
              <a:gdLst/>
              <a:ahLst/>
              <a:cxnLst/>
              <a:rect r="r" b="b" t="t" l="l"/>
              <a:pathLst>
                <a:path h="209323" w="925617">
                  <a:moveTo>
                    <a:pt x="91922" y="0"/>
                  </a:moveTo>
                  <a:lnTo>
                    <a:pt x="833695" y="0"/>
                  </a:lnTo>
                  <a:cubicBezTo>
                    <a:pt x="858074" y="0"/>
                    <a:pt x="881455" y="9685"/>
                    <a:pt x="898693" y="26923"/>
                  </a:cubicBezTo>
                  <a:cubicBezTo>
                    <a:pt x="915932" y="44162"/>
                    <a:pt x="925617" y="67543"/>
                    <a:pt x="925617" y="91922"/>
                  </a:cubicBezTo>
                  <a:lnTo>
                    <a:pt x="925617" y="117401"/>
                  </a:lnTo>
                  <a:cubicBezTo>
                    <a:pt x="925617" y="168168"/>
                    <a:pt x="884462" y="209323"/>
                    <a:pt x="833695" y="209323"/>
                  </a:cubicBezTo>
                  <a:lnTo>
                    <a:pt x="91922" y="209323"/>
                  </a:lnTo>
                  <a:cubicBezTo>
                    <a:pt x="41155" y="209323"/>
                    <a:pt x="0" y="168168"/>
                    <a:pt x="0" y="117401"/>
                  </a:cubicBezTo>
                  <a:lnTo>
                    <a:pt x="0" y="91922"/>
                  </a:lnTo>
                  <a:cubicBezTo>
                    <a:pt x="0" y="41155"/>
                    <a:pt x="41155" y="0"/>
                    <a:pt x="91922" y="0"/>
                  </a:cubicBezTo>
                  <a:close/>
                </a:path>
              </a:pathLst>
            </a:custGeom>
            <a:solidFill>
              <a:srgbClr val="F4F4F4"/>
            </a:solidFill>
            <a:ln w="19050" cap="rnd">
              <a:solidFill>
                <a:srgbClr val="000000"/>
              </a:solidFill>
              <a:prstDash val="solid"/>
              <a:round/>
            </a:ln>
          </p:spPr>
        </p:sp>
        <p:sp>
          <p:nvSpPr>
            <p:cNvPr name="TextBox 22" id="22"/>
            <p:cNvSpPr txBox="true"/>
            <p:nvPr/>
          </p:nvSpPr>
          <p:spPr>
            <a:xfrm>
              <a:off x="0" y="-38100"/>
              <a:ext cx="925617" cy="247423"/>
            </a:xfrm>
            <a:prstGeom prst="rect">
              <a:avLst/>
            </a:prstGeom>
          </p:spPr>
          <p:txBody>
            <a:bodyPr anchor="ctr" rtlCol="false" tIns="50800" lIns="50800" bIns="50800" rIns="50800"/>
            <a:lstStyle/>
            <a:p>
              <a:pPr algn="ctr">
                <a:lnSpc>
                  <a:spcPts val="2659"/>
                </a:lnSpc>
              </a:pPr>
            </a:p>
          </p:txBody>
        </p:sp>
      </p:grpSp>
      <p:sp>
        <p:nvSpPr>
          <p:cNvPr name="Freeform 23" id="23"/>
          <p:cNvSpPr/>
          <p:nvPr/>
        </p:nvSpPr>
        <p:spPr>
          <a:xfrm flipH="false" flipV="false" rot="0">
            <a:off x="17570954" y="162643"/>
            <a:ext cx="358491" cy="361508"/>
          </a:xfrm>
          <a:custGeom>
            <a:avLst/>
            <a:gdLst/>
            <a:ahLst/>
            <a:cxnLst/>
            <a:rect r="r" b="b" t="t" l="l"/>
            <a:pathLst>
              <a:path h="361508" w="358491">
                <a:moveTo>
                  <a:pt x="0" y="0"/>
                </a:moveTo>
                <a:lnTo>
                  <a:pt x="358491" y="0"/>
                </a:lnTo>
                <a:lnTo>
                  <a:pt x="358491" y="361507"/>
                </a:lnTo>
                <a:lnTo>
                  <a:pt x="0" y="36150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4" id="24"/>
          <p:cNvGrpSpPr/>
          <p:nvPr/>
        </p:nvGrpSpPr>
        <p:grpSpPr>
          <a:xfrm rot="0">
            <a:off x="5131811" y="6185434"/>
            <a:ext cx="3946051" cy="1247888"/>
            <a:chOff x="0" y="0"/>
            <a:chExt cx="923295" cy="291980"/>
          </a:xfrm>
        </p:grpSpPr>
        <p:sp>
          <p:nvSpPr>
            <p:cNvPr name="Freeform 25" id="25"/>
            <p:cNvSpPr/>
            <p:nvPr/>
          </p:nvSpPr>
          <p:spPr>
            <a:xfrm flipH="false" flipV="false" rot="0">
              <a:off x="0" y="0"/>
              <a:ext cx="923295" cy="291980"/>
            </a:xfrm>
            <a:custGeom>
              <a:avLst/>
              <a:gdLst/>
              <a:ahLst/>
              <a:cxnLst/>
              <a:rect r="r" b="b" t="t" l="l"/>
              <a:pathLst>
                <a:path h="291980" w="923295">
                  <a:moveTo>
                    <a:pt x="100059" y="0"/>
                  </a:moveTo>
                  <a:lnTo>
                    <a:pt x="823236" y="0"/>
                  </a:lnTo>
                  <a:cubicBezTo>
                    <a:pt x="849773" y="0"/>
                    <a:pt x="875223" y="10542"/>
                    <a:pt x="893988" y="29307"/>
                  </a:cubicBezTo>
                  <a:cubicBezTo>
                    <a:pt x="912753" y="48071"/>
                    <a:pt x="923295" y="73522"/>
                    <a:pt x="923295" y="100059"/>
                  </a:cubicBezTo>
                  <a:lnTo>
                    <a:pt x="923295" y="191921"/>
                  </a:lnTo>
                  <a:cubicBezTo>
                    <a:pt x="923295" y="247182"/>
                    <a:pt x="878497" y="291980"/>
                    <a:pt x="823236" y="291980"/>
                  </a:cubicBezTo>
                  <a:lnTo>
                    <a:pt x="100059" y="291980"/>
                  </a:lnTo>
                  <a:cubicBezTo>
                    <a:pt x="73522" y="291980"/>
                    <a:pt x="48071" y="281438"/>
                    <a:pt x="29307" y="262674"/>
                  </a:cubicBezTo>
                  <a:cubicBezTo>
                    <a:pt x="10542" y="243909"/>
                    <a:pt x="0" y="218458"/>
                    <a:pt x="0" y="191921"/>
                  </a:cubicBezTo>
                  <a:lnTo>
                    <a:pt x="0" y="100059"/>
                  </a:lnTo>
                  <a:cubicBezTo>
                    <a:pt x="0" y="73522"/>
                    <a:pt x="10542" y="48071"/>
                    <a:pt x="29307" y="29307"/>
                  </a:cubicBezTo>
                  <a:cubicBezTo>
                    <a:pt x="48071" y="10542"/>
                    <a:pt x="73522" y="0"/>
                    <a:pt x="100059" y="0"/>
                  </a:cubicBezTo>
                  <a:close/>
                </a:path>
              </a:pathLst>
            </a:custGeom>
            <a:solidFill>
              <a:srgbClr val="F4F4F4"/>
            </a:solidFill>
            <a:ln w="19050" cap="rnd">
              <a:solidFill>
                <a:srgbClr val="000000"/>
              </a:solidFill>
              <a:prstDash val="solid"/>
              <a:round/>
            </a:ln>
          </p:spPr>
        </p:sp>
        <p:sp>
          <p:nvSpPr>
            <p:cNvPr name="TextBox 26" id="26"/>
            <p:cNvSpPr txBox="true"/>
            <p:nvPr/>
          </p:nvSpPr>
          <p:spPr>
            <a:xfrm>
              <a:off x="0" y="-38100"/>
              <a:ext cx="923295" cy="33008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549936" y="7192817"/>
            <a:ext cx="4295351" cy="971370"/>
            <a:chOff x="0" y="0"/>
            <a:chExt cx="925617" cy="209323"/>
          </a:xfrm>
        </p:grpSpPr>
        <p:sp>
          <p:nvSpPr>
            <p:cNvPr name="Freeform 28" id="28"/>
            <p:cNvSpPr/>
            <p:nvPr/>
          </p:nvSpPr>
          <p:spPr>
            <a:xfrm flipH="false" flipV="false" rot="0">
              <a:off x="0" y="0"/>
              <a:ext cx="925617" cy="209323"/>
            </a:xfrm>
            <a:custGeom>
              <a:avLst/>
              <a:gdLst/>
              <a:ahLst/>
              <a:cxnLst/>
              <a:rect r="r" b="b" t="t" l="l"/>
              <a:pathLst>
                <a:path h="209323" w="925617">
                  <a:moveTo>
                    <a:pt x="91922" y="0"/>
                  </a:moveTo>
                  <a:lnTo>
                    <a:pt x="833695" y="0"/>
                  </a:lnTo>
                  <a:cubicBezTo>
                    <a:pt x="858074" y="0"/>
                    <a:pt x="881455" y="9685"/>
                    <a:pt x="898693" y="26923"/>
                  </a:cubicBezTo>
                  <a:cubicBezTo>
                    <a:pt x="915932" y="44162"/>
                    <a:pt x="925617" y="67543"/>
                    <a:pt x="925617" y="91922"/>
                  </a:cubicBezTo>
                  <a:lnTo>
                    <a:pt x="925617" y="117401"/>
                  </a:lnTo>
                  <a:cubicBezTo>
                    <a:pt x="925617" y="168168"/>
                    <a:pt x="884462" y="209323"/>
                    <a:pt x="833695" y="209323"/>
                  </a:cubicBezTo>
                  <a:lnTo>
                    <a:pt x="91922" y="209323"/>
                  </a:lnTo>
                  <a:cubicBezTo>
                    <a:pt x="41155" y="209323"/>
                    <a:pt x="0" y="168168"/>
                    <a:pt x="0" y="117401"/>
                  </a:cubicBezTo>
                  <a:lnTo>
                    <a:pt x="0" y="91922"/>
                  </a:lnTo>
                  <a:cubicBezTo>
                    <a:pt x="0" y="41155"/>
                    <a:pt x="41155" y="0"/>
                    <a:pt x="91922" y="0"/>
                  </a:cubicBezTo>
                  <a:close/>
                </a:path>
              </a:pathLst>
            </a:custGeom>
            <a:solidFill>
              <a:srgbClr val="F4F4F4"/>
            </a:solidFill>
            <a:ln w="19050" cap="rnd">
              <a:solidFill>
                <a:srgbClr val="000000"/>
              </a:solidFill>
              <a:prstDash val="solid"/>
              <a:round/>
            </a:ln>
          </p:spPr>
        </p:sp>
        <p:sp>
          <p:nvSpPr>
            <p:cNvPr name="TextBox 29" id="29"/>
            <p:cNvSpPr txBox="true"/>
            <p:nvPr/>
          </p:nvSpPr>
          <p:spPr>
            <a:xfrm>
              <a:off x="0" y="-38100"/>
              <a:ext cx="925617" cy="247423"/>
            </a:xfrm>
            <a:prstGeom prst="rect">
              <a:avLst/>
            </a:prstGeom>
          </p:spPr>
          <p:txBody>
            <a:bodyPr anchor="ctr" rtlCol="false" tIns="50800" lIns="50800" bIns="50800" rIns="50800"/>
            <a:lstStyle/>
            <a:p>
              <a:pPr algn="ctr">
                <a:lnSpc>
                  <a:spcPts val="2659"/>
                </a:lnSpc>
              </a:pPr>
            </a:p>
          </p:txBody>
        </p:sp>
      </p:grpSp>
      <p:sp>
        <p:nvSpPr>
          <p:cNvPr name="Freeform 30" id="30"/>
          <p:cNvSpPr/>
          <p:nvPr/>
        </p:nvSpPr>
        <p:spPr>
          <a:xfrm flipH="false" flipV="false" rot="0">
            <a:off x="10204209" y="1396377"/>
            <a:ext cx="7557575" cy="6263340"/>
          </a:xfrm>
          <a:custGeom>
            <a:avLst/>
            <a:gdLst/>
            <a:ahLst/>
            <a:cxnLst/>
            <a:rect r="r" b="b" t="t" l="l"/>
            <a:pathLst>
              <a:path h="6263340" w="7557575">
                <a:moveTo>
                  <a:pt x="0" y="0"/>
                </a:moveTo>
                <a:lnTo>
                  <a:pt x="7557575" y="0"/>
                </a:lnTo>
                <a:lnTo>
                  <a:pt x="7557575" y="6263340"/>
                </a:lnTo>
                <a:lnTo>
                  <a:pt x="0" y="6263340"/>
                </a:lnTo>
                <a:lnTo>
                  <a:pt x="0" y="0"/>
                </a:lnTo>
                <a:close/>
              </a:path>
            </a:pathLst>
          </a:custGeom>
          <a:blipFill>
            <a:blip r:embed="rId13"/>
            <a:stretch>
              <a:fillRect l="0" t="0" r="0" b="0"/>
            </a:stretch>
          </a:blipFill>
        </p:spPr>
      </p:sp>
      <p:sp>
        <p:nvSpPr>
          <p:cNvPr name="TextBox 31" id="31"/>
          <p:cNvSpPr txBox="true"/>
          <p:nvPr/>
        </p:nvSpPr>
        <p:spPr>
          <a:xfrm rot="0">
            <a:off x="1972916" y="743446"/>
            <a:ext cx="6562250" cy="1114424"/>
          </a:xfrm>
          <a:prstGeom prst="rect">
            <a:avLst/>
          </a:prstGeom>
        </p:spPr>
        <p:txBody>
          <a:bodyPr anchor="t" rtlCol="false" tIns="0" lIns="0" bIns="0" rIns="0">
            <a:spAutoFit/>
          </a:bodyPr>
          <a:lstStyle/>
          <a:p>
            <a:pPr algn="l">
              <a:lnSpc>
                <a:spcPts val="7799"/>
              </a:lnSpc>
            </a:pPr>
            <a:r>
              <a:rPr lang="en-US" sz="9999" spc="-879">
                <a:solidFill>
                  <a:srgbClr val="0390A7"/>
                </a:solidFill>
                <a:latin typeface="Happy Font TH"/>
                <a:ea typeface="Happy Font TH"/>
                <a:cs typeface="Happy Font TH"/>
                <a:sym typeface="Happy Font TH"/>
              </a:rPr>
              <a:t>ER DIAGRAM</a:t>
            </a:r>
          </a:p>
        </p:txBody>
      </p:sp>
      <p:sp>
        <p:nvSpPr>
          <p:cNvPr name="TextBox 32" id="32"/>
          <p:cNvSpPr txBox="true"/>
          <p:nvPr/>
        </p:nvSpPr>
        <p:spPr>
          <a:xfrm rot="0">
            <a:off x="714245" y="2706605"/>
            <a:ext cx="3627358" cy="678620"/>
          </a:xfrm>
          <a:prstGeom prst="rect">
            <a:avLst/>
          </a:prstGeom>
        </p:spPr>
        <p:txBody>
          <a:bodyPr anchor="t" rtlCol="false" tIns="0" lIns="0" bIns="0" rIns="0">
            <a:spAutoFit/>
          </a:bodyPr>
          <a:lstStyle/>
          <a:p>
            <a:pPr algn="ctr">
              <a:lnSpc>
                <a:spcPts val="2640"/>
              </a:lnSpc>
            </a:pPr>
            <a:r>
              <a:rPr lang="en-US" sz="2400" spc="-120">
                <a:solidFill>
                  <a:srgbClr val="010101"/>
                </a:solidFill>
                <a:latin typeface="Happy Font TH"/>
                <a:ea typeface="Happy Font TH"/>
                <a:cs typeface="Happy Font TH"/>
                <a:sym typeface="Happy Font TH"/>
              </a:rPr>
              <a:t>The diagram models an HR management system. </a:t>
            </a:r>
          </a:p>
        </p:txBody>
      </p:sp>
      <p:sp>
        <p:nvSpPr>
          <p:cNvPr name="TextBox 33" id="33"/>
          <p:cNvSpPr txBox="true"/>
          <p:nvPr/>
        </p:nvSpPr>
        <p:spPr>
          <a:xfrm rot="0">
            <a:off x="661677" y="4220036"/>
            <a:ext cx="3679926" cy="688749"/>
          </a:xfrm>
          <a:prstGeom prst="rect">
            <a:avLst/>
          </a:prstGeom>
        </p:spPr>
        <p:txBody>
          <a:bodyPr anchor="t" rtlCol="false" tIns="0" lIns="0" bIns="0" rIns="0">
            <a:spAutoFit/>
          </a:bodyPr>
          <a:lstStyle/>
          <a:p>
            <a:pPr algn="ctr">
              <a:lnSpc>
                <a:spcPts val="2680"/>
              </a:lnSpc>
            </a:pPr>
            <a:r>
              <a:rPr lang="en-US" sz="2436" spc="-121">
                <a:solidFill>
                  <a:srgbClr val="010101"/>
                </a:solidFill>
                <a:latin typeface="Happy Font TH"/>
                <a:ea typeface="Happy Font TH"/>
                <a:cs typeface="Happy Font TH"/>
                <a:sym typeface="Happy Font TH"/>
              </a:rPr>
              <a:t> jobdepartment defines roles and departments.</a:t>
            </a:r>
          </a:p>
        </p:txBody>
      </p:sp>
      <p:sp>
        <p:nvSpPr>
          <p:cNvPr name="TextBox 34" id="34"/>
          <p:cNvSpPr txBox="true"/>
          <p:nvPr/>
        </p:nvSpPr>
        <p:spPr>
          <a:xfrm rot="0">
            <a:off x="5542083" y="3034330"/>
            <a:ext cx="3321032" cy="925125"/>
          </a:xfrm>
          <a:prstGeom prst="rect">
            <a:avLst/>
          </a:prstGeom>
        </p:spPr>
        <p:txBody>
          <a:bodyPr anchor="t" rtlCol="false" tIns="0" lIns="0" bIns="0" rIns="0">
            <a:spAutoFit/>
          </a:bodyPr>
          <a:lstStyle/>
          <a:p>
            <a:pPr algn="ctr">
              <a:lnSpc>
                <a:spcPts val="2417"/>
              </a:lnSpc>
            </a:pPr>
            <a:r>
              <a:rPr lang="en-US" sz="2197" spc="-109">
                <a:solidFill>
                  <a:srgbClr val="010101"/>
                </a:solidFill>
                <a:latin typeface="Happy Font TH"/>
                <a:ea typeface="Happy Font TH"/>
                <a:cs typeface="Happy Font TH"/>
                <a:sym typeface="Happy Font TH"/>
              </a:rPr>
              <a:t>employee stores staff details, linking to jobdepartment, qualification, and leaves.</a:t>
            </a:r>
          </a:p>
        </p:txBody>
      </p:sp>
      <p:sp>
        <p:nvSpPr>
          <p:cNvPr name="TextBox 35" id="35"/>
          <p:cNvSpPr txBox="true"/>
          <p:nvPr/>
        </p:nvSpPr>
        <p:spPr>
          <a:xfrm rot="0">
            <a:off x="5472683" y="4887830"/>
            <a:ext cx="3264307" cy="599267"/>
          </a:xfrm>
          <a:prstGeom prst="rect">
            <a:avLst/>
          </a:prstGeom>
        </p:spPr>
        <p:txBody>
          <a:bodyPr anchor="t" rtlCol="false" tIns="0" lIns="0" bIns="0" rIns="0">
            <a:spAutoFit/>
          </a:bodyPr>
          <a:lstStyle/>
          <a:p>
            <a:pPr algn="ctr">
              <a:lnSpc>
                <a:spcPts val="2375"/>
              </a:lnSpc>
            </a:pPr>
            <a:r>
              <a:rPr lang="en-US" sz="2159" spc="-107">
                <a:solidFill>
                  <a:srgbClr val="010101"/>
                </a:solidFill>
                <a:latin typeface="Happy Font TH"/>
                <a:ea typeface="Happy Font TH"/>
                <a:cs typeface="Happy Font TH"/>
                <a:sym typeface="Happy Font TH"/>
              </a:rPr>
              <a:t>qualification lists employee qualifications.</a:t>
            </a:r>
          </a:p>
        </p:txBody>
      </p:sp>
      <p:sp>
        <p:nvSpPr>
          <p:cNvPr name="TextBox 36" id="36"/>
          <p:cNvSpPr txBox="true"/>
          <p:nvPr/>
        </p:nvSpPr>
        <p:spPr>
          <a:xfrm rot="0">
            <a:off x="925439" y="5804431"/>
            <a:ext cx="3544345" cy="653129"/>
          </a:xfrm>
          <a:prstGeom prst="rect">
            <a:avLst/>
          </a:prstGeom>
        </p:spPr>
        <p:txBody>
          <a:bodyPr anchor="t" rtlCol="false" tIns="0" lIns="0" bIns="0" rIns="0">
            <a:spAutoFit/>
          </a:bodyPr>
          <a:lstStyle/>
          <a:p>
            <a:pPr algn="ctr">
              <a:lnSpc>
                <a:spcPts val="2579"/>
              </a:lnSpc>
            </a:pPr>
            <a:r>
              <a:rPr lang="en-US" sz="2345" spc="-117">
                <a:solidFill>
                  <a:srgbClr val="010101"/>
                </a:solidFill>
                <a:latin typeface="Happy Font TH"/>
                <a:ea typeface="Happy Font TH"/>
                <a:cs typeface="Happy Font TH"/>
                <a:sym typeface="Happy Font TH"/>
              </a:rPr>
              <a:t>leaves records employee leave details. </a:t>
            </a:r>
          </a:p>
        </p:txBody>
      </p:sp>
      <p:sp>
        <p:nvSpPr>
          <p:cNvPr name="TextBox 37" id="37"/>
          <p:cNvSpPr txBox="true"/>
          <p:nvPr/>
        </p:nvSpPr>
        <p:spPr>
          <a:xfrm rot="0">
            <a:off x="5477645" y="6357370"/>
            <a:ext cx="3264307" cy="899473"/>
          </a:xfrm>
          <a:prstGeom prst="rect">
            <a:avLst/>
          </a:prstGeom>
        </p:spPr>
        <p:txBody>
          <a:bodyPr anchor="t" rtlCol="false" tIns="0" lIns="0" bIns="0" rIns="0">
            <a:spAutoFit/>
          </a:bodyPr>
          <a:lstStyle/>
          <a:p>
            <a:pPr algn="ctr">
              <a:lnSpc>
                <a:spcPts val="2375"/>
              </a:lnSpc>
            </a:pPr>
            <a:r>
              <a:rPr lang="en-US" sz="2159" spc="-107">
                <a:solidFill>
                  <a:srgbClr val="010101"/>
                </a:solidFill>
                <a:latin typeface="Happy Font TH"/>
                <a:ea typeface="Happy Font TH"/>
                <a:cs typeface="Happy Font TH"/>
                <a:sym typeface="Happy Font TH"/>
              </a:rPr>
              <a:t>payroll calculates pay, combining job, salary, and leave data.</a:t>
            </a:r>
          </a:p>
        </p:txBody>
      </p:sp>
      <p:sp>
        <p:nvSpPr>
          <p:cNvPr name="TextBox 38" id="38"/>
          <p:cNvSpPr txBox="true"/>
          <p:nvPr/>
        </p:nvSpPr>
        <p:spPr>
          <a:xfrm rot="0">
            <a:off x="1020482" y="7347440"/>
            <a:ext cx="3544345" cy="653129"/>
          </a:xfrm>
          <a:prstGeom prst="rect">
            <a:avLst/>
          </a:prstGeom>
        </p:spPr>
        <p:txBody>
          <a:bodyPr anchor="t" rtlCol="false" tIns="0" lIns="0" bIns="0" rIns="0">
            <a:spAutoFit/>
          </a:bodyPr>
          <a:lstStyle/>
          <a:p>
            <a:pPr algn="ctr">
              <a:lnSpc>
                <a:spcPts val="2579"/>
              </a:lnSpc>
            </a:pPr>
            <a:r>
              <a:rPr lang="en-US" sz="2345" spc="-117">
                <a:solidFill>
                  <a:srgbClr val="010101"/>
                </a:solidFill>
                <a:latin typeface="Happy Font TH"/>
                <a:ea typeface="Happy Font TH"/>
                <a:cs typeface="Happy Font TH"/>
                <a:sym typeface="Happy Font TH"/>
              </a:rPr>
              <a:t>salarybonus specifies pay and bonuses for each job.</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8E6E6"/>
        </a:solidFill>
      </p:bgPr>
    </p:bg>
    <p:spTree>
      <p:nvGrpSpPr>
        <p:cNvPr id="1" name=""/>
        <p:cNvGrpSpPr/>
        <p:nvPr/>
      </p:nvGrpSpPr>
      <p:grpSpPr>
        <a:xfrm>
          <a:off x="0" y="0"/>
          <a:ext cx="0" cy="0"/>
          <a:chOff x="0" y="0"/>
          <a:chExt cx="0" cy="0"/>
        </a:xfrm>
      </p:grpSpPr>
      <p:grpSp>
        <p:nvGrpSpPr>
          <p:cNvPr name="Group 2" id="2"/>
          <p:cNvGrpSpPr/>
          <p:nvPr/>
        </p:nvGrpSpPr>
        <p:grpSpPr>
          <a:xfrm rot="0">
            <a:off x="842543" y="1880460"/>
            <a:ext cx="7420202" cy="700625"/>
            <a:chOff x="0" y="0"/>
            <a:chExt cx="2186392" cy="206442"/>
          </a:xfrm>
        </p:grpSpPr>
        <p:sp>
          <p:nvSpPr>
            <p:cNvPr name="Freeform 3" id="3"/>
            <p:cNvSpPr/>
            <p:nvPr/>
          </p:nvSpPr>
          <p:spPr>
            <a:xfrm flipH="false" flipV="false" rot="0">
              <a:off x="0" y="0"/>
              <a:ext cx="2186392" cy="206442"/>
            </a:xfrm>
            <a:custGeom>
              <a:avLst/>
              <a:gdLst/>
              <a:ahLst/>
              <a:cxnLst/>
              <a:rect r="r" b="b" t="t" l="l"/>
              <a:pathLst>
                <a:path h="206442" w="2186392">
                  <a:moveTo>
                    <a:pt x="53211" y="0"/>
                  </a:moveTo>
                  <a:lnTo>
                    <a:pt x="2133181" y="0"/>
                  </a:lnTo>
                  <a:cubicBezTo>
                    <a:pt x="2162568" y="0"/>
                    <a:pt x="2186392" y="23823"/>
                    <a:pt x="2186392" y="53211"/>
                  </a:cubicBezTo>
                  <a:lnTo>
                    <a:pt x="2186392" y="153231"/>
                  </a:lnTo>
                  <a:cubicBezTo>
                    <a:pt x="2186392" y="167343"/>
                    <a:pt x="2180786" y="180878"/>
                    <a:pt x="2170807" y="190857"/>
                  </a:cubicBezTo>
                  <a:cubicBezTo>
                    <a:pt x="2160828" y="200836"/>
                    <a:pt x="2147293" y="206442"/>
                    <a:pt x="2133181" y="206442"/>
                  </a:cubicBezTo>
                  <a:lnTo>
                    <a:pt x="53211" y="206442"/>
                  </a:lnTo>
                  <a:cubicBezTo>
                    <a:pt x="39099" y="206442"/>
                    <a:pt x="25564" y="200836"/>
                    <a:pt x="15585" y="190857"/>
                  </a:cubicBezTo>
                  <a:cubicBezTo>
                    <a:pt x="5606" y="180878"/>
                    <a:pt x="0" y="167343"/>
                    <a:pt x="0" y="153231"/>
                  </a:cubicBezTo>
                  <a:lnTo>
                    <a:pt x="0" y="53211"/>
                  </a:lnTo>
                  <a:cubicBezTo>
                    <a:pt x="0" y="39099"/>
                    <a:pt x="5606" y="25564"/>
                    <a:pt x="15585" y="15585"/>
                  </a:cubicBezTo>
                  <a:cubicBezTo>
                    <a:pt x="25564" y="5606"/>
                    <a:pt x="39099" y="0"/>
                    <a:pt x="53211" y="0"/>
                  </a:cubicBezTo>
                  <a:close/>
                </a:path>
              </a:pathLst>
            </a:custGeom>
            <a:solidFill>
              <a:srgbClr val="F4F4F4"/>
            </a:solidFill>
            <a:ln w="19050" cap="rnd">
              <a:solidFill>
                <a:srgbClr val="000000"/>
              </a:solidFill>
              <a:prstDash val="solid"/>
              <a:round/>
            </a:ln>
          </p:spPr>
        </p:sp>
        <p:sp>
          <p:nvSpPr>
            <p:cNvPr name="TextBox 4" id="4"/>
            <p:cNvSpPr txBox="true"/>
            <p:nvPr/>
          </p:nvSpPr>
          <p:spPr>
            <a:xfrm>
              <a:off x="0" y="-38100"/>
              <a:ext cx="2186392" cy="24454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3385388" y="9414246"/>
            <a:ext cx="4838090" cy="1009526"/>
          </a:xfrm>
          <a:custGeom>
            <a:avLst/>
            <a:gdLst/>
            <a:ahLst/>
            <a:cxnLst/>
            <a:rect r="r" b="b" t="t" l="l"/>
            <a:pathLst>
              <a:path h="1009526" w="4838090">
                <a:moveTo>
                  <a:pt x="0" y="0"/>
                </a:moveTo>
                <a:lnTo>
                  <a:pt x="4838090" y="0"/>
                </a:lnTo>
                <a:lnTo>
                  <a:pt x="4838090" y="1009526"/>
                </a:lnTo>
                <a:lnTo>
                  <a:pt x="0" y="1009526"/>
                </a:lnTo>
                <a:lnTo>
                  <a:pt x="0" y="0"/>
                </a:lnTo>
                <a:close/>
              </a:path>
            </a:pathLst>
          </a:custGeom>
          <a:blipFill>
            <a:blip r:embed="rId2"/>
            <a:stretch>
              <a:fillRect l="0" t="0" r="0" b="0"/>
            </a:stretch>
          </a:blipFill>
        </p:spPr>
      </p:sp>
      <p:grpSp>
        <p:nvGrpSpPr>
          <p:cNvPr name="Group 6" id="6"/>
          <p:cNvGrpSpPr/>
          <p:nvPr/>
        </p:nvGrpSpPr>
        <p:grpSpPr>
          <a:xfrm rot="0">
            <a:off x="9685600" y="2272377"/>
            <a:ext cx="8301457" cy="783834"/>
            <a:chOff x="0" y="0"/>
            <a:chExt cx="2186392" cy="206442"/>
          </a:xfrm>
        </p:grpSpPr>
        <p:sp>
          <p:nvSpPr>
            <p:cNvPr name="Freeform 7" id="7"/>
            <p:cNvSpPr/>
            <p:nvPr/>
          </p:nvSpPr>
          <p:spPr>
            <a:xfrm flipH="false" flipV="false" rot="0">
              <a:off x="0" y="0"/>
              <a:ext cx="2186392" cy="206442"/>
            </a:xfrm>
            <a:custGeom>
              <a:avLst/>
              <a:gdLst/>
              <a:ahLst/>
              <a:cxnLst/>
              <a:rect r="r" b="b" t="t" l="l"/>
              <a:pathLst>
                <a:path h="206442" w="2186392">
                  <a:moveTo>
                    <a:pt x="47562" y="0"/>
                  </a:moveTo>
                  <a:lnTo>
                    <a:pt x="2138830" y="0"/>
                  </a:lnTo>
                  <a:cubicBezTo>
                    <a:pt x="2165097" y="0"/>
                    <a:pt x="2186392" y="21294"/>
                    <a:pt x="2186392" y="47562"/>
                  </a:cubicBezTo>
                  <a:lnTo>
                    <a:pt x="2186392" y="158879"/>
                  </a:lnTo>
                  <a:cubicBezTo>
                    <a:pt x="2186392" y="185147"/>
                    <a:pt x="2165097" y="206442"/>
                    <a:pt x="2138830" y="206442"/>
                  </a:cubicBezTo>
                  <a:lnTo>
                    <a:pt x="47562" y="206442"/>
                  </a:lnTo>
                  <a:cubicBezTo>
                    <a:pt x="21294" y="206442"/>
                    <a:pt x="0" y="185147"/>
                    <a:pt x="0" y="158879"/>
                  </a:cubicBezTo>
                  <a:lnTo>
                    <a:pt x="0" y="47562"/>
                  </a:lnTo>
                  <a:cubicBezTo>
                    <a:pt x="0" y="21294"/>
                    <a:pt x="21294" y="0"/>
                    <a:pt x="47562" y="0"/>
                  </a:cubicBezTo>
                  <a:close/>
                </a:path>
              </a:pathLst>
            </a:custGeom>
            <a:solidFill>
              <a:srgbClr val="F4F4F4"/>
            </a:solidFill>
            <a:ln w="19050" cap="rnd">
              <a:solidFill>
                <a:srgbClr val="000000"/>
              </a:solidFill>
              <a:prstDash val="solid"/>
              <a:round/>
            </a:ln>
          </p:spPr>
        </p:sp>
        <p:sp>
          <p:nvSpPr>
            <p:cNvPr name="TextBox 8" id="8"/>
            <p:cNvSpPr txBox="true"/>
            <p:nvPr/>
          </p:nvSpPr>
          <p:spPr>
            <a:xfrm>
              <a:off x="0" y="-38100"/>
              <a:ext cx="2186392" cy="244542"/>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124934" y="5986141"/>
            <a:ext cx="6892973" cy="650843"/>
            <a:chOff x="0" y="0"/>
            <a:chExt cx="2186392" cy="206442"/>
          </a:xfrm>
        </p:grpSpPr>
        <p:sp>
          <p:nvSpPr>
            <p:cNvPr name="Freeform 10" id="10"/>
            <p:cNvSpPr/>
            <p:nvPr/>
          </p:nvSpPr>
          <p:spPr>
            <a:xfrm flipH="false" flipV="false" rot="0">
              <a:off x="0" y="0"/>
              <a:ext cx="2186392" cy="206442"/>
            </a:xfrm>
            <a:custGeom>
              <a:avLst/>
              <a:gdLst/>
              <a:ahLst/>
              <a:cxnLst/>
              <a:rect r="r" b="b" t="t" l="l"/>
              <a:pathLst>
                <a:path h="206442" w="2186392">
                  <a:moveTo>
                    <a:pt x="57281" y="0"/>
                  </a:moveTo>
                  <a:lnTo>
                    <a:pt x="2129111" y="0"/>
                  </a:lnTo>
                  <a:cubicBezTo>
                    <a:pt x="2144303" y="0"/>
                    <a:pt x="2158872" y="6035"/>
                    <a:pt x="2169615" y="16777"/>
                  </a:cubicBezTo>
                  <a:cubicBezTo>
                    <a:pt x="2180357" y="27520"/>
                    <a:pt x="2186392" y="42089"/>
                    <a:pt x="2186392" y="57281"/>
                  </a:cubicBezTo>
                  <a:lnTo>
                    <a:pt x="2186392" y="149161"/>
                  </a:lnTo>
                  <a:cubicBezTo>
                    <a:pt x="2186392" y="164353"/>
                    <a:pt x="2180357" y="178922"/>
                    <a:pt x="2169615" y="189665"/>
                  </a:cubicBezTo>
                  <a:cubicBezTo>
                    <a:pt x="2158872" y="200407"/>
                    <a:pt x="2144303" y="206442"/>
                    <a:pt x="2129111" y="206442"/>
                  </a:cubicBezTo>
                  <a:lnTo>
                    <a:pt x="57281" y="206442"/>
                  </a:lnTo>
                  <a:cubicBezTo>
                    <a:pt x="42089" y="206442"/>
                    <a:pt x="27520" y="200407"/>
                    <a:pt x="16777" y="189665"/>
                  </a:cubicBezTo>
                  <a:cubicBezTo>
                    <a:pt x="6035" y="178922"/>
                    <a:pt x="0" y="164353"/>
                    <a:pt x="0" y="149161"/>
                  </a:cubicBezTo>
                  <a:lnTo>
                    <a:pt x="0" y="57281"/>
                  </a:lnTo>
                  <a:cubicBezTo>
                    <a:pt x="0" y="42089"/>
                    <a:pt x="6035" y="27520"/>
                    <a:pt x="16777" y="16777"/>
                  </a:cubicBezTo>
                  <a:cubicBezTo>
                    <a:pt x="27520" y="6035"/>
                    <a:pt x="42089" y="0"/>
                    <a:pt x="57281" y="0"/>
                  </a:cubicBezTo>
                  <a:close/>
                </a:path>
              </a:pathLst>
            </a:custGeom>
            <a:solidFill>
              <a:srgbClr val="F4F4F4"/>
            </a:solidFill>
            <a:ln w="19050" cap="rnd">
              <a:solidFill>
                <a:srgbClr val="000000"/>
              </a:solidFill>
              <a:prstDash val="solid"/>
              <a:round/>
            </a:ln>
          </p:spPr>
        </p:sp>
        <p:sp>
          <p:nvSpPr>
            <p:cNvPr name="TextBox 11" id="11"/>
            <p:cNvSpPr txBox="true"/>
            <p:nvPr/>
          </p:nvSpPr>
          <p:spPr>
            <a:xfrm>
              <a:off x="0" y="-38100"/>
              <a:ext cx="2186392" cy="244542"/>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124934" y="3056211"/>
            <a:ext cx="6855419" cy="2425105"/>
          </a:xfrm>
          <a:custGeom>
            <a:avLst/>
            <a:gdLst/>
            <a:ahLst/>
            <a:cxnLst/>
            <a:rect r="r" b="b" t="t" l="l"/>
            <a:pathLst>
              <a:path h="2425105" w="6855419">
                <a:moveTo>
                  <a:pt x="0" y="0"/>
                </a:moveTo>
                <a:lnTo>
                  <a:pt x="6855420" y="0"/>
                </a:lnTo>
                <a:lnTo>
                  <a:pt x="6855420" y="2425105"/>
                </a:lnTo>
                <a:lnTo>
                  <a:pt x="0" y="2425105"/>
                </a:lnTo>
                <a:lnTo>
                  <a:pt x="0" y="0"/>
                </a:lnTo>
                <a:close/>
              </a:path>
            </a:pathLst>
          </a:custGeom>
          <a:blipFill>
            <a:blip r:embed="rId3"/>
            <a:stretch>
              <a:fillRect l="0" t="0" r="0" b="0"/>
            </a:stretch>
          </a:blipFill>
        </p:spPr>
      </p:sp>
      <p:sp>
        <p:nvSpPr>
          <p:cNvPr name="Freeform 13" id="13"/>
          <p:cNvSpPr/>
          <p:nvPr/>
        </p:nvSpPr>
        <p:spPr>
          <a:xfrm flipH="false" flipV="false" rot="0">
            <a:off x="10058876" y="3649932"/>
            <a:ext cx="7554906" cy="4891949"/>
          </a:xfrm>
          <a:custGeom>
            <a:avLst/>
            <a:gdLst/>
            <a:ahLst/>
            <a:cxnLst/>
            <a:rect r="r" b="b" t="t" l="l"/>
            <a:pathLst>
              <a:path h="4891949" w="7554906">
                <a:moveTo>
                  <a:pt x="0" y="0"/>
                </a:moveTo>
                <a:lnTo>
                  <a:pt x="7554905" y="0"/>
                </a:lnTo>
                <a:lnTo>
                  <a:pt x="7554905" y="4891950"/>
                </a:lnTo>
                <a:lnTo>
                  <a:pt x="0" y="4891950"/>
                </a:lnTo>
                <a:lnTo>
                  <a:pt x="0" y="0"/>
                </a:lnTo>
                <a:close/>
              </a:path>
            </a:pathLst>
          </a:custGeom>
          <a:blipFill>
            <a:blip r:embed="rId4"/>
            <a:stretch>
              <a:fillRect l="0" t="0" r="0" b="0"/>
            </a:stretch>
          </a:blipFill>
        </p:spPr>
      </p:sp>
      <p:sp>
        <p:nvSpPr>
          <p:cNvPr name="Freeform 14" id="14"/>
          <p:cNvSpPr/>
          <p:nvPr/>
        </p:nvSpPr>
        <p:spPr>
          <a:xfrm flipH="false" flipV="false" rot="0">
            <a:off x="1604911" y="7046559"/>
            <a:ext cx="5933021" cy="2017227"/>
          </a:xfrm>
          <a:custGeom>
            <a:avLst/>
            <a:gdLst/>
            <a:ahLst/>
            <a:cxnLst/>
            <a:rect r="r" b="b" t="t" l="l"/>
            <a:pathLst>
              <a:path h="2017227" w="5933021">
                <a:moveTo>
                  <a:pt x="0" y="0"/>
                </a:moveTo>
                <a:lnTo>
                  <a:pt x="5933020" y="0"/>
                </a:lnTo>
                <a:lnTo>
                  <a:pt x="5933020" y="2017227"/>
                </a:lnTo>
                <a:lnTo>
                  <a:pt x="0" y="2017227"/>
                </a:lnTo>
                <a:lnTo>
                  <a:pt x="0" y="0"/>
                </a:lnTo>
                <a:close/>
              </a:path>
            </a:pathLst>
          </a:custGeom>
          <a:blipFill>
            <a:blip r:embed="rId5"/>
            <a:stretch>
              <a:fillRect l="0" t="0" r="0" b="0"/>
            </a:stretch>
          </a:blipFill>
        </p:spPr>
      </p:sp>
      <p:sp>
        <p:nvSpPr>
          <p:cNvPr name="TextBox 15" id="15"/>
          <p:cNvSpPr txBox="true"/>
          <p:nvPr/>
        </p:nvSpPr>
        <p:spPr>
          <a:xfrm rot="0">
            <a:off x="4327169" y="582015"/>
            <a:ext cx="8679760" cy="893446"/>
          </a:xfrm>
          <a:prstGeom prst="rect">
            <a:avLst/>
          </a:prstGeom>
        </p:spPr>
        <p:txBody>
          <a:bodyPr anchor="t" rtlCol="false" tIns="0" lIns="0" bIns="0" rIns="0">
            <a:spAutoFit/>
          </a:bodyPr>
          <a:lstStyle/>
          <a:p>
            <a:pPr algn="l">
              <a:lnSpc>
                <a:spcPts val="6240"/>
              </a:lnSpc>
            </a:pPr>
            <a:r>
              <a:rPr lang="en-US" sz="8000" spc="-704">
                <a:solidFill>
                  <a:srgbClr val="0390A7"/>
                </a:solidFill>
                <a:latin typeface="Happy Font TH"/>
                <a:ea typeface="Happy Font TH"/>
                <a:cs typeface="Happy Font TH"/>
                <a:sym typeface="Happy Font TH"/>
              </a:rPr>
              <a:t>EMPLOYEE INSIGHTS</a:t>
            </a:r>
          </a:p>
        </p:txBody>
      </p:sp>
      <p:sp>
        <p:nvSpPr>
          <p:cNvPr name="TextBox 16" id="16"/>
          <p:cNvSpPr txBox="true"/>
          <p:nvPr/>
        </p:nvSpPr>
        <p:spPr>
          <a:xfrm rot="0">
            <a:off x="842543" y="2082999"/>
            <a:ext cx="7420202" cy="279125"/>
          </a:xfrm>
          <a:prstGeom prst="rect">
            <a:avLst/>
          </a:prstGeom>
        </p:spPr>
        <p:txBody>
          <a:bodyPr anchor="t" rtlCol="false" tIns="0" lIns="0" bIns="0" rIns="0">
            <a:spAutoFit/>
          </a:bodyPr>
          <a:lstStyle/>
          <a:p>
            <a:pPr algn="ctr">
              <a:lnSpc>
                <a:spcPts val="2027"/>
              </a:lnSpc>
            </a:pPr>
            <a:r>
              <a:rPr lang="en-US" sz="2599" spc="-228">
                <a:solidFill>
                  <a:srgbClr val="010101"/>
                </a:solidFill>
                <a:latin typeface="Happy Font TH"/>
                <a:ea typeface="Happy Font TH"/>
                <a:cs typeface="Happy Font TH"/>
                <a:sym typeface="Happy Font TH"/>
              </a:rPr>
              <a:t>How many unique employees are currently in the system?</a:t>
            </a:r>
          </a:p>
        </p:txBody>
      </p:sp>
      <p:sp>
        <p:nvSpPr>
          <p:cNvPr name="TextBox 17" id="17"/>
          <p:cNvSpPr txBox="true"/>
          <p:nvPr/>
        </p:nvSpPr>
        <p:spPr>
          <a:xfrm rot="0">
            <a:off x="9685600" y="2496052"/>
            <a:ext cx="8301457" cy="315194"/>
          </a:xfrm>
          <a:prstGeom prst="rect">
            <a:avLst/>
          </a:prstGeom>
        </p:spPr>
        <p:txBody>
          <a:bodyPr anchor="t" rtlCol="false" tIns="0" lIns="0" bIns="0" rIns="0">
            <a:spAutoFit/>
          </a:bodyPr>
          <a:lstStyle/>
          <a:p>
            <a:pPr algn="ctr">
              <a:lnSpc>
                <a:spcPts val="2268"/>
              </a:lnSpc>
            </a:pPr>
            <a:r>
              <a:rPr lang="en-US" sz="2908" spc="-255">
                <a:solidFill>
                  <a:srgbClr val="010101"/>
                </a:solidFill>
                <a:latin typeface="Happy Font TH"/>
                <a:ea typeface="Happy Font TH"/>
                <a:cs typeface="Happy Font TH"/>
                <a:sym typeface="Happy Font TH"/>
              </a:rPr>
              <a:t>Which departments have the highest number of employees?</a:t>
            </a:r>
          </a:p>
        </p:txBody>
      </p:sp>
      <p:sp>
        <p:nvSpPr>
          <p:cNvPr name="TextBox 18" id="18"/>
          <p:cNvSpPr txBox="true"/>
          <p:nvPr/>
        </p:nvSpPr>
        <p:spPr>
          <a:xfrm rot="0">
            <a:off x="1124934" y="6172208"/>
            <a:ext cx="6892973" cy="261373"/>
          </a:xfrm>
          <a:prstGeom prst="rect">
            <a:avLst/>
          </a:prstGeom>
        </p:spPr>
        <p:txBody>
          <a:bodyPr anchor="t" rtlCol="false" tIns="0" lIns="0" bIns="0" rIns="0">
            <a:spAutoFit/>
          </a:bodyPr>
          <a:lstStyle/>
          <a:p>
            <a:pPr algn="ctr">
              <a:lnSpc>
                <a:spcPts val="1883"/>
              </a:lnSpc>
            </a:pPr>
            <a:r>
              <a:rPr lang="en-US" sz="2415" spc="-212">
                <a:solidFill>
                  <a:srgbClr val="010101"/>
                </a:solidFill>
                <a:latin typeface="Happy Font TH"/>
                <a:ea typeface="Happy Font TH"/>
                <a:cs typeface="Happy Font TH"/>
                <a:sym typeface="Happy Font TH"/>
              </a:rPr>
              <a:t>What is the total salary expenditure across the company?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8E6E6"/>
        </a:solidFill>
      </p:bgPr>
    </p:bg>
    <p:spTree>
      <p:nvGrpSpPr>
        <p:cNvPr id="1" name=""/>
        <p:cNvGrpSpPr/>
        <p:nvPr/>
      </p:nvGrpSpPr>
      <p:grpSpPr>
        <a:xfrm>
          <a:off x="0" y="0"/>
          <a:ext cx="0" cy="0"/>
          <a:chOff x="0" y="0"/>
          <a:chExt cx="0" cy="0"/>
        </a:xfrm>
      </p:grpSpPr>
      <p:grpSp>
        <p:nvGrpSpPr>
          <p:cNvPr name="Group 2" id="2"/>
          <p:cNvGrpSpPr/>
          <p:nvPr/>
        </p:nvGrpSpPr>
        <p:grpSpPr>
          <a:xfrm rot="0">
            <a:off x="333409" y="2204582"/>
            <a:ext cx="8333640" cy="786873"/>
            <a:chOff x="0" y="0"/>
            <a:chExt cx="2186392" cy="206442"/>
          </a:xfrm>
        </p:grpSpPr>
        <p:sp>
          <p:nvSpPr>
            <p:cNvPr name="Freeform 3" id="3"/>
            <p:cNvSpPr/>
            <p:nvPr/>
          </p:nvSpPr>
          <p:spPr>
            <a:xfrm flipH="false" flipV="false" rot="0">
              <a:off x="0" y="0"/>
              <a:ext cx="2186392" cy="206442"/>
            </a:xfrm>
            <a:custGeom>
              <a:avLst/>
              <a:gdLst/>
              <a:ahLst/>
              <a:cxnLst/>
              <a:rect r="r" b="b" t="t" l="l"/>
              <a:pathLst>
                <a:path h="206442" w="2186392">
                  <a:moveTo>
                    <a:pt x="47379" y="0"/>
                  </a:moveTo>
                  <a:lnTo>
                    <a:pt x="2139013" y="0"/>
                  </a:lnTo>
                  <a:cubicBezTo>
                    <a:pt x="2165180" y="0"/>
                    <a:pt x="2186392" y="21212"/>
                    <a:pt x="2186392" y="47379"/>
                  </a:cubicBezTo>
                  <a:lnTo>
                    <a:pt x="2186392" y="159063"/>
                  </a:lnTo>
                  <a:cubicBezTo>
                    <a:pt x="2186392" y="171629"/>
                    <a:pt x="2181400" y="183680"/>
                    <a:pt x="2172515" y="192565"/>
                  </a:cubicBezTo>
                  <a:cubicBezTo>
                    <a:pt x="2163630" y="201450"/>
                    <a:pt x="2151579" y="206442"/>
                    <a:pt x="2139013" y="206442"/>
                  </a:cubicBezTo>
                  <a:lnTo>
                    <a:pt x="47379" y="206442"/>
                  </a:lnTo>
                  <a:cubicBezTo>
                    <a:pt x="34813" y="206442"/>
                    <a:pt x="22762" y="201450"/>
                    <a:pt x="13877" y="192565"/>
                  </a:cubicBezTo>
                  <a:cubicBezTo>
                    <a:pt x="4992" y="183680"/>
                    <a:pt x="0" y="171629"/>
                    <a:pt x="0" y="159063"/>
                  </a:cubicBezTo>
                  <a:lnTo>
                    <a:pt x="0" y="47379"/>
                  </a:lnTo>
                  <a:cubicBezTo>
                    <a:pt x="0" y="34813"/>
                    <a:pt x="4992" y="22762"/>
                    <a:pt x="13877" y="13877"/>
                  </a:cubicBezTo>
                  <a:cubicBezTo>
                    <a:pt x="22762" y="4992"/>
                    <a:pt x="34813" y="0"/>
                    <a:pt x="47379" y="0"/>
                  </a:cubicBezTo>
                  <a:close/>
                </a:path>
              </a:pathLst>
            </a:custGeom>
            <a:solidFill>
              <a:srgbClr val="F4F4F4"/>
            </a:solidFill>
            <a:ln w="19050" cap="rnd">
              <a:solidFill>
                <a:srgbClr val="000000"/>
              </a:solidFill>
              <a:prstDash val="solid"/>
              <a:round/>
            </a:ln>
          </p:spPr>
        </p:sp>
        <p:sp>
          <p:nvSpPr>
            <p:cNvPr name="TextBox 4" id="4"/>
            <p:cNvSpPr txBox="true"/>
            <p:nvPr/>
          </p:nvSpPr>
          <p:spPr>
            <a:xfrm>
              <a:off x="0" y="-38100"/>
              <a:ext cx="2186392" cy="24454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105587" y="2625922"/>
            <a:ext cx="7695764" cy="638107"/>
            <a:chOff x="0" y="0"/>
            <a:chExt cx="1840109" cy="152576"/>
          </a:xfrm>
        </p:grpSpPr>
        <p:sp>
          <p:nvSpPr>
            <p:cNvPr name="Freeform 6" id="6"/>
            <p:cNvSpPr/>
            <p:nvPr/>
          </p:nvSpPr>
          <p:spPr>
            <a:xfrm flipH="false" flipV="false" rot="0">
              <a:off x="0" y="0"/>
              <a:ext cx="1840109" cy="152576"/>
            </a:xfrm>
            <a:custGeom>
              <a:avLst/>
              <a:gdLst/>
              <a:ahLst/>
              <a:cxnLst/>
              <a:rect r="r" b="b" t="t" l="l"/>
              <a:pathLst>
                <a:path h="152576" w="1840109">
                  <a:moveTo>
                    <a:pt x="51306" y="0"/>
                  </a:moveTo>
                  <a:lnTo>
                    <a:pt x="1788803" y="0"/>
                  </a:lnTo>
                  <a:cubicBezTo>
                    <a:pt x="1802410" y="0"/>
                    <a:pt x="1815460" y="5405"/>
                    <a:pt x="1825082" y="15027"/>
                  </a:cubicBezTo>
                  <a:cubicBezTo>
                    <a:pt x="1834704" y="24649"/>
                    <a:pt x="1840109" y="37699"/>
                    <a:pt x="1840109" y="51306"/>
                  </a:cubicBezTo>
                  <a:lnTo>
                    <a:pt x="1840109" y="101270"/>
                  </a:lnTo>
                  <a:cubicBezTo>
                    <a:pt x="1840109" y="114877"/>
                    <a:pt x="1834704" y="127927"/>
                    <a:pt x="1825082" y="137548"/>
                  </a:cubicBezTo>
                  <a:cubicBezTo>
                    <a:pt x="1815460" y="147170"/>
                    <a:pt x="1802410" y="152576"/>
                    <a:pt x="1788803" y="152576"/>
                  </a:cubicBezTo>
                  <a:lnTo>
                    <a:pt x="51306" y="152576"/>
                  </a:lnTo>
                  <a:cubicBezTo>
                    <a:pt x="37699" y="152576"/>
                    <a:pt x="24649" y="147170"/>
                    <a:pt x="15027" y="137548"/>
                  </a:cubicBezTo>
                  <a:cubicBezTo>
                    <a:pt x="5405" y="127927"/>
                    <a:pt x="0" y="114877"/>
                    <a:pt x="0" y="101270"/>
                  </a:cubicBezTo>
                  <a:lnTo>
                    <a:pt x="0" y="51306"/>
                  </a:lnTo>
                  <a:cubicBezTo>
                    <a:pt x="0" y="37699"/>
                    <a:pt x="5405" y="24649"/>
                    <a:pt x="15027" y="15027"/>
                  </a:cubicBezTo>
                  <a:cubicBezTo>
                    <a:pt x="24649" y="5405"/>
                    <a:pt x="37699" y="0"/>
                    <a:pt x="51306" y="0"/>
                  </a:cubicBezTo>
                  <a:close/>
                </a:path>
              </a:pathLst>
            </a:custGeom>
            <a:solidFill>
              <a:srgbClr val="F4F4F4"/>
            </a:solidFill>
            <a:ln w="19050" cap="rnd">
              <a:solidFill>
                <a:srgbClr val="000000"/>
              </a:solidFill>
              <a:prstDash val="solid"/>
              <a:round/>
            </a:ln>
          </p:spPr>
        </p:sp>
        <p:sp>
          <p:nvSpPr>
            <p:cNvPr name="TextBox 7" id="7"/>
            <p:cNvSpPr txBox="true"/>
            <p:nvPr/>
          </p:nvSpPr>
          <p:spPr>
            <a:xfrm>
              <a:off x="0" y="-38100"/>
              <a:ext cx="1840109" cy="190676"/>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385388" y="9414246"/>
            <a:ext cx="4838090" cy="1009526"/>
          </a:xfrm>
          <a:custGeom>
            <a:avLst/>
            <a:gdLst/>
            <a:ahLst/>
            <a:cxnLst/>
            <a:rect r="r" b="b" t="t" l="l"/>
            <a:pathLst>
              <a:path h="1009526" w="4838090">
                <a:moveTo>
                  <a:pt x="0" y="0"/>
                </a:moveTo>
                <a:lnTo>
                  <a:pt x="4838090" y="0"/>
                </a:lnTo>
                <a:lnTo>
                  <a:pt x="4838090" y="1009526"/>
                </a:lnTo>
                <a:lnTo>
                  <a:pt x="0" y="1009526"/>
                </a:lnTo>
                <a:lnTo>
                  <a:pt x="0" y="0"/>
                </a:lnTo>
                <a:close/>
              </a:path>
            </a:pathLst>
          </a:custGeom>
          <a:blipFill>
            <a:blip r:embed="rId2"/>
            <a:stretch>
              <a:fillRect l="0" t="0" r="0" b="0"/>
            </a:stretch>
          </a:blipFill>
        </p:spPr>
      </p:sp>
      <p:sp>
        <p:nvSpPr>
          <p:cNvPr name="Freeform 9" id="9"/>
          <p:cNvSpPr/>
          <p:nvPr/>
        </p:nvSpPr>
        <p:spPr>
          <a:xfrm flipH="false" flipV="false" rot="0">
            <a:off x="1542803" y="3724880"/>
            <a:ext cx="7838666" cy="5789415"/>
          </a:xfrm>
          <a:custGeom>
            <a:avLst/>
            <a:gdLst/>
            <a:ahLst/>
            <a:cxnLst/>
            <a:rect r="r" b="b" t="t" l="l"/>
            <a:pathLst>
              <a:path h="5789415" w="7838666">
                <a:moveTo>
                  <a:pt x="0" y="0"/>
                </a:moveTo>
                <a:lnTo>
                  <a:pt x="7838666" y="0"/>
                </a:lnTo>
                <a:lnTo>
                  <a:pt x="7838666" y="5789414"/>
                </a:lnTo>
                <a:lnTo>
                  <a:pt x="0" y="5789414"/>
                </a:lnTo>
                <a:lnTo>
                  <a:pt x="0" y="0"/>
                </a:lnTo>
                <a:close/>
              </a:path>
            </a:pathLst>
          </a:custGeom>
          <a:blipFill>
            <a:blip r:embed="rId3"/>
            <a:stretch>
              <a:fillRect l="0" t="0" r="0" b="0"/>
            </a:stretch>
          </a:blipFill>
        </p:spPr>
      </p:sp>
      <p:sp>
        <p:nvSpPr>
          <p:cNvPr name="Freeform 10" id="10"/>
          <p:cNvSpPr/>
          <p:nvPr/>
        </p:nvSpPr>
        <p:spPr>
          <a:xfrm flipH="false" flipV="false" rot="0">
            <a:off x="11106407" y="3979732"/>
            <a:ext cx="6152893" cy="5279710"/>
          </a:xfrm>
          <a:custGeom>
            <a:avLst/>
            <a:gdLst/>
            <a:ahLst/>
            <a:cxnLst/>
            <a:rect r="r" b="b" t="t" l="l"/>
            <a:pathLst>
              <a:path h="5279710" w="6152893">
                <a:moveTo>
                  <a:pt x="0" y="0"/>
                </a:moveTo>
                <a:lnTo>
                  <a:pt x="6152893" y="0"/>
                </a:lnTo>
                <a:lnTo>
                  <a:pt x="6152893" y="5279710"/>
                </a:lnTo>
                <a:lnTo>
                  <a:pt x="0" y="5279710"/>
                </a:lnTo>
                <a:lnTo>
                  <a:pt x="0" y="0"/>
                </a:lnTo>
                <a:close/>
              </a:path>
            </a:pathLst>
          </a:custGeom>
          <a:blipFill>
            <a:blip r:embed="rId4"/>
            <a:stretch>
              <a:fillRect l="0" t="0" r="0" b="0"/>
            </a:stretch>
          </a:blipFill>
        </p:spPr>
      </p:sp>
      <p:sp>
        <p:nvSpPr>
          <p:cNvPr name="TextBox 11" id="11"/>
          <p:cNvSpPr txBox="true"/>
          <p:nvPr/>
        </p:nvSpPr>
        <p:spPr>
          <a:xfrm rot="0">
            <a:off x="4327169" y="582015"/>
            <a:ext cx="8679760" cy="893446"/>
          </a:xfrm>
          <a:prstGeom prst="rect">
            <a:avLst/>
          </a:prstGeom>
        </p:spPr>
        <p:txBody>
          <a:bodyPr anchor="t" rtlCol="false" tIns="0" lIns="0" bIns="0" rIns="0">
            <a:spAutoFit/>
          </a:bodyPr>
          <a:lstStyle/>
          <a:p>
            <a:pPr algn="l">
              <a:lnSpc>
                <a:spcPts val="6240"/>
              </a:lnSpc>
            </a:pPr>
            <a:r>
              <a:rPr lang="en-US" sz="8000" spc="-704">
                <a:solidFill>
                  <a:srgbClr val="0390A7"/>
                </a:solidFill>
                <a:latin typeface="Happy Font TH"/>
                <a:ea typeface="Happy Font TH"/>
                <a:cs typeface="Happy Font TH"/>
                <a:sym typeface="Happy Font TH"/>
              </a:rPr>
              <a:t>EMPLOYEE INSIGHTS</a:t>
            </a:r>
          </a:p>
        </p:txBody>
      </p:sp>
      <p:sp>
        <p:nvSpPr>
          <p:cNvPr name="TextBox 12" id="12"/>
          <p:cNvSpPr txBox="true"/>
          <p:nvPr/>
        </p:nvSpPr>
        <p:spPr>
          <a:xfrm rot="0">
            <a:off x="333409" y="2428680"/>
            <a:ext cx="8333640" cy="316859"/>
          </a:xfrm>
          <a:prstGeom prst="rect">
            <a:avLst/>
          </a:prstGeom>
        </p:spPr>
        <p:txBody>
          <a:bodyPr anchor="t" rtlCol="false" tIns="0" lIns="0" bIns="0" rIns="0">
            <a:spAutoFit/>
          </a:bodyPr>
          <a:lstStyle/>
          <a:p>
            <a:pPr algn="ctr">
              <a:lnSpc>
                <a:spcPts val="2277"/>
              </a:lnSpc>
            </a:pPr>
            <a:r>
              <a:rPr lang="en-US" sz="2920" spc="-256">
                <a:solidFill>
                  <a:srgbClr val="010101"/>
                </a:solidFill>
                <a:latin typeface="Happy Font TH"/>
                <a:ea typeface="Happy Font TH"/>
                <a:cs typeface="Happy Font TH"/>
                <a:sym typeface="Happy Font TH"/>
              </a:rPr>
              <a:t>What is the average salary per department?</a:t>
            </a:r>
          </a:p>
        </p:txBody>
      </p:sp>
      <p:sp>
        <p:nvSpPr>
          <p:cNvPr name="TextBox 13" id="13"/>
          <p:cNvSpPr txBox="true"/>
          <p:nvPr/>
        </p:nvSpPr>
        <p:spPr>
          <a:xfrm rot="0">
            <a:off x="9381469" y="2731368"/>
            <a:ext cx="9144000" cy="339735"/>
          </a:xfrm>
          <a:prstGeom prst="rect">
            <a:avLst/>
          </a:prstGeom>
        </p:spPr>
        <p:txBody>
          <a:bodyPr anchor="t" rtlCol="false" tIns="0" lIns="0" bIns="0" rIns="0">
            <a:spAutoFit/>
          </a:bodyPr>
          <a:lstStyle/>
          <a:p>
            <a:pPr algn="ctr">
              <a:lnSpc>
                <a:spcPts val="2499"/>
              </a:lnSpc>
            </a:pPr>
            <a:r>
              <a:rPr lang="en-US" sz="3203" spc="-281">
                <a:solidFill>
                  <a:srgbClr val="010101"/>
                </a:solidFill>
                <a:latin typeface="Happy Font TH"/>
                <a:ea typeface="Happy Font TH"/>
                <a:cs typeface="Happy Font TH"/>
                <a:sym typeface="Happy Font TH"/>
              </a:rPr>
              <a:t>Who are the top 5 highest-paid employees?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8E6E6"/>
        </a:solidFill>
      </p:bgPr>
    </p:bg>
    <p:spTree>
      <p:nvGrpSpPr>
        <p:cNvPr id="1" name=""/>
        <p:cNvGrpSpPr/>
        <p:nvPr/>
      </p:nvGrpSpPr>
      <p:grpSpPr>
        <a:xfrm>
          <a:off x="0" y="0"/>
          <a:ext cx="0" cy="0"/>
          <a:chOff x="0" y="0"/>
          <a:chExt cx="0" cy="0"/>
        </a:xfrm>
      </p:grpSpPr>
      <p:sp>
        <p:nvSpPr>
          <p:cNvPr name="Freeform 2" id="2"/>
          <p:cNvSpPr/>
          <p:nvPr/>
        </p:nvSpPr>
        <p:spPr>
          <a:xfrm flipH="false" flipV="false" rot="0">
            <a:off x="13385388" y="9414246"/>
            <a:ext cx="4838090" cy="1009526"/>
          </a:xfrm>
          <a:custGeom>
            <a:avLst/>
            <a:gdLst/>
            <a:ahLst/>
            <a:cxnLst/>
            <a:rect r="r" b="b" t="t" l="l"/>
            <a:pathLst>
              <a:path h="1009526" w="4838090">
                <a:moveTo>
                  <a:pt x="0" y="0"/>
                </a:moveTo>
                <a:lnTo>
                  <a:pt x="4838090" y="0"/>
                </a:lnTo>
                <a:lnTo>
                  <a:pt x="4838090" y="1009526"/>
                </a:lnTo>
                <a:lnTo>
                  <a:pt x="0" y="1009526"/>
                </a:lnTo>
                <a:lnTo>
                  <a:pt x="0" y="0"/>
                </a:lnTo>
                <a:close/>
              </a:path>
            </a:pathLst>
          </a:custGeom>
          <a:blipFill>
            <a:blip r:embed="rId2"/>
            <a:stretch>
              <a:fillRect l="0" t="0" r="0" b="0"/>
            </a:stretch>
          </a:blipFill>
        </p:spPr>
      </p:sp>
      <p:grpSp>
        <p:nvGrpSpPr>
          <p:cNvPr name="Group 3" id="3"/>
          <p:cNvGrpSpPr/>
          <p:nvPr/>
        </p:nvGrpSpPr>
        <p:grpSpPr>
          <a:xfrm rot="0">
            <a:off x="333409" y="2204582"/>
            <a:ext cx="8333640" cy="786873"/>
            <a:chOff x="0" y="0"/>
            <a:chExt cx="2186392" cy="206442"/>
          </a:xfrm>
        </p:grpSpPr>
        <p:sp>
          <p:nvSpPr>
            <p:cNvPr name="Freeform 4" id="4"/>
            <p:cNvSpPr/>
            <p:nvPr/>
          </p:nvSpPr>
          <p:spPr>
            <a:xfrm flipH="false" flipV="false" rot="0">
              <a:off x="0" y="0"/>
              <a:ext cx="2186392" cy="206442"/>
            </a:xfrm>
            <a:custGeom>
              <a:avLst/>
              <a:gdLst/>
              <a:ahLst/>
              <a:cxnLst/>
              <a:rect r="r" b="b" t="t" l="l"/>
              <a:pathLst>
                <a:path h="206442" w="2186392">
                  <a:moveTo>
                    <a:pt x="47379" y="0"/>
                  </a:moveTo>
                  <a:lnTo>
                    <a:pt x="2139013" y="0"/>
                  </a:lnTo>
                  <a:cubicBezTo>
                    <a:pt x="2165180" y="0"/>
                    <a:pt x="2186392" y="21212"/>
                    <a:pt x="2186392" y="47379"/>
                  </a:cubicBezTo>
                  <a:lnTo>
                    <a:pt x="2186392" y="159063"/>
                  </a:lnTo>
                  <a:cubicBezTo>
                    <a:pt x="2186392" y="171629"/>
                    <a:pt x="2181400" y="183680"/>
                    <a:pt x="2172515" y="192565"/>
                  </a:cubicBezTo>
                  <a:cubicBezTo>
                    <a:pt x="2163630" y="201450"/>
                    <a:pt x="2151579" y="206442"/>
                    <a:pt x="2139013" y="206442"/>
                  </a:cubicBezTo>
                  <a:lnTo>
                    <a:pt x="47379" y="206442"/>
                  </a:lnTo>
                  <a:cubicBezTo>
                    <a:pt x="34813" y="206442"/>
                    <a:pt x="22762" y="201450"/>
                    <a:pt x="13877" y="192565"/>
                  </a:cubicBezTo>
                  <a:cubicBezTo>
                    <a:pt x="4992" y="183680"/>
                    <a:pt x="0" y="171629"/>
                    <a:pt x="0" y="159063"/>
                  </a:cubicBezTo>
                  <a:lnTo>
                    <a:pt x="0" y="47379"/>
                  </a:lnTo>
                  <a:cubicBezTo>
                    <a:pt x="0" y="34813"/>
                    <a:pt x="4992" y="22762"/>
                    <a:pt x="13877" y="13877"/>
                  </a:cubicBezTo>
                  <a:cubicBezTo>
                    <a:pt x="22762" y="4992"/>
                    <a:pt x="34813" y="0"/>
                    <a:pt x="47379" y="0"/>
                  </a:cubicBezTo>
                  <a:close/>
                </a:path>
              </a:pathLst>
            </a:custGeom>
            <a:solidFill>
              <a:srgbClr val="F4F4F4"/>
            </a:solidFill>
            <a:ln w="19050" cap="rnd">
              <a:solidFill>
                <a:srgbClr val="000000"/>
              </a:solidFill>
              <a:prstDash val="solid"/>
              <a:round/>
            </a:ln>
          </p:spPr>
        </p:sp>
        <p:sp>
          <p:nvSpPr>
            <p:cNvPr name="TextBox 5" id="5"/>
            <p:cNvSpPr txBox="true"/>
            <p:nvPr/>
          </p:nvSpPr>
          <p:spPr>
            <a:xfrm>
              <a:off x="0" y="-38100"/>
              <a:ext cx="2186392" cy="24454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9562379" y="2204582"/>
            <a:ext cx="8333640" cy="786873"/>
            <a:chOff x="0" y="0"/>
            <a:chExt cx="2186392" cy="206442"/>
          </a:xfrm>
        </p:grpSpPr>
        <p:sp>
          <p:nvSpPr>
            <p:cNvPr name="Freeform 7" id="7"/>
            <p:cNvSpPr/>
            <p:nvPr/>
          </p:nvSpPr>
          <p:spPr>
            <a:xfrm flipH="false" flipV="false" rot="0">
              <a:off x="0" y="0"/>
              <a:ext cx="2186392" cy="206442"/>
            </a:xfrm>
            <a:custGeom>
              <a:avLst/>
              <a:gdLst/>
              <a:ahLst/>
              <a:cxnLst/>
              <a:rect r="r" b="b" t="t" l="l"/>
              <a:pathLst>
                <a:path h="206442" w="2186392">
                  <a:moveTo>
                    <a:pt x="47379" y="0"/>
                  </a:moveTo>
                  <a:lnTo>
                    <a:pt x="2139013" y="0"/>
                  </a:lnTo>
                  <a:cubicBezTo>
                    <a:pt x="2165180" y="0"/>
                    <a:pt x="2186392" y="21212"/>
                    <a:pt x="2186392" y="47379"/>
                  </a:cubicBezTo>
                  <a:lnTo>
                    <a:pt x="2186392" y="159063"/>
                  </a:lnTo>
                  <a:cubicBezTo>
                    <a:pt x="2186392" y="171629"/>
                    <a:pt x="2181400" y="183680"/>
                    <a:pt x="2172515" y="192565"/>
                  </a:cubicBezTo>
                  <a:cubicBezTo>
                    <a:pt x="2163630" y="201450"/>
                    <a:pt x="2151579" y="206442"/>
                    <a:pt x="2139013" y="206442"/>
                  </a:cubicBezTo>
                  <a:lnTo>
                    <a:pt x="47379" y="206442"/>
                  </a:lnTo>
                  <a:cubicBezTo>
                    <a:pt x="34813" y="206442"/>
                    <a:pt x="22762" y="201450"/>
                    <a:pt x="13877" y="192565"/>
                  </a:cubicBezTo>
                  <a:cubicBezTo>
                    <a:pt x="4992" y="183680"/>
                    <a:pt x="0" y="171629"/>
                    <a:pt x="0" y="159063"/>
                  </a:cubicBezTo>
                  <a:lnTo>
                    <a:pt x="0" y="47379"/>
                  </a:lnTo>
                  <a:cubicBezTo>
                    <a:pt x="0" y="34813"/>
                    <a:pt x="4992" y="22762"/>
                    <a:pt x="13877" y="13877"/>
                  </a:cubicBezTo>
                  <a:cubicBezTo>
                    <a:pt x="22762" y="4992"/>
                    <a:pt x="34813" y="0"/>
                    <a:pt x="47379" y="0"/>
                  </a:cubicBezTo>
                  <a:close/>
                </a:path>
              </a:pathLst>
            </a:custGeom>
            <a:solidFill>
              <a:srgbClr val="F4F4F4"/>
            </a:solidFill>
            <a:ln w="19050" cap="rnd">
              <a:solidFill>
                <a:srgbClr val="000000"/>
              </a:solidFill>
              <a:prstDash val="solid"/>
              <a:round/>
            </a:ln>
          </p:spPr>
        </p:sp>
        <p:sp>
          <p:nvSpPr>
            <p:cNvPr name="TextBox 8" id="8"/>
            <p:cNvSpPr txBox="true"/>
            <p:nvPr/>
          </p:nvSpPr>
          <p:spPr>
            <a:xfrm>
              <a:off x="0" y="-38100"/>
              <a:ext cx="2186392" cy="24454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668788" y="4163030"/>
            <a:ext cx="7662881" cy="4367842"/>
          </a:xfrm>
          <a:custGeom>
            <a:avLst/>
            <a:gdLst/>
            <a:ahLst/>
            <a:cxnLst/>
            <a:rect r="r" b="b" t="t" l="l"/>
            <a:pathLst>
              <a:path h="4367842" w="7662881">
                <a:moveTo>
                  <a:pt x="0" y="0"/>
                </a:moveTo>
                <a:lnTo>
                  <a:pt x="7662882" y="0"/>
                </a:lnTo>
                <a:lnTo>
                  <a:pt x="7662882" y="4367842"/>
                </a:lnTo>
                <a:lnTo>
                  <a:pt x="0" y="4367842"/>
                </a:lnTo>
                <a:lnTo>
                  <a:pt x="0" y="0"/>
                </a:lnTo>
                <a:close/>
              </a:path>
            </a:pathLst>
          </a:custGeom>
          <a:blipFill>
            <a:blip r:embed="rId3"/>
            <a:stretch>
              <a:fillRect l="0" t="0" r="0" b="0"/>
            </a:stretch>
          </a:blipFill>
        </p:spPr>
      </p:sp>
      <p:sp>
        <p:nvSpPr>
          <p:cNvPr name="Freeform 10" id="10"/>
          <p:cNvSpPr/>
          <p:nvPr/>
        </p:nvSpPr>
        <p:spPr>
          <a:xfrm flipH="false" flipV="false" rot="0">
            <a:off x="10140127" y="4277330"/>
            <a:ext cx="7119173" cy="4022333"/>
          </a:xfrm>
          <a:custGeom>
            <a:avLst/>
            <a:gdLst/>
            <a:ahLst/>
            <a:cxnLst/>
            <a:rect r="r" b="b" t="t" l="l"/>
            <a:pathLst>
              <a:path h="4022333" w="7119173">
                <a:moveTo>
                  <a:pt x="0" y="0"/>
                </a:moveTo>
                <a:lnTo>
                  <a:pt x="7119173" y="0"/>
                </a:lnTo>
                <a:lnTo>
                  <a:pt x="7119173" y="4022332"/>
                </a:lnTo>
                <a:lnTo>
                  <a:pt x="0" y="4022332"/>
                </a:lnTo>
                <a:lnTo>
                  <a:pt x="0" y="0"/>
                </a:lnTo>
                <a:close/>
              </a:path>
            </a:pathLst>
          </a:custGeom>
          <a:blipFill>
            <a:blip r:embed="rId4"/>
            <a:stretch>
              <a:fillRect l="0" t="0" r="0" b="0"/>
            </a:stretch>
          </a:blipFill>
        </p:spPr>
      </p:sp>
      <p:sp>
        <p:nvSpPr>
          <p:cNvPr name="TextBox 11" id="11"/>
          <p:cNvSpPr txBox="true"/>
          <p:nvPr/>
        </p:nvSpPr>
        <p:spPr>
          <a:xfrm rot="0">
            <a:off x="3050145" y="365760"/>
            <a:ext cx="12187709" cy="662940"/>
          </a:xfrm>
          <a:prstGeom prst="rect">
            <a:avLst/>
          </a:prstGeom>
        </p:spPr>
        <p:txBody>
          <a:bodyPr anchor="t" rtlCol="false" tIns="0" lIns="0" bIns="0" rIns="0">
            <a:spAutoFit/>
          </a:bodyPr>
          <a:lstStyle/>
          <a:p>
            <a:pPr algn="l">
              <a:lnSpc>
                <a:spcPts val="4680"/>
              </a:lnSpc>
            </a:pPr>
            <a:r>
              <a:rPr lang="en-US" sz="6000" spc="-527">
                <a:solidFill>
                  <a:srgbClr val="0390A7"/>
                </a:solidFill>
                <a:latin typeface="Happy Font TH"/>
                <a:ea typeface="Happy Font TH"/>
                <a:cs typeface="Happy Font TH"/>
                <a:sym typeface="Happy Font TH"/>
              </a:rPr>
              <a:t>JOB ROLE AND DEPARTMENT ANALYSIS</a:t>
            </a:r>
          </a:p>
        </p:txBody>
      </p:sp>
      <p:sp>
        <p:nvSpPr>
          <p:cNvPr name="TextBox 12" id="12"/>
          <p:cNvSpPr txBox="true"/>
          <p:nvPr/>
        </p:nvSpPr>
        <p:spPr>
          <a:xfrm rot="0">
            <a:off x="333409" y="2428680"/>
            <a:ext cx="8333640" cy="316859"/>
          </a:xfrm>
          <a:prstGeom prst="rect">
            <a:avLst/>
          </a:prstGeom>
        </p:spPr>
        <p:txBody>
          <a:bodyPr anchor="t" rtlCol="false" tIns="0" lIns="0" bIns="0" rIns="0">
            <a:spAutoFit/>
          </a:bodyPr>
          <a:lstStyle/>
          <a:p>
            <a:pPr algn="ctr">
              <a:lnSpc>
                <a:spcPts val="2277"/>
              </a:lnSpc>
            </a:pPr>
            <a:r>
              <a:rPr lang="en-US" sz="2920" spc="-256">
                <a:solidFill>
                  <a:srgbClr val="010101"/>
                </a:solidFill>
                <a:latin typeface="Happy Font TH"/>
                <a:ea typeface="Happy Font TH"/>
                <a:cs typeface="Happy Font TH"/>
                <a:sym typeface="Happy Font TH"/>
              </a:rPr>
              <a:t>How many different job roles exist in each department?</a:t>
            </a:r>
          </a:p>
        </p:txBody>
      </p:sp>
      <p:sp>
        <p:nvSpPr>
          <p:cNvPr name="TextBox 13" id="13"/>
          <p:cNvSpPr txBox="true"/>
          <p:nvPr/>
        </p:nvSpPr>
        <p:spPr>
          <a:xfrm rot="0">
            <a:off x="9562379" y="2428680"/>
            <a:ext cx="8333640" cy="316859"/>
          </a:xfrm>
          <a:prstGeom prst="rect">
            <a:avLst/>
          </a:prstGeom>
        </p:spPr>
        <p:txBody>
          <a:bodyPr anchor="t" rtlCol="false" tIns="0" lIns="0" bIns="0" rIns="0">
            <a:spAutoFit/>
          </a:bodyPr>
          <a:lstStyle/>
          <a:p>
            <a:pPr algn="ctr">
              <a:lnSpc>
                <a:spcPts val="2277"/>
              </a:lnSpc>
            </a:pPr>
            <a:r>
              <a:rPr lang="en-US" sz="2920" spc="-256">
                <a:solidFill>
                  <a:srgbClr val="010101"/>
                </a:solidFill>
                <a:latin typeface="Happy Font TH"/>
                <a:ea typeface="Happy Font TH"/>
                <a:cs typeface="Happy Font TH"/>
                <a:sym typeface="Happy Font TH"/>
              </a:rPr>
              <a:t>What is the average salary range per department?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8E6E6"/>
        </a:solidFill>
      </p:bgPr>
    </p:bg>
    <p:spTree>
      <p:nvGrpSpPr>
        <p:cNvPr id="1" name=""/>
        <p:cNvGrpSpPr/>
        <p:nvPr/>
      </p:nvGrpSpPr>
      <p:grpSpPr>
        <a:xfrm>
          <a:off x="0" y="0"/>
          <a:ext cx="0" cy="0"/>
          <a:chOff x="0" y="0"/>
          <a:chExt cx="0" cy="0"/>
        </a:xfrm>
      </p:grpSpPr>
      <p:sp>
        <p:nvSpPr>
          <p:cNvPr name="Freeform 2" id="2"/>
          <p:cNvSpPr/>
          <p:nvPr/>
        </p:nvSpPr>
        <p:spPr>
          <a:xfrm flipH="false" flipV="false" rot="0">
            <a:off x="13385388" y="9414246"/>
            <a:ext cx="4838090" cy="1009526"/>
          </a:xfrm>
          <a:custGeom>
            <a:avLst/>
            <a:gdLst/>
            <a:ahLst/>
            <a:cxnLst/>
            <a:rect r="r" b="b" t="t" l="l"/>
            <a:pathLst>
              <a:path h="1009526" w="4838090">
                <a:moveTo>
                  <a:pt x="0" y="0"/>
                </a:moveTo>
                <a:lnTo>
                  <a:pt x="4838090" y="0"/>
                </a:lnTo>
                <a:lnTo>
                  <a:pt x="4838090" y="1009526"/>
                </a:lnTo>
                <a:lnTo>
                  <a:pt x="0" y="1009526"/>
                </a:lnTo>
                <a:lnTo>
                  <a:pt x="0" y="0"/>
                </a:lnTo>
                <a:close/>
              </a:path>
            </a:pathLst>
          </a:custGeom>
          <a:blipFill>
            <a:blip r:embed="rId2"/>
            <a:stretch>
              <a:fillRect l="0" t="0" r="0" b="0"/>
            </a:stretch>
          </a:blipFill>
        </p:spPr>
      </p:sp>
      <p:grpSp>
        <p:nvGrpSpPr>
          <p:cNvPr name="Group 3" id="3"/>
          <p:cNvGrpSpPr/>
          <p:nvPr/>
        </p:nvGrpSpPr>
        <p:grpSpPr>
          <a:xfrm rot="0">
            <a:off x="333409" y="2204582"/>
            <a:ext cx="8333640" cy="786873"/>
            <a:chOff x="0" y="0"/>
            <a:chExt cx="2186392" cy="206442"/>
          </a:xfrm>
        </p:grpSpPr>
        <p:sp>
          <p:nvSpPr>
            <p:cNvPr name="Freeform 4" id="4"/>
            <p:cNvSpPr/>
            <p:nvPr/>
          </p:nvSpPr>
          <p:spPr>
            <a:xfrm flipH="false" flipV="false" rot="0">
              <a:off x="0" y="0"/>
              <a:ext cx="2186392" cy="206442"/>
            </a:xfrm>
            <a:custGeom>
              <a:avLst/>
              <a:gdLst/>
              <a:ahLst/>
              <a:cxnLst/>
              <a:rect r="r" b="b" t="t" l="l"/>
              <a:pathLst>
                <a:path h="206442" w="2186392">
                  <a:moveTo>
                    <a:pt x="47379" y="0"/>
                  </a:moveTo>
                  <a:lnTo>
                    <a:pt x="2139013" y="0"/>
                  </a:lnTo>
                  <a:cubicBezTo>
                    <a:pt x="2165180" y="0"/>
                    <a:pt x="2186392" y="21212"/>
                    <a:pt x="2186392" y="47379"/>
                  </a:cubicBezTo>
                  <a:lnTo>
                    <a:pt x="2186392" y="159063"/>
                  </a:lnTo>
                  <a:cubicBezTo>
                    <a:pt x="2186392" y="171629"/>
                    <a:pt x="2181400" y="183680"/>
                    <a:pt x="2172515" y="192565"/>
                  </a:cubicBezTo>
                  <a:cubicBezTo>
                    <a:pt x="2163630" y="201450"/>
                    <a:pt x="2151579" y="206442"/>
                    <a:pt x="2139013" y="206442"/>
                  </a:cubicBezTo>
                  <a:lnTo>
                    <a:pt x="47379" y="206442"/>
                  </a:lnTo>
                  <a:cubicBezTo>
                    <a:pt x="34813" y="206442"/>
                    <a:pt x="22762" y="201450"/>
                    <a:pt x="13877" y="192565"/>
                  </a:cubicBezTo>
                  <a:cubicBezTo>
                    <a:pt x="4992" y="183680"/>
                    <a:pt x="0" y="171629"/>
                    <a:pt x="0" y="159063"/>
                  </a:cubicBezTo>
                  <a:lnTo>
                    <a:pt x="0" y="47379"/>
                  </a:lnTo>
                  <a:cubicBezTo>
                    <a:pt x="0" y="34813"/>
                    <a:pt x="4992" y="22762"/>
                    <a:pt x="13877" y="13877"/>
                  </a:cubicBezTo>
                  <a:cubicBezTo>
                    <a:pt x="22762" y="4992"/>
                    <a:pt x="34813" y="0"/>
                    <a:pt x="47379" y="0"/>
                  </a:cubicBezTo>
                  <a:close/>
                </a:path>
              </a:pathLst>
            </a:custGeom>
            <a:solidFill>
              <a:srgbClr val="F4F4F4"/>
            </a:solidFill>
            <a:ln w="19050" cap="rnd">
              <a:solidFill>
                <a:srgbClr val="000000"/>
              </a:solidFill>
              <a:prstDash val="solid"/>
              <a:round/>
            </a:ln>
          </p:spPr>
        </p:sp>
        <p:sp>
          <p:nvSpPr>
            <p:cNvPr name="TextBox 5" id="5"/>
            <p:cNvSpPr txBox="true"/>
            <p:nvPr/>
          </p:nvSpPr>
          <p:spPr>
            <a:xfrm>
              <a:off x="0" y="-38100"/>
              <a:ext cx="2186392" cy="24454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9562379" y="2204582"/>
            <a:ext cx="8333640" cy="786873"/>
            <a:chOff x="0" y="0"/>
            <a:chExt cx="2186392" cy="206442"/>
          </a:xfrm>
        </p:grpSpPr>
        <p:sp>
          <p:nvSpPr>
            <p:cNvPr name="Freeform 7" id="7"/>
            <p:cNvSpPr/>
            <p:nvPr/>
          </p:nvSpPr>
          <p:spPr>
            <a:xfrm flipH="false" flipV="false" rot="0">
              <a:off x="0" y="0"/>
              <a:ext cx="2186392" cy="206442"/>
            </a:xfrm>
            <a:custGeom>
              <a:avLst/>
              <a:gdLst/>
              <a:ahLst/>
              <a:cxnLst/>
              <a:rect r="r" b="b" t="t" l="l"/>
              <a:pathLst>
                <a:path h="206442" w="2186392">
                  <a:moveTo>
                    <a:pt x="47379" y="0"/>
                  </a:moveTo>
                  <a:lnTo>
                    <a:pt x="2139013" y="0"/>
                  </a:lnTo>
                  <a:cubicBezTo>
                    <a:pt x="2165180" y="0"/>
                    <a:pt x="2186392" y="21212"/>
                    <a:pt x="2186392" y="47379"/>
                  </a:cubicBezTo>
                  <a:lnTo>
                    <a:pt x="2186392" y="159063"/>
                  </a:lnTo>
                  <a:cubicBezTo>
                    <a:pt x="2186392" y="171629"/>
                    <a:pt x="2181400" y="183680"/>
                    <a:pt x="2172515" y="192565"/>
                  </a:cubicBezTo>
                  <a:cubicBezTo>
                    <a:pt x="2163630" y="201450"/>
                    <a:pt x="2151579" y="206442"/>
                    <a:pt x="2139013" y="206442"/>
                  </a:cubicBezTo>
                  <a:lnTo>
                    <a:pt x="47379" y="206442"/>
                  </a:lnTo>
                  <a:cubicBezTo>
                    <a:pt x="34813" y="206442"/>
                    <a:pt x="22762" y="201450"/>
                    <a:pt x="13877" y="192565"/>
                  </a:cubicBezTo>
                  <a:cubicBezTo>
                    <a:pt x="4992" y="183680"/>
                    <a:pt x="0" y="171629"/>
                    <a:pt x="0" y="159063"/>
                  </a:cubicBezTo>
                  <a:lnTo>
                    <a:pt x="0" y="47379"/>
                  </a:lnTo>
                  <a:cubicBezTo>
                    <a:pt x="0" y="34813"/>
                    <a:pt x="4992" y="22762"/>
                    <a:pt x="13877" y="13877"/>
                  </a:cubicBezTo>
                  <a:cubicBezTo>
                    <a:pt x="22762" y="4992"/>
                    <a:pt x="34813" y="0"/>
                    <a:pt x="47379" y="0"/>
                  </a:cubicBezTo>
                  <a:close/>
                </a:path>
              </a:pathLst>
            </a:custGeom>
            <a:solidFill>
              <a:srgbClr val="F4F4F4"/>
            </a:solidFill>
            <a:ln w="19050" cap="rnd">
              <a:solidFill>
                <a:srgbClr val="000000"/>
              </a:solidFill>
              <a:prstDash val="solid"/>
              <a:round/>
            </a:ln>
          </p:spPr>
        </p:sp>
        <p:sp>
          <p:nvSpPr>
            <p:cNvPr name="TextBox 8" id="8"/>
            <p:cNvSpPr txBox="true"/>
            <p:nvPr/>
          </p:nvSpPr>
          <p:spPr>
            <a:xfrm>
              <a:off x="0" y="-38100"/>
              <a:ext cx="2186392" cy="24454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028700" y="3897694"/>
            <a:ext cx="7067817" cy="4547597"/>
          </a:xfrm>
          <a:custGeom>
            <a:avLst/>
            <a:gdLst/>
            <a:ahLst/>
            <a:cxnLst/>
            <a:rect r="r" b="b" t="t" l="l"/>
            <a:pathLst>
              <a:path h="4547597" w="7067817">
                <a:moveTo>
                  <a:pt x="0" y="0"/>
                </a:moveTo>
                <a:lnTo>
                  <a:pt x="7067817" y="0"/>
                </a:lnTo>
                <a:lnTo>
                  <a:pt x="7067817" y="4547597"/>
                </a:lnTo>
                <a:lnTo>
                  <a:pt x="0" y="4547597"/>
                </a:lnTo>
                <a:lnTo>
                  <a:pt x="0" y="0"/>
                </a:lnTo>
                <a:close/>
              </a:path>
            </a:pathLst>
          </a:custGeom>
          <a:blipFill>
            <a:blip r:embed="rId3"/>
            <a:stretch>
              <a:fillRect l="0" t="0" r="0" b="0"/>
            </a:stretch>
          </a:blipFill>
        </p:spPr>
      </p:sp>
      <p:sp>
        <p:nvSpPr>
          <p:cNvPr name="Freeform 10" id="10"/>
          <p:cNvSpPr/>
          <p:nvPr/>
        </p:nvSpPr>
        <p:spPr>
          <a:xfrm flipH="false" flipV="false" rot="0">
            <a:off x="10133174" y="4130748"/>
            <a:ext cx="7192051" cy="4081489"/>
          </a:xfrm>
          <a:custGeom>
            <a:avLst/>
            <a:gdLst/>
            <a:ahLst/>
            <a:cxnLst/>
            <a:rect r="r" b="b" t="t" l="l"/>
            <a:pathLst>
              <a:path h="4081489" w="7192051">
                <a:moveTo>
                  <a:pt x="0" y="0"/>
                </a:moveTo>
                <a:lnTo>
                  <a:pt x="7192051" y="0"/>
                </a:lnTo>
                <a:lnTo>
                  <a:pt x="7192051" y="4081489"/>
                </a:lnTo>
                <a:lnTo>
                  <a:pt x="0" y="4081489"/>
                </a:lnTo>
                <a:lnTo>
                  <a:pt x="0" y="0"/>
                </a:lnTo>
                <a:close/>
              </a:path>
            </a:pathLst>
          </a:custGeom>
          <a:blipFill>
            <a:blip r:embed="rId4"/>
            <a:stretch>
              <a:fillRect l="0" t="0" r="0" b="0"/>
            </a:stretch>
          </a:blipFill>
        </p:spPr>
      </p:sp>
      <p:sp>
        <p:nvSpPr>
          <p:cNvPr name="TextBox 11" id="11"/>
          <p:cNvSpPr txBox="true"/>
          <p:nvPr/>
        </p:nvSpPr>
        <p:spPr>
          <a:xfrm rot="0">
            <a:off x="3050145" y="365760"/>
            <a:ext cx="12187709" cy="662940"/>
          </a:xfrm>
          <a:prstGeom prst="rect">
            <a:avLst/>
          </a:prstGeom>
        </p:spPr>
        <p:txBody>
          <a:bodyPr anchor="t" rtlCol="false" tIns="0" lIns="0" bIns="0" rIns="0">
            <a:spAutoFit/>
          </a:bodyPr>
          <a:lstStyle/>
          <a:p>
            <a:pPr algn="l">
              <a:lnSpc>
                <a:spcPts val="4680"/>
              </a:lnSpc>
            </a:pPr>
            <a:r>
              <a:rPr lang="en-US" sz="6000" spc="-527">
                <a:solidFill>
                  <a:srgbClr val="0390A7"/>
                </a:solidFill>
                <a:latin typeface="Happy Font TH"/>
                <a:ea typeface="Happy Font TH"/>
                <a:cs typeface="Happy Font TH"/>
                <a:sym typeface="Happy Font TH"/>
              </a:rPr>
              <a:t>JOB ROLE AND DEPARTMENT ANALYSIS</a:t>
            </a:r>
          </a:p>
        </p:txBody>
      </p:sp>
      <p:sp>
        <p:nvSpPr>
          <p:cNvPr name="TextBox 12" id="12"/>
          <p:cNvSpPr txBox="true"/>
          <p:nvPr/>
        </p:nvSpPr>
        <p:spPr>
          <a:xfrm rot="0">
            <a:off x="333409" y="2428680"/>
            <a:ext cx="8333640" cy="316859"/>
          </a:xfrm>
          <a:prstGeom prst="rect">
            <a:avLst/>
          </a:prstGeom>
        </p:spPr>
        <p:txBody>
          <a:bodyPr anchor="t" rtlCol="false" tIns="0" lIns="0" bIns="0" rIns="0">
            <a:spAutoFit/>
          </a:bodyPr>
          <a:lstStyle/>
          <a:p>
            <a:pPr algn="ctr">
              <a:lnSpc>
                <a:spcPts val="2277"/>
              </a:lnSpc>
            </a:pPr>
            <a:r>
              <a:rPr lang="en-US" sz="2920" spc="-256">
                <a:solidFill>
                  <a:srgbClr val="010101"/>
                </a:solidFill>
                <a:latin typeface="Happy Font TH"/>
                <a:ea typeface="Happy Font TH"/>
                <a:cs typeface="Happy Font TH"/>
                <a:sym typeface="Happy Font TH"/>
              </a:rPr>
              <a:t>Which job roles offer the highest salary?</a:t>
            </a:r>
          </a:p>
        </p:txBody>
      </p:sp>
      <p:sp>
        <p:nvSpPr>
          <p:cNvPr name="TextBox 13" id="13"/>
          <p:cNvSpPr txBox="true"/>
          <p:nvPr/>
        </p:nvSpPr>
        <p:spPr>
          <a:xfrm rot="0">
            <a:off x="9562379" y="2428680"/>
            <a:ext cx="8333640" cy="316859"/>
          </a:xfrm>
          <a:prstGeom prst="rect">
            <a:avLst/>
          </a:prstGeom>
        </p:spPr>
        <p:txBody>
          <a:bodyPr anchor="t" rtlCol="false" tIns="0" lIns="0" bIns="0" rIns="0">
            <a:spAutoFit/>
          </a:bodyPr>
          <a:lstStyle/>
          <a:p>
            <a:pPr algn="ctr">
              <a:lnSpc>
                <a:spcPts val="2277"/>
              </a:lnSpc>
            </a:pPr>
            <a:r>
              <a:rPr lang="en-US" sz="2920" spc="-256">
                <a:solidFill>
                  <a:srgbClr val="010101"/>
                </a:solidFill>
                <a:latin typeface="Happy Font TH"/>
                <a:ea typeface="Happy Font TH"/>
                <a:cs typeface="Happy Font TH"/>
                <a:sym typeface="Happy Font TH"/>
              </a:rPr>
              <a:t>Which departments have the highest total salary allocation?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8E6E6"/>
        </a:solidFill>
      </p:bgPr>
    </p:bg>
    <p:spTree>
      <p:nvGrpSpPr>
        <p:cNvPr id="1" name=""/>
        <p:cNvGrpSpPr/>
        <p:nvPr/>
      </p:nvGrpSpPr>
      <p:grpSpPr>
        <a:xfrm>
          <a:off x="0" y="0"/>
          <a:ext cx="0" cy="0"/>
          <a:chOff x="0" y="0"/>
          <a:chExt cx="0" cy="0"/>
        </a:xfrm>
      </p:grpSpPr>
      <p:sp>
        <p:nvSpPr>
          <p:cNvPr name="Freeform 2" id="2"/>
          <p:cNvSpPr/>
          <p:nvPr/>
        </p:nvSpPr>
        <p:spPr>
          <a:xfrm flipH="false" flipV="false" rot="0">
            <a:off x="13385388" y="9414246"/>
            <a:ext cx="4838090" cy="1009526"/>
          </a:xfrm>
          <a:custGeom>
            <a:avLst/>
            <a:gdLst/>
            <a:ahLst/>
            <a:cxnLst/>
            <a:rect r="r" b="b" t="t" l="l"/>
            <a:pathLst>
              <a:path h="1009526" w="4838090">
                <a:moveTo>
                  <a:pt x="0" y="0"/>
                </a:moveTo>
                <a:lnTo>
                  <a:pt x="4838090" y="0"/>
                </a:lnTo>
                <a:lnTo>
                  <a:pt x="4838090" y="1009526"/>
                </a:lnTo>
                <a:lnTo>
                  <a:pt x="0" y="1009526"/>
                </a:lnTo>
                <a:lnTo>
                  <a:pt x="0" y="0"/>
                </a:lnTo>
                <a:close/>
              </a:path>
            </a:pathLst>
          </a:custGeom>
          <a:blipFill>
            <a:blip r:embed="rId2"/>
            <a:stretch>
              <a:fillRect l="0" t="0" r="0" b="0"/>
            </a:stretch>
          </a:blipFill>
        </p:spPr>
      </p:sp>
      <p:grpSp>
        <p:nvGrpSpPr>
          <p:cNvPr name="Group 3" id="3"/>
          <p:cNvGrpSpPr/>
          <p:nvPr/>
        </p:nvGrpSpPr>
        <p:grpSpPr>
          <a:xfrm rot="0">
            <a:off x="1510932" y="7473762"/>
            <a:ext cx="5393963" cy="509305"/>
            <a:chOff x="0" y="0"/>
            <a:chExt cx="2186392" cy="206442"/>
          </a:xfrm>
        </p:grpSpPr>
        <p:sp>
          <p:nvSpPr>
            <p:cNvPr name="Freeform 4" id="4"/>
            <p:cNvSpPr/>
            <p:nvPr/>
          </p:nvSpPr>
          <p:spPr>
            <a:xfrm flipH="false" flipV="false" rot="0">
              <a:off x="0" y="0"/>
              <a:ext cx="2186392" cy="206442"/>
            </a:xfrm>
            <a:custGeom>
              <a:avLst/>
              <a:gdLst/>
              <a:ahLst/>
              <a:cxnLst/>
              <a:rect r="r" b="b" t="t" l="l"/>
              <a:pathLst>
                <a:path h="206442" w="2186392">
                  <a:moveTo>
                    <a:pt x="73200" y="0"/>
                  </a:moveTo>
                  <a:lnTo>
                    <a:pt x="2113192" y="0"/>
                  </a:lnTo>
                  <a:cubicBezTo>
                    <a:pt x="2153619" y="0"/>
                    <a:pt x="2186392" y="32773"/>
                    <a:pt x="2186392" y="73200"/>
                  </a:cubicBezTo>
                  <a:lnTo>
                    <a:pt x="2186392" y="133242"/>
                  </a:lnTo>
                  <a:cubicBezTo>
                    <a:pt x="2186392" y="152656"/>
                    <a:pt x="2178680" y="171274"/>
                    <a:pt x="2164952" y="185002"/>
                  </a:cubicBezTo>
                  <a:cubicBezTo>
                    <a:pt x="2151225" y="198730"/>
                    <a:pt x="2132606" y="206442"/>
                    <a:pt x="2113192" y="206442"/>
                  </a:cubicBezTo>
                  <a:lnTo>
                    <a:pt x="73200" y="206442"/>
                  </a:lnTo>
                  <a:cubicBezTo>
                    <a:pt x="53786" y="206442"/>
                    <a:pt x="35167" y="198730"/>
                    <a:pt x="21440" y="185002"/>
                  </a:cubicBezTo>
                  <a:cubicBezTo>
                    <a:pt x="7712" y="171274"/>
                    <a:pt x="0" y="152656"/>
                    <a:pt x="0" y="133242"/>
                  </a:cubicBezTo>
                  <a:lnTo>
                    <a:pt x="0" y="73200"/>
                  </a:lnTo>
                  <a:cubicBezTo>
                    <a:pt x="0" y="53786"/>
                    <a:pt x="7712" y="35167"/>
                    <a:pt x="21440" y="21440"/>
                  </a:cubicBezTo>
                  <a:cubicBezTo>
                    <a:pt x="35167" y="7712"/>
                    <a:pt x="53786" y="0"/>
                    <a:pt x="73200" y="0"/>
                  </a:cubicBezTo>
                  <a:close/>
                </a:path>
              </a:pathLst>
            </a:custGeom>
            <a:solidFill>
              <a:srgbClr val="F4F4F4"/>
            </a:solidFill>
            <a:ln w="19050" cap="rnd">
              <a:solidFill>
                <a:srgbClr val="000000"/>
              </a:solidFill>
              <a:prstDash val="solid"/>
              <a:round/>
            </a:ln>
          </p:spPr>
        </p:sp>
        <p:sp>
          <p:nvSpPr>
            <p:cNvPr name="TextBox 5" id="5"/>
            <p:cNvSpPr txBox="true"/>
            <p:nvPr/>
          </p:nvSpPr>
          <p:spPr>
            <a:xfrm>
              <a:off x="0" y="-38100"/>
              <a:ext cx="2186392" cy="24454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9562379" y="2204582"/>
            <a:ext cx="8333640" cy="786873"/>
            <a:chOff x="0" y="0"/>
            <a:chExt cx="2186392" cy="206442"/>
          </a:xfrm>
        </p:grpSpPr>
        <p:sp>
          <p:nvSpPr>
            <p:cNvPr name="Freeform 7" id="7"/>
            <p:cNvSpPr/>
            <p:nvPr/>
          </p:nvSpPr>
          <p:spPr>
            <a:xfrm flipH="false" flipV="false" rot="0">
              <a:off x="0" y="0"/>
              <a:ext cx="2186392" cy="206442"/>
            </a:xfrm>
            <a:custGeom>
              <a:avLst/>
              <a:gdLst/>
              <a:ahLst/>
              <a:cxnLst/>
              <a:rect r="r" b="b" t="t" l="l"/>
              <a:pathLst>
                <a:path h="206442" w="2186392">
                  <a:moveTo>
                    <a:pt x="47379" y="0"/>
                  </a:moveTo>
                  <a:lnTo>
                    <a:pt x="2139013" y="0"/>
                  </a:lnTo>
                  <a:cubicBezTo>
                    <a:pt x="2165180" y="0"/>
                    <a:pt x="2186392" y="21212"/>
                    <a:pt x="2186392" y="47379"/>
                  </a:cubicBezTo>
                  <a:lnTo>
                    <a:pt x="2186392" y="159063"/>
                  </a:lnTo>
                  <a:cubicBezTo>
                    <a:pt x="2186392" y="171629"/>
                    <a:pt x="2181400" y="183680"/>
                    <a:pt x="2172515" y="192565"/>
                  </a:cubicBezTo>
                  <a:cubicBezTo>
                    <a:pt x="2163630" y="201450"/>
                    <a:pt x="2151579" y="206442"/>
                    <a:pt x="2139013" y="206442"/>
                  </a:cubicBezTo>
                  <a:lnTo>
                    <a:pt x="47379" y="206442"/>
                  </a:lnTo>
                  <a:cubicBezTo>
                    <a:pt x="34813" y="206442"/>
                    <a:pt x="22762" y="201450"/>
                    <a:pt x="13877" y="192565"/>
                  </a:cubicBezTo>
                  <a:cubicBezTo>
                    <a:pt x="4992" y="183680"/>
                    <a:pt x="0" y="171629"/>
                    <a:pt x="0" y="159063"/>
                  </a:cubicBezTo>
                  <a:lnTo>
                    <a:pt x="0" y="47379"/>
                  </a:lnTo>
                  <a:cubicBezTo>
                    <a:pt x="0" y="34813"/>
                    <a:pt x="4992" y="22762"/>
                    <a:pt x="13877" y="13877"/>
                  </a:cubicBezTo>
                  <a:cubicBezTo>
                    <a:pt x="22762" y="4992"/>
                    <a:pt x="34813" y="0"/>
                    <a:pt x="47379" y="0"/>
                  </a:cubicBezTo>
                  <a:close/>
                </a:path>
              </a:pathLst>
            </a:custGeom>
            <a:solidFill>
              <a:srgbClr val="F4F4F4"/>
            </a:solidFill>
            <a:ln w="19050" cap="rnd">
              <a:solidFill>
                <a:srgbClr val="000000"/>
              </a:solidFill>
              <a:prstDash val="solid"/>
              <a:round/>
            </a:ln>
          </p:spPr>
        </p:sp>
        <p:sp>
          <p:nvSpPr>
            <p:cNvPr name="TextBox 8" id="8"/>
            <p:cNvSpPr txBox="true"/>
            <p:nvPr/>
          </p:nvSpPr>
          <p:spPr>
            <a:xfrm>
              <a:off x="0" y="-38100"/>
              <a:ext cx="2186392" cy="244542"/>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526507" y="2136524"/>
            <a:ext cx="8333640" cy="786873"/>
            <a:chOff x="0" y="0"/>
            <a:chExt cx="2186392" cy="206442"/>
          </a:xfrm>
        </p:grpSpPr>
        <p:sp>
          <p:nvSpPr>
            <p:cNvPr name="Freeform 10" id="10"/>
            <p:cNvSpPr/>
            <p:nvPr/>
          </p:nvSpPr>
          <p:spPr>
            <a:xfrm flipH="false" flipV="false" rot="0">
              <a:off x="0" y="0"/>
              <a:ext cx="2186392" cy="206442"/>
            </a:xfrm>
            <a:custGeom>
              <a:avLst/>
              <a:gdLst/>
              <a:ahLst/>
              <a:cxnLst/>
              <a:rect r="r" b="b" t="t" l="l"/>
              <a:pathLst>
                <a:path h="206442" w="2186392">
                  <a:moveTo>
                    <a:pt x="47379" y="0"/>
                  </a:moveTo>
                  <a:lnTo>
                    <a:pt x="2139013" y="0"/>
                  </a:lnTo>
                  <a:cubicBezTo>
                    <a:pt x="2165180" y="0"/>
                    <a:pt x="2186392" y="21212"/>
                    <a:pt x="2186392" y="47379"/>
                  </a:cubicBezTo>
                  <a:lnTo>
                    <a:pt x="2186392" y="159063"/>
                  </a:lnTo>
                  <a:cubicBezTo>
                    <a:pt x="2186392" y="171629"/>
                    <a:pt x="2181400" y="183680"/>
                    <a:pt x="2172515" y="192565"/>
                  </a:cubicBezTo>
                  <a:cubicBezTo>
                    <a:pt x="2163630" y="201450"/>
                    <a:pt x="2151579" y="206442"/>
                    <a:pt x="2139013" y="206442"/>
                  </a:cubicBezTo>
                  <a:lnTo>
                    <a:pt x="47379" y="206442"/>
                  </a:lnTo>
                  <a:cubicBezTo>
                    <a:pt x="34813" y="206442"/>
                    <a:pt x="22762" y="201450"/>
                    <a:pt x="13877" y="192565"/>
                  </a:cubicBezTo>
                  <a:cubicBezTo>
                    <a:pt x="4992" y="183680"/>
                    <a:pt x="0" y="171629"/>
                    <a:pt x="0" y="159063"/>
                  </a:cubicBezTo>
                  <a:lnTo>
                    <a:pt x="0" y="47379"/>
                  </a:lnTo>
                  <a:cubicBezTo>
                    <a:pt x="0" y="34813"/>
                    <a:pt x="4992" y="22762"/>
                    <a:pt x="13877" y="13877"/>
                  </a:cubicBezTo>
                  <a:cubicBezTo>
                    <a:pt x="22762" y="4992"/>
                    <a:pt x="34813" y="0"/>
                    <a:pt x="47379" y="0"/>
                  </a:cubicBezTo>
                  <a:close/>
                </a:path>
              </a:pathLst>
            </a:custGeom>
            <a:solidFill>
              <a:srgbClr val="F4F4F4"/>
            </a:solidFill>
            <a:ln w="19050" cap="rnd">
              <a:solidFill>
                <a:srgbClr val="000000"/>
              </a:solidFill>
              <a:prstDash val="solid"/>
              <a:round/>
            </a:ln>
          </p:spPr>
        </p:sp>
        <p:sp>
          <p:nvSpPr>
            <p:cNvPr name="TextBox 11" id="11"/>
            <p:cNvSpPr txBox="true"/>
            <p:nvPr/>
          </p:nvSpPr>
          <p:spPr>
            <a:xfrm>
              <a:off x="0" y="-38100"/>
              <a:ext cx="2186392" cy="244542"/>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2207123" y="8202142"/>
            <a:ext cx="4452557" cy="1775457"/>
          </a:xfrm>
          <a:custGeom>
            <a:avLst/>
            <a:gdLst/>
            <a:ahLst/>
            <a:cxnLst/>
            <a:rect r="r" b="b" t="t" l="l"/>
            <a:pathLst>
              <a:path h="1775457" w="4452557">
                <a:moveTo>
                  <a:pt x="0" y="0"/>
                </a:moveTo>
                <a:lnTo>
                  <a:pt x="4452557" y="0"/>
                </a:lnTo>
                <a:lnTo>
                  <a:pt x="4452557" y="1775457"/>
                </a:lnTo>
                <a:lnTo>
                  <a:pt x="0" y="1775457"/>
                </a:lnTo>
                <a:lnTo>
                  <a:pt x="0" y="0"/>
                </a:lnTo>
                <a:close/>
              </a:path>
            </a:pathLst>
          </a:custGeom>
          <a:blipFill>
            <a:blip r:embed="rId3"/>
            <a:stretch>
              <a:fillRect l="0" t="0" r="0" b="0"/>
            </a:stretch>
          </a:blipFill>
        </p:spPr>
      </p:sp>
      <p:sp>
        <p:nvSpPr>
          <p:cNvPr name="Freeform 13" id="13"/>
          <p:cNvSpPr/>
          <p:nvPr/>
        </p:nvSpPr>
        <p:spPr>
          <a:xfrm flipH="false" flipV="false" rot="0">
            <a:off x="10140216" y="3790205"/>
            <a:ext cx="7177967" cy="4825292"/>
          </a:xfrm>
          <a:custGeom>
            <a:avLst/>
            <a:gdLst/>
            <a:ahLst/>
            <a:cxnLst/>
            <a:rect r="r" b="b" t="t" l="l"/>
            <a:pathLst>
              <a:path h="4825292" w="7177967">
                <a:moveTo>
                  <a:pt x="0" y="0"/>
                </a:moveTo>
                <a:lnTo>
                  <a:pt x="7177967" y="0"/>
                </a:lnTo>
                <a:lnTo>
                  <a:pt x="7177967" y="4825291"/>
                </a:lnTo>
                <a:lnTo>
                  <a:pt x="0" y="4825291"/>
                </a:lnTo>
                <a:lnTo>
                  <a:pt x="0" y="0"/>
                </a:lnTo>
                <a:close/>
              </a:path>
            </a:pathLst>
          </a:custGeom>
          <a:blipFill>
            <a:blip r:embed="rId4"/>
            <a:stretch>
              <a:fillRect l="0" t="0" r="0" b="0"/>
            </a:stretch>
          </a:blipFill>
        </p:spPr>
      </p:sp>
      <p:sp>
        <p:nvSpPr>
          <p:cNvPr name="Freeform 14" id="14"/>
          <p:cNvSpPr/>
          <p:nvPr/>
        </p:nvSpPr>
        <p:spPr>
          <a:xfrm flipH="false" flipV="false" rot="0">
            <a:off x="1705702" y="3242623"/>
            <a:ext cx="5975250" cy="3801753"/>
          </a:xfrm>
          <a:custGeom>
            <a:avLst/>
            <a:gdLst/>
            <a:ahLst/>
            <a:cxnLst/>
            <a:rect r="r" b="b" t="t" l="l"/>
            <a:pathLst>
              <a:path h="3801753" w="5975250">
                <a:moveTo>
                  <a:pt x="0" y="0"/>
                </a:moveTo>
                <a:lnTo>
                  <a:pt x="5975250" y="0"/>
                </a:lnTo>
                <a:lnTo>
                  <a:pt x="5975250" y="3801754"/>
                </a:lnTo>
                <a:lnTo>
                  <a:pt x="0" y="3801754"/>
                </a:lnTo>
                <a:lnTo>
                  <a:pt x="0" y="0"/>
                </a:lnTo>
                <a:close/>
              </a:path>
            </a:pathLst>
          </a:custGeom>
          <a:blipFill>
            <a:blip r:embed="rId5"/>
            <a:stretch>
              <a:fillRect l="0" t="0" r="0" b="0"/>
            </a:stretch>
          </a:blipFill>
        </p:spPr>
      </p:sp>
      <p:sp>
        <p:nvSpPr>
          <p:cNvPr name="TextBox 15" id="15"/>
          <p:cNvSpPr txBox="true"/>
          <p:nvPr/>
        </p:nvSpPr>
        <p:spPr>
          <a:xfrm rot="0">
            <a:off x="2766856" y="551042"/>
            <a:ext cx="12754287" cy="662940"/>
          </a:xfrm>
          <a:prstGeom prst="rect">
            <a:avLst/>
          </a:prstGeom>
        </p:spPr>
        <p:txBody>
          <a:bodyPr anchor="t" rtlCol="false" tIns="0" lIns="0" bIns="0" rIns="0">
            <a:spAutoFit/>
          </a:bodyPr>
          <a:lstStyle/>
          <a:p>
            <a:pPr algn="l">
              <a:lnSpc>
                <a:spcPts val="4680"/>
              </a:lnSpc>
            </a:pPr>
            <a:r>
              <a:rPr lang="en-US" sz="6000" spc="-527">
                <a:solidFill>
                  <a:srgbClr val="0390A7"/>
                </a:solidFill>
                <a:latin typeface="Happy Font TH"/>
                <a:ea typeface="Happy Font TH"/>
                <a:cs typeface="Happy Font TH"/>
                <a:sym typeface="Happy Font TH"/>
              </a:rPr>
              <a:t>QUALIFICATION AND SKILLS ANALYSIS</a:t>
            </a:r>
          </a:p>
        </p:txBody>
      </p:sp>
      <p:sp>
        <p:nvSpPr>
          <p:cNvPr name="TextBox 16" id="16"/>
          <p:cNvSpPr txBox="true"/>
          <p:nvPr/>
        </p:nvSpPr>
        <p:spPr>
          <a:xfrm rot="0">
            <a:off x="1510932" y="7630555"/>
            <a:ext cx="5393963" cy="193343"/>
          </a:xfrm>
          <a:prstGeom prst="rect">
            <a:avLst/>
          </a:prstGeom>
        </p:spPr>
        <p:txBody>
          <a:bodyPr anchor="t" rtlCol="false" tIns="0" lIns="0" bIns="0" rIns="0">
            <a:spAutoFit/>
          </a:bodyPr>
          <a:lstStyle/>
          <a:p>
            <a:pPr algn="ctr">
              <a:lnSpc>
                <a:spcPts val="1474"/>
              </a:lnSpc>
            </a:pPr>
            <a:r>
              <a:rPr lang="en-US" sz="1890" spc="-166">
                <a:solidFill>
                  <a:srgbClr val="010101"/>
                </a:solidFill>
                <a:latin typeface="Happy Font TH"/>
                <a:ea typeface="Happy Font TH"/>
                <a:cs typeface="Happy Font TH"/>
                <a:sym typeface="Happy Font TH"/>
              </a:rPr>
              <a:t>How many employees have at least one qualification listed?</a:t>
            </a:r>
          </a:p>
        </p:txBody>
      </p:sp>
      <p:sp>
        <p:nvSpPr>
          <p:cNvPr name="TextBox 17" id="17"/>
          <p:cNvSpPr txBox="true"/>
          <p:nvPr/>
        </p:nvSpPr>
        <p:spPr>
          <a:xfrm rot="0">
            <a:off x="9562379" y="2428680"/>
            <a:ext cx="8333640" cy="316859"/>
          </a:xfrm>
          <a:prstGeom prst="rect">
            <a:avLst/>
          </a:prstGeom>
        </p:spPr>
        <p:txBody>
          <a:bodyPr anchor="t" rtlCol="false" tIns="0" lIns="0" bIns="0" rIns="0">
            <a:spAutoFit/>
          </a:bodyPr>
          <a:lstStyle/>
          <a:p>
            <a:pPr algn="ctr">
              <a:lnSpc>
                <a:spcPts val="2277"/>
              </a:lnSpc>
            </a:pPr>
            <a:r>
              <a:rPr lang="en-US" sz="2920" spc="-256">
                <a:solidFill>
                  <a:srgbClr val="010101"/>
                </a:solidFill>
                <a:latin typeface="Happy Font TH"/>
                <a:ea typeface="Happy Font TH"/>
                <a:cs typeface="Happy Font TH"/>
                <a:sym typeface="Happy Font TH"/>
              </a:rPr>
              <a:t>Which positions require the most qualifications?</a:t>
            </a:r>
          </a:p>
        </p:txBody>
      </p:sp>
      <p:sp>
        <p:nvSpPr>
          <p:cNvPr name="TextBox 18" id="18"/>
          <p:cNvSpPr txBox="true"/>
          <p:nvPr/>
        </p:nvSpPr>
        <p:spPr>
          <a:xfrm rot="0">
            <a:off x="526507" y="2360622"/>
            <a:ext cx="8333640" cy="316859"/>
          </a:xfrm>
          <a:prstGeom prst="rect">
            <a:avLst/>
          </a:prstGeom>
        </p:spPr>
        <p:txBody>
          <a:bodyPr anchor="t" rtlCol="false" tIns="0" lIns="0" bIns="0" rIns="0">
            <a:spAutoFit/>
          </a:bodyPr>
          <a:lstStyle/>
          <a:p>
            <a:pPr algn="ctr">
              <a:lnSpc>
                <a:spcPts val="2277"/>
              </a:lnSpc>
            </a:pPr>
            <a:r>
              <a:rPr lang="en-US" sz="2920" spc="-256">
                <a:solidFill>
                  <a:srgbClr val="010101"/>
                </a:solidFill>
                <a:latin typeface="Happy Font TH"/>
                <a:ea typeface="Happy Font TH"/>
                <a:cs typeface="Happy Font TH"/>
                <a:sym typeface="Happy Font TH"/>
              </a:rPr>
              <a:t>Which employees have the highest number of qualifications?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8E6E6"/>
        </a:solidFill>
      </p:bgPr>
    </p:bg>
    <p:spTree>
      <p:nvGrpSpPr>
        <p:cNvPr id="1" name=""/>
        <p:cNvGrpSpPr/>
        <p:nvPr/>
      </p:nvGrpSpPr>
      <p:grpSpPr>
        <a:xfrm>
          <a:off x="0" y="0"/>
          <a:ext cx="0" cy="0"/>
          <a:chOff x="0" y="0"/>
          <a:chExt cx="0" cy="0"/>
        </a:xfrm>
      </p:grpSpPr>
      <p:sp>
        <p:nvSpPr>
          <p:cNvPr name="Freeform 2" id="2"/>
          <p:cNvSpPr/>
          <p:nvPr/>
        </p:nvSpPr>
        <p:spPr>
          <a:xfrm flipH="false" flipV="false" rot="0">
            <a:off x="13385388" y="9414246"/>
            <a:ext cx="4838090" cy="1009526"/>
          </a:xfrm>
          <a:custGeom>
            <a:avLst/>
            <a:gdLst/>
            <a:ahLst/>
            <a:cxnLst/>
            <a:rect r="r" b="b" t="t" l="l"/>
            <a:pathLst>
              <a:path h="1009526" w="4838090">
                <a:moveTo>
                  <a:pt x="0" y="0"/>
                </a:moveTo>
                <a:lnTo>
                  <a:pt x="4838090" y="0"/>
                </a:lnTo>
                <a:lnTo>
                  <a:pt x="4838090" y="1009526"/>
                </a:lnTo>
                <a:lnTo>
                  <a:pt x="0" y="1009526"/>
                </a:lnTo>
                <a:lnTo>
                  <a:pt x="0" y="0"/>
                </a:lnTo>
                <a:close/>
              </a:path>
            </a:pathLst>
          </a:custGeom>
          <a:blipFill>
            <a:blip r:embed="rId2"/>
            <a:stretch>
              <a:fillRect l="0" t="0" r="0" b="0"/>
            </a:stretch>
          </a:blipFill>
        </p:spPr>
      </p:sp>
      <p:grpSp>
        <p:nvGrpSpPr>
          <p:cNvPr name="Group 3" id="3"/>
          <p:cNvGrpSpPr/>
          <p:nvPr/>
        </p:nvGrpSpPr>
        <p:grpSpPr>
          <a:xfrm rot="0">
            <a:off x="1028700" y="1425745"/>
            <a:ext cx="6223866" cy="587665"/>
            <a:chOff x="0" y="0"/>
            <a:chExt cx="2186392" cy="206442"/>
          </a:xfrm>
        </p:grpSpPr>
        <p:sp>
          <p:nvSpPr>
            <p:cNvPr name="Freeform 4" id="4"/>
            <p:cNvSpPr/>
            <p:nvPr/>
          </p:nvSpPr>
          <p:spPr>
            <a:xfrm flipH="false" flipV="false" rot="0">
              <a:off x="0" y="0"/>
              <a:ext cx="2186392" cy="206442"/>
            </a:xfrm>
            <a:custGeom>
              <a:avLst/>
              <a:gdLst/>
              <a:ahLst/>
              <a:cxnLst/>
              <a:rect r="r" b="b" t="t" l="l"/>
              <a:pathLst>
                <a:path h="206442" w="2186392">
                  <a:moveTo>
                    <a:pt x="63439" y="0"/>
                  </a:moveTo>
                  <a:lnTo>
                    <a:pt x="2122953" y="0"/>
                  </a:lnTo>
                  <a:cubicBezTo>
                    <a:pt x="2139778" y="0"/>
                    <a:pt x="2155914" y="6684"/>
                    <a:pt x="2167811" y="18581"/>
                  </a:cubicBezTo>
                  <a:cubicBezTo>
                    <a:pt x="2179708" y="30478"/>
                    <a:pt x="2186392" y="46614"/>
                    <a:pt x="2186392" y="63439"/>
                  </a:cubicBezTo>
                  <a:lnTo>
                    <a:pt x="2186392" y="143003"/>
                  </a:lnTo>
                  <a:cubicBezTo>
                    <a:pt x="2186392" y="159828"/>
                    <a:pt x="2179708" y="175964"/>
                    <a:pt x="2167811" y="187861"/>
                  </a:cubicBezTo>
                  <a:cubicBezTo>
                    <a:pt x="2155914" y="199758"/>
                    <a:pt x="2139778" y="206442"/>
                    <a:pt x="2122953" y="206442"/>
                  </a:cubicBezTo>
                  <a:lnTo>
                    <a:pt x="63439" y="206442"/>
                  </a:lnTo>
                  <a:cubicBezTo>
                    <a:pt x="46614" y="206442"/>
                    <a:pt x="30478" y="199758"/>
                    <a:pt x="18581" y="187861"/>
                  </a:cubicBezTo>
                  <a:cubicBezTo>
                    <a:pt x="6684" y="175964"/>
                    <a:pt x="0" y="159828"/>
                    <a:pt x="0" y="143003"/>
                  </a:cubicBezTo>
                  <a:lnTo>
                    <a:pt x="0" y="63439"/>
                  </a:lnTo>
                  <a:cubicBezTo>
                    <a:pt x="0" y="46614"/>
                    <a:pt x="6684" y="30478"/>
                    <a:pt x="18581" y="18581"/>
                  </a:cubicBezTo>
                  <a:cubicBezTo>
                    <a:pt x="30478" y="6684"/>
                    <a:pt x="46614" y="0"/>
                    <a:pt x="63439" y="0"/>
                  </a:cubicBezTo>
                  <a:close/>
                </a:path>
              </a:pathLst>
            </a:custGeom>
            <a:solidFill>
              <a:srgbClr val="F4F4F4"/>
            </a:solidFill>
            <a:ln w="19050" cap="rnd">
              <a:solidFill>
                <a:srgbClr val="000000"/>
              </a:solidFill>
              <a:prstDash val="solid"/>
              <a:round/>
            </a:ln>
          </p:spPr>
        </p:sp>
        <p:sp>
          <p:nvSpPr>
            <p:cNvPr name="TextBox 5" id="5"/>
            <p:cNvSpPr txBox="true"/>
            <p:nvPr/>
          </p:nvSpPr>
          <p:spPr>
            <a:xfrm>
              <a:off x="0" y="-38100"/>
              <a:ext cx="2186392" cy="24454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8721674" y="1507747"/>
            <a:ext cx="8333640" cy="1108703"/>
            <a:chOff x="0" y="0"/>
            <a:chExt cx="2186392" cy="290876"/>
          </a:xfrm>
        </p:grpSpPr>
        <p:sp>
          <p:nvSpPr>
            <p:cNvPr name="Freeform 7" id="7"/>
            <p:cNvSpPr/>
            <p:nvPr/>
          </p:nvSpPr>
          <p:spPr>
            <a:xfrm flipH="false" flipV="false" rot="0">
              <a:off x="0" y="0"/>
              <a:ext cx="2186392" cy="290876"/>
            </a:xfrm>
            <a:custGeom>
              <a:avLst/>
              <a:gdLst/>
              <a:ahLst/>
              <a:cxnLst/>
              <a:rect r="r" b="b" t="t" l="l"/>
              <a:pathLst>
                <a:path h="290876" w="2186392">
                  <a:moveTo>
                    <a:pt x="47379" y="0"/>
                  </a:moveTo>
                  <a:lnTo>
                    <a:pt x="2139013" y="0"/>
                  </a:lnTo>
                  <a:cubicBezTo>
                    <a:pt x="2165180" y="0"/>
                    <a:pt x="2186392" y="21212"/>
                    <a:pt x="2186392" y="47379"/>
                  </a:cubicBezTo>
                  <a:lnTo>
                    <a:pt x="2186392" y="243498"/>
                  </a:lnTo>
                  <a:cubicBezTo>
                    <a:pt x="2186392" y="256063"/>
                    <a:pt x="2181400" y="268114"/>
                    <a:pt x="2172515" y="276999"/>
                  </a:cubicBezTo>
                  <a:cubicBezTo>
                    <a:pt x="2163630" y="285885"/>
                    <a:pt x="2151579" y="290876"/>
                    <a:pt x="2139013" y="290876"/>
                  </a:cubicBezTo>
                  <a:lnTo>
                    <a:pt x="47379" y="290876"/>
                  </a:lnTo>
                  <a:cubicBezTo>
                    <a:pt x="34813" y="290876"/>
                    <a:pt x="22762" y="285885"/>
                    <a:pt x="13877" y="276999"/>
                  </a:cubicBezTo>
                  <a:cubicBezTo>
                    <a:pt x="4992" y="268114"/>
                    <a:pt x="0" y="256063"/>
                    <a:pt x="0" y="243498"/>
                  </a:cubicBezTo>
                  <a:lnTo>
                    <a:pt x="0" y="47379"/>
                  </a:lnTo>
                  <a:cubicBezTo>
                    <a:pt x="0" y="34813"/>
                    <a:pt x="4992" y="22762"/>
                    <a:pt x="13877" y="13877"/>
                  </a:cubicBezTo>
                  <a:cubicBezTo>
                    <a:pt x="22762" y="4992"/>
                    <a:pt x="34813" y="0"/>
                    <a:pt x="47379" y="0"/>
                  </a:cubicBezTo>
                  <a:close/>
                </a:path>
              </a:pathLst>
            </a:custGeom>
            <a:solidFill>
              <a:srgbClr val="F4F4F4"/>
            </a:solidFill>
            <a:ln w="19050" cap="rnd">
              <a:solidFill>
                <a:srgbClr val="000000"/>
              </a:solidFill>
              <a:prstDash val="solid"/>
              <a:round/>
            </a:ln>
          </p:spPr>
        </p:sp>
        <p:sp>
          <p:nvSpPr>
            <p:cNvPr name="TextBox 8" id="8"/>
            <p:cNvSpPr txBox="true"/>
            <p:nvPr/>
          </p:nvSpPr>
          <p:spPr>
            <a:xfrm>
              <a:off x="0" y="-38100"/>
              <a:ext cx="2186392" cy="328976"/>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58754" y="4957214"/>
            <a:ext cx="8333640" cy="786873"/>
            <a:chOff x="0" y="0"/>
            <a:chExt cx="2186392" cy="206442"/>
          </a:xfrm>
        </p:grpSpPr>
        <p:sp>
          <p:nvSpPr>
            <p:cNvPr name="Freeform 10" id="10"/>
            <p:cNvSpPr/>
            <p:nvPr/>
          </p:nvSpPr>
          <p:spPr>
            <a:xfrm flipH="false" flipV="false" rot="0">
              <a:off x="0" y="0"/>
              <a:ext cx="2186392" cy="206442"/>
            </a:xfrm>
            <a:custGeom>
              <a:avLst/>
              <a:gdLst/>
              <a:ahLst/>
              <a:cxnLst/>
              <a:rect r="r" b="b" t="t" l="l"/>
              <a:pathLst>
                <a:path h="206442" w="2186392">
                  <a:moveTo>
                    <a:pt x="47379" y="0"/>
                  </a:moveTo>
                  <a:lnTo>
                    <a:pt x="2139013" y="0"/>
                  </a:lnTo>
                  <a:cubicBezTo>
                    <a:pt x="2165180" y="0"/>
                    <a:pt x="2186392" y="21212"/>
                    <a:pt x="2186392" y="47379"/>
                  </a:cubicBezTo>
                  <a:lnTo>
                    <a:pt x="2186392" y="159063"/>
                  </a:lnTo>
                  <a:cubicBezTo>
                    <a:pt x="2186392" y="171629"/>
                    <a:pt x="2181400" y="183680"/>
                    <a:pt x="2172515" y="192565"/>
                  </a:cubicBezTo>
                  <a:cubicBezTo>
                    <a:pt x="2163630" y="201450"/>
                    <a:pt x="2151579" y="206442"/>
                    <a:pt x="2139013" y="206442"/>
                  </a:cubicBezTo>
                  <a:lnTo>
                    <a:pt x="47379" y="206442"/>
                  </a:lnTo>
                  <a:cubicBezTo>
                    <a:pt x="34813" y="206442"/>
                    <a:pt x="22762" y="201450"/>
                    <a:pt x="13877" y="192565"/>
                  </a:cubicBezTo>
                  <a:cubicBezTo>
                    <a:pt x="4992" y="183680"/>
                    <a:pt x="0" y="171629"/>
                    <a:pt x="0" y="159063"/>
                  </a:cubicBezTo>
                  <a:lnTo>
                    <a:pt x="0" y="47379"/>
                  </a:lnTo>
                  <a:cubicBezTo>
                    <a:pt x="0" y="34813"/>
                    <a:pt x="4992" y="22762"/>
                    <a:pt x="13877" y="13877"/>
                  </a:cubicBezTo>
                  <a:cubicBezTo>
                    <a:pt x="22762" y="4992"/>
                    <a:pt x="34813" y="0"/>
                    <a:pt x="47379" y="0"/>
                  </a:cubicBezTo>
                  <a:close/>
                </a:path>
              </a:pathLst>
            </a:custGeom>
            <a:solidFill>
              <a:srgbClr val="F4F4F4"/>
            </a:solidFill>
            <a:ln w="19050" cap="rnd">
              <a:solidFill>
                <a:srgbClr val="000000"/>
              </a:solidFill>
              <a:prstDash val="solid"/>
              <a:round/>
            </a:ln>
          </p:spPr>
        </p:sp>
        <p:sp>
          <p:nvSpPr>
            <p:cNvPr name="TextBox 11" id="11"/>
            <p:cNvSpPr txBox="true"/>
            <p:nvPr/>
          </p:nvSpPr>
          <p:spPr>
            <a:xfrm>
              <a:off x="0" y="-38100"/>
              <a:ext cx="2186392" cy="244542"/>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778628" y="2224978"/>
            <a:ext cx="4724010" cy="2520669"/>
          </a:xfrm>
          <a:custGeom>
            <a:avLst/>
            <a:gdLst/>
            <a:ahLst/>
            <a:cxnLst/>
            <a:rect r="r" b="b" t="t" l="l"/>
            <a:pathLst>
              <a:path h="2520669" w="4724010">
                <a:moveTo>
                  <a:pt x="0" y="0"/>
                </a:moveTo>
                <a:lnTo>
                  <a:pt x="4724010" y="0"/>
                </a:lnTo>
                <a:lnTo>
                  <a:pt x="4724010" y="2520669"/>
                </a:lnTo>
                <a:lnTo>
                  <a:pt x="0" y="2520669"/>
                </a:lnTo>
                <a:lnTo>
                  <a:pt x="0" y="0"/>
                </a:lnTo>
                <a:close/>
              </a:path>
            </a:pathLst>
          </a:custGeom>
          <a:blipFill>
            <a:blip r:embed="rId3"/>
            <a:stretch>
              <a:fillRect l="0" t="0" r="0" b="0"/>
            </a:stretch>
          </a:blipFill>
        </p:spPr>
      </p:sp>
      <p:sp>
        <p:nvSpPr>
          <p:cNvPr name="Freeform 13" id="13"/>
          <p:cNvSpPr/>
          <p:nvPr/>
        </p:nvSpPr>
        <p:spPr>
          <a:xfrm flipH="false" flipV="false" rot="0">
            <a:off x="8721674" y="3725662"/>
            <a:ext cx="8673019" cy="4423239"/>
          </a:xfrm>
          <a:custGeom>
            <a:avLst/>
            <a:gdLst/>
            <a:ahLst/>
            <a:cxnLst/>
            <a:rect r="r" b="b" t="t" l="l"/>
            <a:pathLst>
              <a:path h="4423239" w="8673019">
                <a:moveTo>
                  <a:pt x="0" y="0"/>
                </a:moveTo>
                <a:lnTo>
                  <a:pt x="8673019" y="0"/>
                </a:lnTo>
                <a:lnTo>
                  <a:pt x="8673019" y="4423240"/>
                </a:lnTo>
                <a:lnTo>
                  <a:pt x="0" y="4423240"/>
                </a:lnTo>
                <a:lnTo>
                  <a:pt x="0" y="0"/>
                </a:lnTo>
                <a:close/>
              </a:path>
            </a:pathLst>
          </a:custGeom>
          <a:blipFill>
            <a:blip r:embed="rId4"/>
            <a:stretch>
              <a:fillRect l="0" t="0" r="0" b="0"/>
            </a:stretch>
          </a:blipFill>
        </p:spPr>
      </p:sp>
      <p:sp>
        <p:nvSpPr>
          <p:cNvPr name="Freeform 14" id="14"/>
          <p:cNvSpPr/>
          <p:nvPr/>
        </p:nvSpPr>
        <p:spPr>
          <a:xfrm flipH="false" flipV="false" rot="0">
            <a:off x="1435640" y="6067937"/>
            <a:ext cx="5518738" cy="3847029"/>
          </a:xfrm>
          <a:custGeom>
            <a:avLst/>
            <a:gdLst/>
            <a:ahLst/>
            <a:cxnLst/>
            <a:rect r="r" b="b" t="t" l="l"/>
            <a:pathLst>
              <a:path h="3847029" w="5518738">
                <a:moveTo>
                  <a:pt x="0" y="0"/>
                </a:moveTo>
                <a:lnTo>
                  <a:pt x="5518737" y="0"/>
                </a:lnTo>
                <a:lnTo>
                  <a:pt x="5518737" y="3847029"/>
                </a:lnTo>
                <a:lnTo>
                  <a:pt x="0" y="3847029"/>
                </a:lnTo>
                <a:lnTo>
                  <a:pt x="0" y="0"/>
                </a:lnTo>
                <a:close/>
              </a:path>
            </a:pathLst>
          </a:custGeom>
          <a:blipFill>
            <a:blip r:embed="rId5"/>
            <a:stretch>
              <a:fillRect l="0" t="0" r="0" b="0"/>
            </a:stretch>
          </a:blipFill>
        </p:spPr>
      </p:sp>
      <p:sp>
        <p:nvSpPr>
          <p:cNvPr name="TextBox 15" id="15"/>
          <p:cNvSpPr txBox="true"/>
          <p:nvPr/>
        </p:nvSpPr>
        <p:spPr>
          <a:xfrm rot="0">
            <a:off x="3050145" y="365760"/>
            <a:ext cx="9838349" cy="662940"/>
          </a:xfrm>
          <a:prstGeom prst="rect">
            <a:avLst/>
          </a:prstGeom>
        </p:spPr>
        <p:txBody>
          <a:bodyPr anchor="t" rtlCol="false" tIns="0" lIns="0" bIns="0" rIns="0">
            <a:spAutoFit/>
          </a:bodyPr>
          <a:lstStyle/>
          <a:p>
            <a:pPr algn="l">
              <a:lnSpc>
                <a:spcPts val="4680"/>
              </a:lnSpc>
            </a:pPr>
            <a:r>
              <a:rPr lang="en-US" sz="6000" spc="-527">
                <a:solidFill>
                  <a:srgbClr val="0390A7"/>
                </a:solidFill>
                <a:latin typeface="Happy Font TH"/>
                <a:ea typeface="Happy Font TH"/>
                <a:cs typeface="Happy Font TH"/>
                <a:sym typeface="Happy Font TH"/>
              </a:rPr>
              <a:t>LEAVE AND ABSENCE PATTERNS</a:t>
            </a:r>
          </a:p>
        </p:txBody>
      </p:sp>
      <p:sp>
        <p:nvSpPr>
          <p:cNvPr name="TextBox 16" id="16"/>
          <p:cNvSpPr txBox="true"/>
          <p:nvPr/>
        </p:nvSpPr>
        <p:spPr>
          <a:xfrm rot="0">
            <a:off x="1028700" y="1593472"/>
            <a:ext cx="6223866" cy="236280"/>
          </a:xfrm>
          <a:prstGeom prst="rect">
            <a:avLst/>
          </a:prstGeom>
        </p:spPr>
        <p:txBody>
          <a:bodyPr anchor="t" rtlCol="false" tIns="0" lIns="0" bIns="0" rIns="0">
            <a:spAutoFit/>
          </a:bodyPr>
          <a:lstStyle/>
          <a:p>
            <a:pPr algn="ctr">
              <a:lnSpc>
                <a:spcPts val="1701"/>
              </a:lnSpc>
            </a:pPr>
            <a:r>
              <a:rPr lang="en-US" sz="2180" spc="-191">
                <a:solidFill>
                  <a:srgbClr val="010101"/>
                </a:solidFill>
                <a:latin typeface="Happy Font TH"/>
                <a:ea typeface="Happy Font TH"/>
                <a:cs typeface="Happy Font TH"/>
                <a:sym typeface="Happy Font TH"/>
              </a:rPr>
              <a:t>Which year had the most employees taking leaves?</a:t>
            </a:r>
          </a:p>
        </p:txBody>
      </p:sp>
      <p:sp>
        <p:nvSpPr>
          <p:cNvPr name="TextBox 17" id="17"/>
          <p:cNvSpPr txBox="true"/>
          <p:nvPr/>
        </p:nvSpPr>
        <p:spPr>
          <a:xfrm rot="0">
            <a:off x="8721674" y="1731845"/>
            <a:ext cx="8333640" cy="592262"/>
          </a:xfrm>
          <a:prstGeom prst="rect">
            <a:avLst/>
          </a:prstGeom>
        </p:spPr>
        <p:txBody>
          <a:bodyPr anchor="t" rtlCol="false" tIns="0" lIns="0" bIns="0" rIns="0">
            <a:spAutoFit/>
          </a:bodyPr>
          <a:lstStyle/>
          <a:p>
            <a:pPr algn="ctr">
              <a:lnSpc>
                <a:spcPts val="2277"/>
              </a:lnSpc>
            </a:pPr>
            <a:r>
              <a:rPr lang="en-US" sz="2920" spc="-256">
                <a:solidFill>
                  <a:srgbClr val="010101"/>
                </a:solidFill>
                <a:latin typeface="Happy Font TH"/>
                <a:ea typeface="Happy Font TH"/>
                <a:cs typeface="Happy Font TH"/>
                <a:sym typeface="Happy Font TH"/>
              </a:rPr>
              <a:t>What is the average number of leave days taken by its employees per department?</a:t>
            </a:r>
          </a:p>
        </p:txBody>
      </p:sp>
      <p:sp>
        <p:nvSpPr>
          <p:cNvPr name="TextBox 18" id="18"/>
          <p:cNvSpPr txBox="true"/>
          <p:nvPr/>
        </p:nvSpPr>
        <p:spPr>
          <a:xfrm rot="0">
            <a:off x="158754" y="5181313"/>
            <a:ext cx="8333640" cy="316859"/>
          </a:xfrm>
          <a:prstGeom prst="rect">
            <a:avLst/>
          </a:prstGeom>
        </p:spPr>
        <p:txBody>
          <a:bodyPr anchor="t" rtlCol="false" tIns="0" lIns="0" bIns="0" rIns="0">
            <a:spAutoFit/>
          </a:bodyPr>
          <a:lstStyle/>
          <a:p>
            <a:pPr algn="ctr">
              <a:lnSpc>
                <a:spcPts val="2277"/>
              </a:lnSpc>
            </a:pPr>
            <a:r>
              <a:rPr lang="en-US" sz="2920" spc="-256">
                <a:solidFill>
                  <a:srgbClr val="010101"/>
                </a:solidFill>
                <a:latin typeface="Happy Font TH"/>
                <a:ea typeface="Happy Font TH"/>
                <a:cs typeface="Happy Font TH"/>
                <a:sym typeface="Happy Font TH"/>
              </a:rPr>
              <a:t>Which employees have taken the most leaves?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8E6E6"/>
        </a:solidFill>
      </p:bgPr>
    </p:bg>
    <p:spTree>
      <p:nvGrpSpPr>
        <p:cNvPr id="1" name=""/>
        <p:cNvGrpSpPr/>
        <p:nvPr/>
      </p:nvGrpSpPr>
      <p:grpSpPr>
        <a:xfrm>
          <a:off x="0" y="0"/>
          <a:ext cx="0" cy="0"/>
          <a:chOff x="0" y="0"/>
          <a:chExt cx="0" cy="0"/>
        </a:xfrm>
      </p:grpSpPr>
      <p:sp>
        <p:nvSpPr>
          <p:cNvPr name="Freeform 2" id="2"/>
          <p:cNvSpPr/>
          <p:nvPr/>
        </p:nvSpPr>
        <p:spPr>
          <a:xfrm flipH="false" flipV="false" rot="0">
            <a:off x="13385388" y="9414246"/>
            <a:ext cx="4838090" cy="1009526"/>
          </a:xfrm>
          <a:custGeom>
            <a:avLst/>
            <a:gdLst/>
            <a:ahLst/>
            <a:cxnLst/>
            <a:rect r="r" b="b" t="t" l="l"/>
            <a:pathLst>
              <a:path h="1009526" w="4838090">
                <a:moveTo>
                  <a:pt x="0" y="0"/>
                </a:moveTo>
                <a:lnTo>
                  <a:pt x="4838090" y="0"/>
                </a:lnTo>
                <a:lnTo>
                  <a:pt x="4838090" y="1009526"/>
                </a:lnTo>
                <a:lnTo>
                  <a:pt x="0" y="1009526"/>
                </a:lnTo>
                <a:lnTo>
                  <a:pt x="0" y="0"/>
                </a:lnTo>
                <a:close/>
              </a:path>
            </a:pathLst>
          </a:custGeom>
          <a:blipFill>
            <a:blip r:embed="rId2"/>
            <a:stretch>
              <a:fillRect l="0" t="0" r="0" b="0"/>
            </a:stretch>
          </a:blipFill>
        </p:spPr>
      </p:sp>
      <p:grpSp>
        <p:nvGrpSpPr>
          <p:cNvPr name="Group 3" id="3"/>
          <p:cNvGrpSpPr/>
          <p:nvPr/>
        </p:nvGrpSpPr>
        <p:grpSpPr>
          <a:xfrm rot="0">
            <a:off x="9308774" y="1920944"/>
            <a:ext cx="8333640" cy="786873"/>
            <a:chOff x="0" y="0"/>
            <a:chExt cx="2186392" cy="206442"/>
          </a:xfrm>
        </p:grpSpPr>
        <p:sp>
          <p:nvSpPr>
            <p:cNvPr name="Freeform 4" id="4"/>
            <p:cNvSpPr/>
            <p:nvPr/>
          </p:nvSpPr>
          <p:spPr>
            <a:xfrm flipH="false" flipV="false" rot="0">
              <a:off x="0" y="0"/>
              <a:ext cx="2186392" cy="206442"/>
            </a:xfrm>
            <a:custGeom>
              <a:avLst/>
              <a:gdLst/>
              <a:ahLst/>
              <a:cxnLst/>
              <a:rect r="r" b="b" t="t" l="l"/>
              <a:pathLst>
                <a:path h="206442" w="2186392">
                  <a:moveTo>
                    <a:pt x="47379" y="0"/>
                  </a:moveTo>
                  <a:lnTo>
                    <a:pt x="2139013" y="0"/>
                  </a:lnTo>
                  <a:cubicBezTo>
                    <a:pt x="2165180" y="0"/>
                    <a:pt x="2186392" y="21212"/>
                    <a:pt x="2186392" y="47379"/>
                  </a:cubicBezTo>
                  <a:lnTo>
                    <a:pt x="2186392" y="159063"/>
                  </a:lnTo>
                  <a:cubicBezTo>
                    <a:pt x="2186392" y="171629"/>
                    <a:pt x="2181400" y="183680"/>
                    <a:pt x="2172515" y="192565"/>
                  </a:cubicBezTo>
                  <a:cubicBezTo>
                    <a:pt x="2163630" y="201450"/>
                    <a:pt x="2151579" y="206442"/>
                    <a:pt x="2139013" y="206442"/>
                  </a:cubicBezTo>
                  <a:lnTo>
                    <a:pt x="47379" y="206442"/>
                  </a:lnTo>
                  <a:cubicBezTo>
                    <a:pt x="34813" y="206442"/>
                    <a:pt x="22762" y="201450"/>
                    <a:pt x="13877" y="192565"/>
                  </a:cubicBezTo>
                  <a:cubicBezTo>
                    <a:pt x="4992" y="183680"/>
                    <a:pt x="0" y="171629"/>
                    <a:pt x="0" y="159063"/>
                  </a:cubicBezTo>
                  <a:lnTo>
                    <a:pt x="0" y="47379"/>
                  </a:lnTo>
                  <a:cubicBezTo>
                    <a:pt x="0" y="34813"/>
                    <a:pt x="4992" y="22762"/>
                    <a:pt x="13877" y="13877"/>
                  </a:cubicBezTo>
                  <a:cubicBezTo>
                    <a:pt x="22762" y="4992"/>
                    <a:pt x="34813" y="0"/>
                    <a:pt x="47379" y="0"/>
                  </a:cubicBezTo>
                  <a:close/>
                </a:path>
              </a:pathLst>
            </a:custGeom>
            <a:solidFill>
              <a:srgbClr val="F4F4F4"/>
            </a:solidFill>
            <a:ln w="19050" cap="rnd">
              <a:solidFill>
                <a:srgbClr val="000000"/>
              </a:solidFill>
              <a:prstDash val="solid"/>
              <a:round/>
            </a:ln>
          </p:spPr>
        </p:sp>
        <p:sp>
          <p:nvSpPr>
            <p:cNvPr name="TextBox 5" id="5"/>
            <p:cNvSpPr txBox="true"/>
            <p:nvPr/>
          </p:nvSpPr>
          <p:spPr>
            <a:xfrm>
              <a:off x="0" y="-38100"/>
              <a:ext cx="2186392" cy="24454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397775" y="1920944"/>
            <a:ext cx="8333640" cy="786873"/>
            <a:chOff x="0" y="0"/>
            <a:chExt cx="2186392" cy="206442"/>
          </a:xfrm>
        </p:grpSpPr>
        <p:sp>
          <p:nvSpPr>
            <p:cNvPr name="Freeform 7" id="7"/>
            <p:cNvSpPr/>
            <p:nvPr/>
          </p:nvSpPr>
          <p:spPr>
            <a:xfrm flipH="false" flipV="false" rot="0">
              <a:off x="0" y="0"/>
              <a:ext cx="2186392" cy="206442"/>
            </a:xfrm>
            <a:custGeom>
              <a:avLst/>
              <a:gdLst/>
              <a:ahLst/>
              <a:cxnLst/>
              <a:rect r="r" b="b" t="t" l="l"/>
              <a:pathLst>
                <a:path h="206442" w="2186392">
                  <a:moveTo>
                    <a:pt x="47379" y="0"/>
                  </a:moveTo>
                  <a:lnTo>
                    <a:pt x="2139013" y="0"/>
                  </a:lnTo>
                  <a:cubicBezTo>
                    <a:pt x="2165180" y="0"/>
                    <a:pt x="2186392" y="21212"/>
                    <a:pt x="2186392" y="47379"/>
                  </a:cubicBezTo>
                  <a:lnTo>
                    <a:pt x="2186392" y="159063"/>
                  </a:lnTo>
                  <a:cubicBezTo>
                    <a:pt x="2186392" y="171629"/>
                    <a:pt x="2181400" y="183680"/>
                    <a:pt x="2172515" y="192565"/>
                  </a:cubicBezTo>
                  <a:cubicBezTo>
                    <a:pt x="2163630" y="201450"/>
                    <a:pt x="2151579" y="206442"/>
                    <a:pt x="2139013" y="206442"/>
                  </a:cubicBezTo>
                  <a:lnTo>
                    <a:pt x="47379" y="206442"/>
                  </a:lnTo>
                  <a:cubicBezTo>
                    <a:pt x="34813" y="206442"/>
                    <a:pt x="22762" y="201450"/>
                    <a:pt x="13877" y="192565"/>
                  </a:cubicBezTo>
                  <a:cubicBezTo>
                    <a:pt x="4992" y="183680"/>
                    <a:pt x="0" y="171629"/>
                    <a:pt x="0" y="159063"/>
                  </a:cubicBezTo>
                  <a:lnTo>
                    <a:pt x="0" y="47379"/>
                  </a:lnTo>
                  <a:cubicBezTo>
                    <a:pt x="0" y="34813"/>
                    <a:pt x="4992" y="22762"/>
                    <a:pt x="13877" y="13877"/>
                  </a:cubicBezTo>
                  <a:cubicBezTo>
                    <a:pt x="22762" y="4992"/>
                    <a:pt x="34813" y="0"/>
                    <a:pt x="47379" y="0"/>
                  </a:cubicBezTo>
                  <a:close/>
                </a:path>
              </a:pathLst>
            </a:custGeom>
            <a:solidFill>
              <a:srgbClr val="F4F4F4"/>
            </a:solidFill>
            <a:ln w="19050" cap="rnd">
              <a:solidFill>
                <a:srgbClr val="000000"/>
              </a:solidFill>
              <a:prstDash val="solid"/>
              <a:round/>
            </a:ln>
          </p:spPr>
        </p:sp>
        <p:sp>
          <p:nvSpPr>
            <p:cNvPr name="TextBox 8" id="8"/>
            <p:cNvSpPr txBox="true"/>
            <p:nvPr/>
          </p:nvSpPr>
          <p:spPr>
            <a:xfrm>
              <a:off x="0" y="-38100"/>
              <a:ext cx="2186392" cy="24454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9762588" y="3361103"/>
            <a:ext cx="7496712" cy="4694816"/>
          </a:xfrm>
          <a:custGeom>
            <a:avLst/>
            <a:gdLst/>
            <a:ahLst/>
            <a:cxnLst/>
            <a:rect r="r" b="b" t="t" l="l"/>
            <a:pathLst>
              <a:path h="4694816" w="7496712">
                <a:moveTo>
                  <a:pt x="0" y="0"/>
                </a:moveTo>
                <a:lnTo>
                  <a:pt x="7496712" y="0"/>
                </a:lnTo>
                <a:lnTo>
                  <a:pt x="7496712" y="4694815"/>
                </a:lnTo>
                <a:lnTo>
                  <a:pt x="0" y="4694815"/>
                </a:lnTo>
                <a:lnTo>
                  <a:pt x="0" y="0"/>
                </a:lnTo>
                <a:close/>
              </a:path>
            </a:pathLst>
          </a:custGeom>
          <a:blipFill>
            <a:blip r:embed="rId3"/>
            <a:stretch>
              <a:fillRect l="0" t="0" r="0" b="0"/>
            </a:stretch>
          </a:blipFill>
        </p:spPr>
      </p:sp>
      <p:sp>
        <p:nvSpPr>
          <p:cNvPr name="Freeform 10" id="10"/>
          <p:cNvSpPr/>
          <p:nvPr/>
        </p:nvSpPr>
        <p:spPr>
          <a:xfrm flipH="false" flipV="false" rot="0">
            <a:off x="1393087" y="3410664"/>
            <a:ext cx="6343016" cy="5847636"/>
          </a:xfrm>
          <a:custGeom>
            <a:avLst/>
            <a:gdLst/>
            <a:ahLst/>
            <a:cxnLst/>
            <a:rect r="r" b="b" t="t" l="l"/>
            <a:pathLst>
              <a:path h="5847636" w="6343016">
                <a:moveTo>
                  <a:pt x="0" y="0"/>
                </a:moveTo>
                <a:lnTo>
                  <a:pt x="6343016" y="0"/>
                </a:lnTo>
                <a:lnTo>
                  <a:pt x="6343016" y="5847636"/>
                </a:lnTo>
                <a:lnTo>
                  <a:pt x="0" y="5847636"/>
                </a:lnTo>
                <a:lnTo>
                  <a:pt x="0" y="0"/>
                </a:lnTo>
                <a:close/>
              </a:path>
            </a:pathLst>
          </a:custGeom>
          <a:blipFill>
            <a:blip r:embed="rId4"/>
            <a:stretch>
              <a:fillRect l="0" t="0" r="0" b="0"/>
            </a:stretch>
          </a:blipFill>
        </p:spPr>
      </p:sp>
      <p:sp>
        <p:nvSpPr>
          <p:cNvPr name="TextBox 11" id="11"/>
          <p:cNvSpPr txBox="true"/>
          <p:nvPr/>
        </p:nvSpPr>
        <p:spPr>
          <a:xfrm rot="0">
            <a:off x="3050145" y="365760"/>
            <a:ext cx="9838349" cy="662940"/>
          </a:xfrm>
          <a:prstGeom prst="rect">
            <a:avLst/>
          </a:prstGeom>
        </p:spPr>
        <p:txBody>
          <a:bodyPr anchor="t" rtlCol="false" tIns="0" lIns="0" bIns="0" rIns="0">
            <a:spAutoFit/>
          </a:bodyPr>
          <a:lstStyle/>
          <a:p>
            <a:pPr algn="l">
              <a:lnSpc>
                <a:spcPts val="4680"/>
              </a:lnSpc>
            </a:pPr>
            <a:r>
              <a:rPr lang="en-US" sz="6000" spc="-527">
                <a:solidFill>
                  <a:srgbClr val="0390A7"/>
                </a:solidFill>
                <a:latin typeface="Happy Font TH"/>
                <a:ea typeface="Happy Font TH"/>
                <a:cs typeface="Happy Font TH"/>
                <a:sym typeface="Happy Font TH"/>
              </a:rPr>
              <a:t>LEAVE AND ABSENCE PATTERNS</a:t>
            </a:r>
          </a:p>
        </p:txBody>
      </p:sp>
      <p:sp>
        <p:nvSpPr>
          <p:cNvPr name="TextBox 12" id="12"/>
          <p:cNvSpPr txBox="true"/>
          <p:nvPr/>
        </p:nvSpPr>
        <p:spPr>
          <a:xfrm rot="0">
            <a:off x="9308774" y="2145043"/>
            <a:ext cx="8333640" cy="316859"/>
          </a:xfrm>
          <a:prstGeom prst="rect">
            <a:avLst/>
          </a:prstGeom>
        </p:spPr>
        <p:txBody>
          <a:bodyPr anchor="t" rtlCol="false" tIns="0" lIns="0" bIns="0" rIns="0">
            <a:spAutoFit/>
          </a:bodyPr>
          <a:lstStyle/>
          <a:p>
            <a:pPr algn="ctr">
              <a:lnSpc>
                <a:spcPts val="2277"/>
              </a:lnSpc>
            </a:pPr>
            <a:r>
              <a:rPr lang="en-US" sz="2920" spc="-256">
                <a:solidFill>
                  <a:srgbClr val="010101"/>
                </a:solidFill>
                <a:latin typeface="Happy Font TH"/>
                <a:ea typeface="Happy Font TH"/>
                <a:cs typeface="Happy Font TH"/>
                <a:sym typeface="Happy Font TH"/>
              </a:rPr>
              <a:t>What is the total number of leave days taken company-wide?</a:t>
            </a:r>
          </a:p>
        </p:txBody>
      </p:sp>
      <p:sp>
        <p:nvSpPr>
          <p:cNvPr name="TextBox 13" id="13"/>
          <p:cNvSpPr txBox="true"/>
          <p:nvPr/>
        </p:nvSpPr>
        <p:spPr>
          <a:xfrm rot="0">
            <a:off x="397775" y="2145043"/>
            <a:ext cx="8333640" cy="316859"/>
          </a:xfrm>
          <a:prstGeom prst="rect">
            <a:avLst/>
          </a:prstGeom>
        </p:spPr>
        <p:txBody>
          <a:bodyPr anchor="t" rtlCol="false" tIns="0" lIns="0" bIns="0" rIns="0">
            <a:spAutoFit/>
          </a:bodyPr>
          <a:lstStyle/>
          <a:p>
            <a:pPr algn="ctr">
              <a:lnSpc>
                <a:spcPts val="2277"/>
              </a:lnSpc>
            </a:pPr>
            <a:r>
              <a:rPr lang="en-US" sz="2920" spc="-256">
                <a:solidFill>
                  <a:srgbClr val="010101"/>
                </a:solidFill>
                <a:latin typeface="Happy Font TH"/>
                <a:ea typeface="Happy Font TH"/>
                <a:cs typeface="Happy Font TH"/>
                <a:sym typeface="Happy Font TH"/>
              </a:rPr>
              <a:t>How do leave days correlate with payroll amounts?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8E6E6"/>
        </a:solidFill>
      </p:bgPr>
    </p:bg>
    <p:spTree>
      <p:nvGrpSpPr>
        <p:cNvPr id="1" name=""/>
        <p:cNvGrpSpPr/>
        <p:nvPr/>
      </p:nvGrpSpPr>
      <p:grpSpPr>
        <a:xfrm>
          <a:off x="0" y="0"/>
          <a:ext cx="0" cy="0"/>
          <a:chOff x="0" y="0"/>
          <a:chExt cx="0" cy="0"/>
        </a:xfrm>
      </p:grpSpPr>
      <p:sp>
        <p:nvSpPr>
          <p:cNvPr name="Freeform 2" id="2"/>
          <p:cNvSpPr/>
          <p:nvPr/>
        </p:nvSpPr>
        <p:spPr>
          <a:xfrm flipH="false" flipV="false" rot="0">
            <a:off x="13385388" y="9414246"/>
            <a:ext cx="4838090" cy="1009526"/>
          </a:xfrm>
          <a:custGeom>
            <a:avLst/>
            <a:gdLst/>
            <a:ahLst/>
            <a:cxnLst/>
            <a:rect r="r" b="b" t="t" l="l"/>
            <a:pathLst>
              <a:path h="1009526" w="4838090">
                <a:moveTo>
                  <a:pt x="0" y="0"/>
                </a:moveTo>
                <a:lnTo>
                  <a:pt x="4838090" y="0"/>
                </a:lnTo>
                <a:lnTo>
                  <a:pt x="4838090" y="1009526"/>
                </a:lnTo>
                <a:lnTo>
                  <a:pt x="0" y="1009526"/>
                </a:lnTo>
                <a:lnTo>
                  <a:pt x="0" y="0"/>
                </a:lnTo>
                <a:close/>
              </a:path>
            </a:pathLst>
          </a:custGeom>
          <a:blipFill>
            <a:blip r:embed="rId2"/>
            <a:stretch>
              <a:fillRect l="0" t="0" r="0" b="0"/>
            </a:stretch>
          </a:blipFill>
        </p:spPr>
      </p:sp>
      <p:grpSp>
        <p:nvGrpSpPr>
          <p:cNvPr name="Group 3" id="3"/>
          <p:cNvGrpSpPr/>
          <p:nvPr/>
        </p:nvGrpSpPr>
        <p:grpSpPr>
          <a:xfrm rot="0">
            <a:off x="333409" y="2204582"/>
            <a:ext cx="8333640" cy="786873"/>
            <a:chOff x="0" y="0"/>
            <a:chExt cx="2186392" cy="206442"/>
          </a:xfrm>
        </p:grpSpPr>
        <p:sp>
          <p:nvSpPr>
            <p:cNvPr name="Freeform 4" id="4"/>
            <p:cNvSpPr/>
            <p:nvPr/>
          </p:nvSpPr>
          <p:spPr>
            <a:xfrm flipH="false" flipV="false" rot="0">
              <a:off x="0" y="0"/>
              <a:ext cx="2186392" cy="206442"/>
            </a:xfrm>
            <a:custGeom>
              <a:avLst/>
              <a:gdLst/>
              <a:ahLst/>
              <a:cxnLst/>
              <a:rect r="r" b="b" t="t" l="l"/>
              <a:pathLst>
                <a:path h="206442" w="2186392">
                  <a:moveTo>
                    <a:pt x="47379" y="0"/>
                  </a:moveTo>
                  <a:lnTo>
                    <a:pt x="2139013" y="0"/>
                  </a:lnTo>
                  <a:cubicBezTo>
                    <a:pt x="2165180" y="0"/>
                    <a:pt x="2186392" y="21212"/>
                    <a:pt x="2186392" y="47379"/>
                  </a:cubicBezTo>
                  <a:lnTo>
                    <a:pt x="2186392" y="159063"/>
                  </a:lnTo>
                  <a:cubicBezTo>
                    <a:pt x="2186392" y="171629"/>
                    <a:pt x="2181400" y="183680"/>
                    <a:pt x="2172515" y="192565"/>
                  </a:cubicBezTo>
                  <a:cubicBezTo>
                    <a:pt x="2163630" y="201450"/>
                    <a:pt x="2151579" y="206442"/>
                    <a:pt x="2139013" y="206442"/>
                  </a:cubicBezTo>
                  <a:lnTo>
                    <a:pt x="47379" y="206442"/>
                  </a:lnTo>
                  <a:cubicBezTo>
                    <a:pt x="34813" y="206442"/>
                    <a:pt x="22762" y="201450"/>
                    <a:pt x="13877" y="192565"/>
                  </a:cubicBezTo>
                  <a:cubicBezTo>
                    <a:pt x="4992" y="183680"/>
                    <a:pt x="0" y="171629"/>
                    <a:pt x="0" y="159063"/>
                  </a:cubicBezTo>
                  <a:lnTo>
                    <a:pt x="0" y="47379"/>
                  </a:lnTo>
                  <a:cubicBezTo>
                    <a:pt x="0" y="34813"/>
                    <a:pt x="4992" y="22762"/>
                    <a:pt x="13877" y="13877"/>
                  </a:cubicBezTo>
                  <a:cubicBezTo>
                    <a:pt x="22762" y="4992"/>
                    <a:pt x="34813" y="0"/>
                    <a:pt x="47379" y="0"/>
                  </a:cubicBezTo>
                  <a:close/>
                </a:path>
              </a:pathLst>
            </a:custGeom>
            <a:solidFill>
              <a:srgbClr val="F4F4F4"/>
            </a:solidFill>
            <a:ln w="19050" cap="rnd">
              <a:solidFill>
                <a:srgbClr val="000000"/>
              </a:solidFill>
              <a:prstDash val="solid"/>
              <a:round/>
            </a:ln>
          </p:spPr>
        </p:sp>
        <p:sp>
          <p:nvSpPr>
            <p:cNvPr name="TextBox 5" id="5"/>
            <p:cNvSpPr txBox="true"/>
            <p:nvPr/>
          </p:nvSpPr>
          <p:spPr>
            <a:xfrm>
              <a:off x="0" y="-38100"/>
              <a:ext cx="2186392" cy="24454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9562379" y="2204582"/>
            <a:ext cx="8333640" cy="786873"/>
            <a:chOff x="0" y="0"/>
            <a:chExt cx="2186392" cy="206442"/>
          </a:xfrm>
        </p:grpSpPr>
        <p:sp>
          <p:nvSpPr>
            <p:cNvPr name="Freeform 7" id="7"/>
            <p:cNvSpPr/>
            <p:nvPr/>
          </p:nvSpPr>
          <p:spPr>
            <a:xfrm flipH="false" flipV="false" rot="0">
              <a:off x="0" y="0"/>
              <a:ext cx="2186392" cy="206442"/>
            </a:xfrm>
            <a:custGeom>
              <a:avLst/>
              <a:gdLst/>
              <a:ahLst/>
              <a:cxnLst/>
              <a:rect r="r" b="b" t="t" l="l"/>
              <a:pathLst>
                <a:path h="206442" w="2186392">
                  <a:moveTo>
                    <a:pt x="47379" y="0"/>
                  </a:moveTo>
                  <a:lnTo>
                    <a:pt x="2139013" y="0"/>
                  </a:lnTo>
                  <a:cubicBezTo>
                    <a:pt x="2165180" y="0"/>
                    <a:pt x="2186392" y="21212"/>
                    <a:pt x="2186392" y="47379"/>
                  </a:cubicBezTo>
                  <a:lnTo>
                    <a:pt x="2186392" y="159063"/>
                  </a:lnTo>
                  <a:cubicBezTo>
                    <a:pt x="2186392" y="171629"/>
                    <a:pt x="2181400" y="183680"/>
                    <a:pt x="2172515" y="192565"/>
                  </a:cubicBezTo>
                  <a:cubicBezTo>
                    <a:pt x="2163630" y="201450"/>
                    <a:pt x="2151579" y="206442"/>
                    <a:pt x="2139013" y="206442"/>
                  </a:cubicBezTo>
                  <a:lnTo>
                    <a:pt x="47379" y="206442"/>
                  </a:lnTo>
                  <a:cubicBezTo>
                    <a:pt x="34813" y="206442"/>
                    <a:pt x="22762" y="201450"/>
                    <a:pt x="13877" y="192565"/>
                  </a:cubicBezTo>
                  <a:cubicBezTo>
                    <a:pt x="4992" y="183680"/>
                    <a:pt x="0" y="171629"/>
                    <a:pt x="0" y="159063"/>
                  </a:cubicBezTo>
                  <a:lnTo>
                    <a:pt x="0" y="47379"/>
                  </a:lnTo>
                  <a:cubicBezTo>
                    <a:pt x="0" y="34813"/>
                    <a:pt x="4992" y="22762"/>
                    <a:pt x="13877" y="13877"/>
                  </a:cubicBezTo>
                  <a:cubicBezTo>
                    <a:pt x="22762" y="4992"/>
                    <a:pt x="34813" y="0"/>
                    <a:pt x="47379" y="0"/>
                  </a:cubicBezTo>
                  <a:close/>
                </a:path>
              </a:pathLst>
            </a:custGeom>
            <a:solidFill>
              <a:srgbClr val="F4F4F4"/>
            </a:solidFill>
            <a:ln w="19050" cap="rnd">
              <a:solidFill>
                <a:srgbClr val="000000"/>
              </a:solidFill>
              <a:prstDash val="solid"/>
              <a:round/>
            </a:ln>
          </p:spPr>
        </p:sp>
        <p:sp>
          <p:nvSpPr>
            <p:cNvPr name="TextBox 8" id="8"/>
            <p:cNvSpPr txBox="true"/>
            <p:nvPr/>
          </p:nvSpPr>
          <p:spPr>
            <a:xfrm>
              <a:off x="0" y="-38100"/>
              <a:ext cx="2186392" cy="24454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832141" y="4277330"/>
            <a:ext cx="5831440" cy="3092967"/>
          </a:xfrm>
          <a:custGeom>
            <a:avLst/>
            <a:gdLst/>
            <a:ahLst/>
            <a:cxnLst/>
            <a:rect r="r" b="b" t="t" l="l"/>
            <a:pathLst>
              <a:path h="3092967" w="5831440">
                <a:moveTo>
                  <a:pt x="0" y="0"/>
                </a:moveTo>
                <a:lnTo>
                  <a:pt x="5831440" y="0"/>
                </a:lnTo>
                <a:lnTo>
                  <a:pt x="5831440" y="3092967"/>
                </a:lnTo>
                <a:lnTo>
                  <a:pt x="0" y="3092967"/>
                </a:lnTo>
                <a:lnTo>
                  <a:pt x="0" y="0"/>
                </a:lnTo>
                <a:close/>
              </a:path>
            </a:pathLst>
          </a:custGeom>
          <a:blipFill>
            <a:blip r:embed="rId3"/>
            <a:stretch>
              <a:fillRect l="0" t="0" r="0" b="0"/>
            </a:stretch>
          </a:blipFill>
        </p:spPr>
      </p:sp>
      <p:sp>
        <p:nvSpPr>
          <p:cNvPr name="Freeform 10" id="10"/>
          <p:cNvSpPr/>
          <p:nvPr/>
        </p:nvSpPr>
        <p:spPr>
          <a:xfrm flipH="false" flipV="false" rot="0">
            <a:off x="9562379" y="3304526"/>
            <a:ext cx="7633301" cy="5953774"/>
          </a:xfrm>
          <a:custGeom>
            <a:avLst/>
            <a:gdLst/>
            <a:ahLst/>
            <a:cxnLst/>
            <a:rect r="r" b="b" t="t" l="l"/>
            <a:pathLst>
              <a:path h="5953774" w="7633301">
                <a:moveTo>
                  <a:pt x="0" y="0"/>
                </a:moveTo>
                <a:lnTo>
                  <a:pt x="7633302" y="0"/>
                </a:lnTo>
                <a:lnTo>
                  <a:pt x="7633302" y="5953774"/>
                </a:lnTo>
                <a:lnTo>
                  <a:pt x="0" y="5953774"/>
                </a:lnTo>
                <a:lnTo>
                  <a:pt x="0" y="0"/>
                </a:lnTo>
                <a:close/>
              </a:path>
            </a:pathLst>
          </a:custGeom>
          <a:blipFill>
            <a:blip r:embed="rId4"/>
            <a:stretch>
              <a:fillRect l="0" t="0" r="0" b="0"/>
            </a:stretch>
          </a:blipFill>
        </p:spPr>
      </p:sp>
      <p:sp>
        <p:nvSpPr>
          <p:cNvPr name="TextBox 11" id="11"/>
          <p:cNvSpPr txBox="true"/>
          <p:nvPr/>
        </p:nvSpPr>
        <p:spPr>
          <a:xfrm rot="0">
            <a:off x="3050145" y="365760"/>
            <a:ext cx="9838349" cy="662940"/>
          </a:xfrm>
          <a:prstGeom prst="rect">
            <a:avLst/>
          </a:prstGeom>
        </p:spPr>
        <p:txBody>
          <a:bodyPr anchor="t" rtlCol="false" tIns="0" lIns="0" bIns="0" rIns="0">
            <a:spAutoFit/>
          </a:bodyPr>
          <a:lstStyle/>
          <a:p>
            <a:pPr algn="l">
              <a:lnSpc>
                <a:spcPts val="4680"/>
              </a:lnSpc>
            </a:pPr>
            <a:r>
              <a:rPr lang="en-US" sz="6000" spc="-527">
                <a:solidFill>
                  <a:srgbClr val="0390A7"/>
                </a:solidFill>
                <a:latin typeface="Happy Font TH"/>
                <a:ea typeface="Happy Font TH"/>
                <a:cs typeface="Happy Font TH"/>
                <a:sym typeface="Happy Font TH"/>
              </a:rPr>
              <a:t>LEAVE AND ABSENCE PATTERNS</a:t>
            </a:r>
          </a:p>
        </p:txBody>
      </p:sp>
      <p:sp>
        <p:nvSpPr>
          <p:cNvPr name="TextBox 12" id="12"/>
          <p:cNvSpPr txBox="true"/>
          <p:nvPr/>
        </p:nvSpPr>
        <p:spPr>
          <a:xfrm rot="0">
            <a:off x="333409" y="2428680"/>
            <a:ext cx="8333640" cy="316859"/>
          </a:xfrm>
          <a:prstGeom prst="rect">
            <a:avLst/>
          </a:prstGeom>
        </p:spPr>
        <p:txBody>
          <a:bodyPr anchor="t" rtlCol="false" tIns="0" lIns="0" bIns="0" rIns="0">
            <a:spAutoFit/>
          </a:bodyPr>
          <a:lstStyle/>
          <a:p>
            <a:pPr algn="ctr">
              <a:lnSpc>
                <a:spcPts val="2277"/>
              </a:lnSpc>
            </a:pPr>
            <a:r>
              <a:rPr lang="en-US" sz="2920" spc="-256">
                <a:solidFill>
                  <a:srgbClr val="010101"/>
                </a:solidFill>
                <a:latin typeface="Happy Font TH"/>
                <a:ea typeface="Happy Font TH"/>
                <a:cs typeface="Happy Font TH"/>
                <a:sym typeface="Happy Font TH"/>
              </a:rPr>
              <a:t>Which year had the most employees taking leaves?</a:t>
            </a:r>
          </a:p>
        </p:txBody>
      </p:sp>
      <p:sp>
        <p:nvSpPr>
          <p:cNvPr name="TextBox 13" id="13"/>
          <p:cNvSpPr txBox="true"/>
          <p:nvPr/>
        </p:nvSpPr>
        <p:spPr>
          <a:xfrm rot="0">
            <a:off x="9562379" y="2428680"/>
            <a:ext cx="8333640" cy="592262"/>
          </a:xfrm>
          <a:prstGeom prst="rect">
            <a:avLst/>
          </a:prstGeom>
        </p:spPr>
        <p:txBody>
          <a:bodyPr anchor="t" rtlCol="false" tIns="0" lIns="0" bIns="0" rIns="0">
            <a:spAutoFit/>
          </a:bodyPr>
          <a:lstStyle/>
          <a:p>
            <a:pPr algn="ctr">
              <a:lnSpc>
                <a:spcPts val="2277"/>
              </a:lnSpc>
            </a:pPr>
            <a:r>
              <a:rPr lang="en-US" sz="2920" spc="-256">
                <a:solidFill>
                  <a:srgbClr val="010101"/>
                </a:solidFill>
                <a:latin typeface="Happy Font TH"/>
                <a:ea typeface="Happy Font TH"/>
                <a:cs typeface="Happy Font TH"/>
                <a:sym typeface="Happy Font TH"/>
              </a:rPr>
              <a:t>What is the average number of leave days taken by its employees per department?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8E6E6"/>
        </a:solidFill>
      </p:bgPr>
    </p:bg>
    <p:spTree>
      <p:nvGrpSpPr>
        <p:cNvPr id="1" name=""/>
        <p:cNvGrpSpPr/>
        <p:nvPr/>
      </p:nvGrpSpPr>
      <p:grpSpPr>
        <a:xfrm>
          <a:off x="0" y="0"/>
          <a:ext cx="0" cy="0"/>
          <a:chOff x="0" y="0"/>
          <a:chExt cx="0" cy="0"/>
        </a:xfrm>
      </p:grpSpPr>
      <p:sp>
        <p:nvSpPr>
          <p:cNvPr name="Freeform 2" id="2"/>
          <p:cNvSpPr/>
          <p:nvPr/>
        </p:nvSpPr>
        <p:spPr>
          <a:xfrm flipH="false" flipV="false" rot="0">
            <a:off x="13385388" y="9414246"/>
            <a:ext cx="4838090" cy="1009526"/>
          </a:xfrm>
          <a:custGeom>
            <a:avLst/>
            <a:gdLst/>
            <a:ahLst/>
            <a:cxnLst/>
            <a:rect r="r" b="b" t="t" l="l"/>
            <a:pathLst>
              <a:path h="1009526" w="4838090">
                <a:moveTo>
                  <a:pt x="0" y="0"/>
                </a:moveTo>
                <a:lnTo>
                  <a:pt x="4838090" y="0"/>
                </a:lnTo>
                <a:lnTo>
                  <a:pt x="4838090" y="1009526"/>
                </a:lnTo>
                <a:lnTo>
                  <a:pt x="0" y="1009526"/>
                </a:lnTo>
                <a:lnTo>
                  <a:pt x="0" y="0"/>
                </a:lnTo>
                <a:close/>
              </a:path>
            </a:pathLst>
          </a:custGeom>
          <a:blipFill>
            <a:blip r:embed="rId2"/>
            <a:stretch>
              <a:fillRect l="0" t="0" r="0" b="0"/>
            </a:stretch>
          </a:blipFill>
        </p:spPr>
      </p:sp>
      <p:grpSp>
        <p:nvGrpSpPr>
          <p:cNvPr name="Group 3" id="3"/>
          <p:cNvGrpSpPr/>
          <p:nvPr/>
        </p:nvGrpSpPr>
        <p:grpSpPr>
          <a:xfrm rot="0">
            <a:off x="333409" y="2204582"/>
            <a:ext cx="8333640" cy="786873"/>
            <a:chOff x="0" y="0"/>
            <a:chExt cx="2186392" cy="206442"/>
          </a:xfrm>
        </p:grpSpPr>
        <p:sp>
          <p:nvSpPr>
            <p:cNvPr name="Freeform 4" id="4"/>
            <p:cNvSpPr/>
            <p:nvPr/>
          </p:nvSpPr>
          <p:spPr>
            <a:xfrm flipH="false" flipV="false" rot="0">
              <a:off x="0" y="0"/>
              <a:ext cx="2186392" cy="206442"/>
            </a:xfrm>
            <a:custGeom>
              <a:avLst/>
              <a:gdLst/>
              <a:ahLst/>
              <a:cxnLst/>
              <a:rect r="r" b="b" t="t" l="l"/>
              <a:pathLst>
                <a:path h="206442" w="2186392">
                  <a:moveTo>
                    <a:pt x="47379" y="0"/>
                  </a:moveTo>
                  <a:lnTo>
                    <a:pt x="2139013" y="0"/>
                  </a:lnTo>
                  <a:cubicBezTo>
                    <a:pt x="2165180" y="0"/>
                    <a:pt x="2186392" y="21212"/>
                    <a:pt x="2186392" y="47379"/>
                  </a:cubicBezTo>
                  <a:lnTo>
                    <a:pt x="2186392" y="159063"/>
                  </a:lnTo>
                  <a:cubicBezTo>
                    <a:pt x="2186392" y="171629"/>
                    <a:pt x="2181400" y="183680"/>
                    <a:pt x="2172515" y="192565"/>
                  </a:cubicBezTo>
                  <a:cubicBezTo>
                    <a:pt x="2163630" y="201450"/>
                    <a:pt x="2151579" y="206442"/>
                    <a:pt x="2139013" y="206442"/>
                  </a:cubicBezTo>
                  <a:lnTo>
                    <a:pt x="47379" y="206442"/>
                  </a:lnTo>
                  <a:cubicBezTo>
                    <a:pt x="34813" y="206442"/>
                    <a:pt x="22762" y="201450"/>
                    <a:pt x="13877" y="192565"/>
                  </a:cubicBezTo>
                  <a:cubicBezTo>
                    <a:pt x="4992" y="183680"/>
                    <a:pt x="0" y="171629"/>
                    <a:pt x="0" y="159063"/>
                  </a:cubicBezTo>
                  <a:lnTo>
                    <a:pt x="0" y="47379"/>
                  </a:lnTo>
                  <a:cubicBezTo>
                    <a:pt x="0" y="34813"/>
                    <a:pt x="4992" y="22762"/>
                    <a:pt x="13877" y="13877"/>
                  </a:cubicBezTo>
                  <a:cubicBezTo>
                    <a:pt x="22762" y="4992"/>
                    <a:pt x="34813" y="0"/>
                    <a:pt x="47379" y="0"/>
                  </a:cubicBezTo>
                  <a:close/>
                </a:path>
              </a:pathLst>
            </a:custGeom>
            <a:solidFill>
              <a:srgbClr val="F4F4F4"/>
            </a:solidFill>
            <a:ln w="19050" cap="rnd">
              <a:solidFill>
                <a:srgbClr val="000000"/>
              </a:solidFill>
              <a:prstDash val="solid"/>
              <a:round/>
            </a:ln>
          </p:spPr>
        </p:sp>
        <p:sp>
          <p:nvSpPr>
            <p:cNvPr name="TextBox 5" id="5"/>
            <p:cNvSpPr txBox="true"/>
            <p:nvPr/>
          </p:nvSpPr>
          <p:spPr>
            <a:xfrm>
              <a:off x="0" y="-38100"/>
              <a:ext cx="2186392" cy="24454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9562379" y="2204582"/>
            <a:ext cx="8333640" cy="786873"/>
            <a:chOff x="0" y="0"/>
            <a:chExt cx="2186392" cy="206442"/>
          </a:xfrm>
        </p:grpSpPr>
        <p:sp>
          <p:nvSpPr>
            <p:cNvPr name="Freeform 7" id="7"/>
            <p:cNvSpPr/>
            <p:nvPr/>
          </p:nvSpPr>
          <p:spPr>
            <a:xfrm flipH="false" flipV="false" rot="0">
              <a:off x="0" y="0"/>
              <a:ext cx="2186392" cy="206442"/>
            </a:xfrm>
            <a:custGeom>
              <a:avLst/>
              <a:gdLst/>
              <a:ahLst/>
              <a:cxnLst/>
              <a:rect r="r" b="b" t="t" l="l"/>
              <a:pathLst>
                <a:path h="206442" w="2186392">
                  <a:moveTo>
                    <a:pt x="47379" y="0"/>
                  </a:moveTo>
                  <a:lnTo>
                    <a:pt x="2139013" y="0"/>
                  </a:lnTo>
                  <a:cubicBezTo>
                    <a:pt x="2165180" y="0"/>
                    <a:pt x="2186392" y="21212"/>
                    <a:pt x="2186392" y="47379"/>
                  </a:cubicBezTo>
                  <a:lnTo>
                    <a:pt x="2186392" y="159063"/>
                  </a:lnTo>
                  <a:cubicBezTo>
                    <a:pt x="2186392" y="171629"/>
                    <a:pt x="2181400" y="183680"/>
                    <a:pt x="2172515" y="192565"/>
                  </a:cubicBezTo>
                  <a:cubicBezTo>
                    <a:pt x="2163630" y="201450"/>
                    <a:pt x="2151579" y="206442"/>
                    <a:pt x="2139013" y="206442"/>
                  </a:cubicBezTo>
                  <a:lnTo>
                    <a:pt x="47379" y="206442"/>
                  </a:lnTo>
                  <a:cubicBezTo>
                    <a:pt x="34813" y="206442"/>
                    <a:pt x="22762" y="201450"/>
                    <a:pt x="13877" y="192565"/>
                  </a:cubicBezTo>
                  <a:cubicBezTo>
                    <a:pt x="4992" y="183680"/>
                    <a:pt x="0" y="171629"/>
                    <a:pt x="0" y="159063"/>
                  </a:cubicBezTo>
                  <a:lnTo>
                    <a:pt x="0" y="47379"/>
                  </a:lnTo>
                  <a:cubicBezTo>
                    <a:pt x="0" y="34813"/>
                    <a:pt x="4992" y="22762"/>
                    <a:pt x="13877" y="13877"/>
                  </a:cubicBezTo>
                  <a:cubicBezTo>
                    <a:pt x="22762" y="4992"/>
                    <a:pt x="34813" y="0"/>
                    <a:pt x="47379" y="0"/>
                  </a:cubicBezTo>
                  <a:close/>
                </a:path>
              </a:pathLst>
            </a:custGeom>
            <a:solidFill>
              <a:srgbClr val="F4F4F4"/>
            </a:solidFill>
            <a:ln w="19050" cap="rnd">
              <a:solidFill>
                <a:srgbClr val="000000"/>
              </a:solidFill>
              <a:prstDash val="solid"/>
              <a:round/>
            </a:ln>
          </p:spPr>
        </p:sp>
        <p:sp>
          <p:nvSpPr>
            <p:cNvPr name="TextBox 8" id="8"/>
            <p:cNvSpPr txBox="true"/>
            <p:nvPr/>
          </p:nvSpPr>
          <p:spPr>
            <a:xfrm>
              <a:off x="0" y="-38100"/>
              <a:ext cx="2186392" cy="24454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506619" y="3533121"/>
            <a:ext cx="8160429" cy="5725179"/>
          </a:xfrm>
          <a:custGeom>
            <a:avLst/>
            <a:gdLst/>
            <a:ahLst/>
            <a:cxnLst/>
            <a:rect r="r" b="b" t="t" l="l"/>
            <a:pathLst>
              <a:path h="5725179" w="8160429">
                <a:moveTo>
                  <a:pt x="0" y="0"/>
                </a:moveTo>
                <a:lnTo>
                  <a:pt x="8160430" y="0"/>
                </a:lnTo>
                <a:lnTo>
                  <a:pt x="8160430" y="5725179"/>
                </a:lnTo>
                <a:lnTo>
                  <a:pt x="0" y="5725179"/>
                </a:lnTo>
                <a:lnTo>
                  <a:pt x="0" y="0"/>
                </a:lnTo>
                <a:close/>
              </a:path>
            </a:pathLst>
          </a:custGeom>
          <a:blipFill>
            <a:blip r:embed="rId3"/>
            <a:stretch>
              <a:fillRect l="0" t="0" r="0" b="0"/>
            </a:stretch>
          </a:blipFill>
        </p:spPr>
      </p:sp>
      <p:sp>
        <p:nvSpPr>
          <p:cNvPr name="Freeform 10" id="10"/>
          <p:cNvSpPr/>
          <p:nvPr/>
        </p:nvSpPr>
        <p:spPr>
          <a:xfrm flipH="false" flipV="false" rot="0">
            <a:off x="10696194" y="3401826"/>
            <a:ext cx="6563106" cy="5856474"/>
          </a:xfrm>
          <a:custGeom>
            <a:avLst/>
            <a:gdLst/>
            <a:ahLst/>
            <a:cxnLst/>
            <a:rect r="r" b="b" t="t" l="l"/>
            <a:pathLst>
              <a:path h="5856474" w="6563106">
                <a:moveTo>
                  <a:pt x="0" y="0"/>
                </a:moveTo>
                <a:lnTo>
                  <a:pt x="6563106" y="0"/>
                </a:lnTo>
                <a:lnTo>
                  <a:pt x="6563106" y="5856474"/>
                </a:lnTo>
                <a:lnTo>
                  <a:pt x="0" y="5856474"/>
                </a:lnTo>
                <a:lnTo>
                  <a:pt x="0" y="0"/>
                </a:lnTo>
                <a:close/>
              </a:path>
            </a:pathLst>
          </a:custGeom>
          <a:blipFill>
            <a:blip r:embed="rId4"/>
            <a:stretch>
              <a:fillRect l="0" t="0" r="0" b="0"/>
            </a:stretch>
          </a:blipFill>
        </p:spPr>
      </p:sp>
      <p:sp>
        <p:nvSpPr>
          <p:cNvPr name="TextBox 11" id="11"/>
          <p:cNvSpPr txBox="true"/>
          <p:nvPr/>
        </p:nvSpPr>
        <p:spPr>
          <a:xfrm rot="0">
            <a:off x="2766856" y="365760"/>
            <a:ext cx="12754287" cy="662940"/>
          </a:xfrm>
          <a:prstGeom prst="rect">
            <a:avLst/>
          </a:prstGeom>
        </p:spPr>
        <p:txBody>
          <a:bodyPr anchor="t" rtlCol="false" tIns="0" lIns="0" bIns="0" rIns="0">
            <a:spAutoFit/>
          </a:bodyPr>
          <a:lstStyle/>
          <a:p>
            <a:pPr algn="l">
              <a:lnSpc>
                <a:spcPts val="4680"/>
              </a:lnSpc>
            </a:pPr>
            <a:r>
              <a:rPr lang="en-US" sz="6000" spc="-527">
                <a:solidFill>
                  <a:srgbClr val="0390A7"/>
                </a:solidFill>
                <a:latin typeface="Happy Font TH"/>
                <a:ea typeface="Happy Font TH"/>
                <a:cs typeface="Happy Font TH"/>
                <a:sym typeface="Happy Font TH"/>
              </a:rPr>
              <a:t>PAYROLL AND COMPENSATION ANALYSIS</a:t>
            </a:r>
          </a:p>
        </p:txBody>
      </p:sp>
      <p:sp>
        <p:nvSpPr>
          <p:cNvPr name="TextBox 12" id="12"/>
          <p:cNvSpPr txBox="true"/>
          <p:nvPr/>
        </p:nvSpPr>
        <p:spPr>
          <a:xfrm rot="0">
            <a:off x="333409" y="2428680"/>
            <a:ext cx="8333640" cy="316859"/>
          </a:xfrm>
          <a:prstGeom prst="rect">
            <a:avLst/>
          </a:prstGeom>
        </p:spPr>
        <p:txBody>
          <a:bodyPr anchor="t" rtlCol="false" tIns="0" lIns="0" bIns="0" rIns="0">
            <a:spAutoFit/>
          </a:bodyPr>
          <a:lstStyle/>
          <a:p>
            <a:pPr algn="ctr">
              <a:lnSpc>
                <a:spcPts val="2277"/>
              </a:lnSpc>
            </a:pPr>
            <a:r>
              <a:rPr lang="en-US" sz="2920" spc="-256">
                <a:solidFill>
                  <a:srgbClr val="010101"/>
                </a:solidFill>
                <a:latin typeface="Happy Font TH"/>
                <a:ea typeface="Happy Font TH"/>
                <a:cs typeface="Happy Font TH"/>
                <a:sym typeface="Happy Font TH"/>
              </a:rPr>
              <a:t>What is the total monthly payroll processed?</a:t>
            </a:r>
          </a:p>
        </p:txBody>
      </p:sp>
      <p:sp>
        <p:nvSpPr>
          <p:cNvPr name="TextBox 13" id="13"/>
          <p:cNvSpPr txBox="true"/>
          <p:nvPr/>
        </p:nvSpPr>
        <p:spPr>
          <a:xfrm rot="0">
            <a:off x="9562379" y="2428680"/>
            <a:ext cx="8333640" cy="316859"/>
          </a:xfrm>
          <a:prstGeom prst="rect">
            <a:avLst/>
          </a:prstGeom>
        </p:spPr>
        <p:txBody>
          <a:bodyPr anchor="t" rtlCol="false" tIns="0" lIns="0" bIns="0" rIns="0">
            <a:spAutoFit/>
          </a:bodyPr>
          <a:lstStyle/>
          <a:p>
            <a:pPr algn="ctr">
              <a:lnSpc>
                <a:spcPts val="2277"/>
              </a:lnSpc>
            </a:pPr>
            <a:r>
              <a:rPr lang="en-US" sz="2920" spc="-256">
                <a:solidFill>
                  <a:srgbClr val="010101"/>
                </a:solidFill>
                <a:latin typeface="Happy Font TH"/>
                <a:ea typeface="Happy Font TH"/>
                <a:cs typeface="Happy Font TH"/>
                <a:sym typeface="Happy Font TH"/>
              </a:rPr>
              <a:t>What is the average bonus given per department?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8E6E6"/>
        </a:solidFill>
      </p:bgPr>
    </p:bg>
    <p:spTree>
      <p:nvGrpSpPr>
        <p:cNvPr id="1" name=""/>
        <p:cNvGrpSpPr/>
        <p:nvPr/>
      </p:nvGrpSpPr>
      <p:grpSpPr>
        <a:xfrm>
          <a:off x="0" y="0"/>
          <a:ext cx="0" cy="0"/>
          <a:chOff x="0" y="0"/>
          <a:chExt cx="0" cy="0"/>
        </a:xfrm>
      </p:grpSpPr>
      <p:sp>
        <p:nvSpPr>
          <p:cNvPr name="Freeform 2" id="2"/>
          <p:cNvSpPr/>
          <p:nvPr/>
        </p:nvSpPr>
        <p:spPr>
          <a:xfrm flipH="false" flipV="false" rot="0">
            <a:off x="13385388" y="9414246"/>
            <a:ext cx="4838090" cy="1009526"/>
          </a:xfrm>
          <a:custGeom>
            <a:avLst/>
            <a:gdLst/>
            <a:ahLst/>
            <a:cxnLst/>
            <a:rect r="r" b="b" t="t" l="l"/>
            <a:pathLst>
              <a:path h="1009526" w="4838090">
                <a:moveTo>
                  <a:pt x="0" y="0"/>
                </a:moveTo>
                <a:lnTo>
                  <a:pt x="4838090" y="0"/>
                </a:lnTo>
                <a:lnTo>
                  <a:pt x="4838090" y="1009526"/>
                </a:lnTo>
                <a:lnTo>
                  <a:pt x="0" y="1009526"/>
                </a:lnTo>
                <a:lnTo>
                  <a:pt x="0" y="0"/>
                </a:lnTo>
                <a:close/>
              </a:path>
            </a:pathLst>
          </a:custGeom>
          <a:blipFill>
            <a:blip r:embed="rId2"/>
            <a:stretch>
              <a:fillRect l="0" t="0" r="0" b="0"/>
            </a:stretch>
          </a:blipFill>
        </p:spPr>
      </p:sp>
      <p:grpSp>
        <p:nvGrpSpPr>
          <p:cNvPr name="Group 3" id="3"/>
          <p:cNvGrpSpPr/>
          <p:nvPr/>
        </p:nvGrpSpPr>
        <p:grpSpPr>
          <a:xfrm rot="0">
            <a:off x="333409" y="2204582"/>
            <a:ext cx="8333640" cy="786873"/>
            <a:chOff x="0" y="0"/>
            <a:chExt cx="2186392" cy="206442"/>
          </a:xfrm>
        </p:grpSpPr>
        <p:sp>
          <p:nvSpPr>
            <p:cNvPr name="Freeform 4" id="4"/>
            <p:cNvSpPr/>
            <p:nvPr/>
          </p:nvSpPr>
          <p:spPr>
            <a:xfrm flipH="false" flipV="false" rot="0">
              <a:off x="0" y="0"/>
              <a:ext cx="2186392" cy="206442"/>
            </a:xfrm>
            <a:custGeom>
              <a:avLst/>
              <a:gdLst/>
              <a:ahLst/>
              <a:cxnLst/>
              <a:rect r="r" b="b" t="t" l="l"/>
              <a:pathLst>
                <a:path h="206442" w="2186392">
                  <a:moveTo>
                    <a:pt x="47379" y="0"/>
                  </a:moveTo>
                  <a:lnTo>
                    <a:pt x="2139013" y="0"/>
                  </a:lnTo>
                  <a:cubicBezTo>
                    <a:pt x="2165180" y="0"/>
                    <a:pt x="2186392" y="21212"/>
                    <a:pt x="2186392" y="47379"/>
                  </a:cubicBezTo>
                  <a:lnTo>
                    <a:pt x="2186392" y="159063"/>
                  </a:lnTo>
                  <a:cubicBezTo>
                    <a:pt x="2186392" y="171629"/>
                    <a:pt x="2181400" y="183680"/>
                    <a:pt x="2172515" y="192565"/>
                  </a:cubicBezTo>
                  <a:cubicBezTo>
                    <a:pt x="2163630" y="201450"/>
                    <a:pt x="2151579" y="206442"/>
                    <a:pt x="2139013" y="206442"/>
                  </a:cubicBezTo>
                  <a:lnTo>
                    <a:pt x="47379" y="206442"/>
                  </a:lnTo>
                  <a:cubicBezTo>
                    <a:pt x="34813" y="206442"/>
                    <a:pt x="22762" y="201450"/>
                    <a:pt x="13877" y="192565"/>
                  </a:cubicBezTo>
                  <a:cubicBezTo>
                    <a:pt x="4992" y="183680"/>
                    <a:pt x="0" y="171629"/>
                    <a:pt x="0" y="159063"/>
                  </a:cubicBezTo>
                  <a:lnTo>
                    <a:pt x="0" y="47379"/>
                  </a:lnTo>
                  <a:cubicBezTo>
                    <a:pt x="0" y="34813"/>
                    <a:pt x="4992" y="22762"/>
                    <a:pt x="13877" y="13877"/>
                  </a:cubicBezTo>
                  <a:cubicBezTo>
                    <a:pt x="22762" y="4992"/>
                    <a:pt x="34813" y="0"/>
                    <a:pt x="47379" y="0"/>
                  </a:cubicBezTo>
                  <a:close/>
                </a:path>
              </a:pathLst>
            </a:custGeom>
            <a:solidFill>
              <a:srgbClr val="F4F4F4"/>
            </a:solidFill>
            <a:ln w="19050" cap="rnd">
              <a:solidFill>
                <a:srgbClr val="000000"/>
              </a:solidFill>
              <a:prstDash val="solid"/>
              <a:round/>
            </a:ln>
          </p:spPr>
        </p:sp>
        <p:sp>
          <p:nvSpPr>
            <p:cNvPr name="TextBox 5" id="5"/>
            <p:cNvSpPr txBox="true"/>
            <p:nvPr/>
          </p:nvSpPr>
          <p:spPr>
            <a:xfrm>
              <a:off x="0" y="-38100"/>
              <a:ext cx="2186392" cy="24454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9562379" y="2314380"/>
            <a:ext cx="8333640" cy="1015467"/>
            <a:chOff x="0" y="0"/>
            <a:chExt cx="2186392" cy="266415"/>
          </a:xfrm>
        </p:grpSpPr>
        <p:sp>
          <p:nvSpPr>
            <p:cNvPr name="Freeform 7" id="7"/>
            <p:cNvSpPr/>
            <p:nvPr/>
          </p:nvSpPr>
          <p:spPr>
            <a:xfrm flipH="false" flipV="false" rot="0">
              <a:off x="0" y="0"/>
              <a:ext cx="2186392" cy="266415"/>
            </a:xfrm>
            <a:custGeom>
              <a:avLst/>
              <a:gdLst/>
              <a:ahLst/>
              <a:cxnLst/>
              <a:rect r="r" b="b" t="t" l="l"/>
              <a:pathLst>
                <a:path h="266415" w="2186392">
                  <a:moveTo>
                    <a:pt x="47379" y="0"/>
                  </a:moveTo>
                  <a:lnTo>
                    <a:pt x="2139013" y="0"/>
                  </a:lnTo>
                  <a:cubicBezTo>
                    <a:pt x="2165180" y="0"/>
                    <a:pt x="2186392" y="21212"/>
                    <a:pt x="2186392" y="47379"/>
                  </a:cubicBezTo>
                  <a:lnTo>
                    <a:pt x="2186392" y="219037"/>
                  </a:lnTo>
                  <a:cubicBezTo>
                    <a:pt x="2186392" y="231602"/>
                    <a:pt x="2181400" y="243653"/>
                    <a:pt x="2172515" y="252538"/>
                  </a:cubicBezTo>
                  <a:cubicBezTo>
                    <a:pt x="2163630" y="261424"/>
                    <a:pt x="2151579" y="266415"/>
                    <a:pt x="2139013" y="266415"/>
                  </a:cubicBezTo>
                  <a:lnTo>
                    <a:pt x="47379" y="266415"/>
                  </a:lnTo>
                  <a:cubicBezTo>
                    <a:pt x="34813" y="266415"/>
                    <a:pt x="22762" y="261424"/>
                    <a:pt x="13877" y="252538"/>
                  </a:cubicBezTo>
                  <a:cubicBezTo>
                    <a:pt x="4992" y="243653"/>
                    <a:pt x="0" y="231602"/>
                    <a:pt x="0" y="219037"/>
                  </a:cubicBezTo>
                  <a:lnTo>
                    <a:pt x="0" y="47379"/>
                  </a:lnTo>
                  <a:cubicBezTo>
                    <a:pt x="0" y="34813"/>
                    <a:pt x="4992" y="22762"/>
                    <a:pt x="13877" y="13877"/>
                  </a:cubicBezTo>
                  <a:cubicBezTo>
                    <a:pt x="22762" y="4992"/>
                    <a:pt x="34813" y="0"/>
                    <a:pt x="47379" y="0"/>
                  </a:cubicBezTo>
                  <a:close/>
                </a:path>
              </a:pathLst>
            </a:custGeom>
            <a:solidFill>
              <a:srgbClr val="F4F4F4"/>
            </a:solidFill>
            <a:ln w="19050" cap="rnd">
              <a:solidFill>
                <a:srgbClr val="000000"/>
              </a:solidFill>
              <a:prstDash val="solid"/>
              <a:round/>
            </a:ln>
          </p:spPr>
        </p:sp>
        <p:sp>
          <p:nvSpPr>
            <p:cNvPr name="TextBox 8" id="8"/>
            <p:cNvSpPr txBox="true"/>
            <p:nvPr/>
          </p:nvSpPr>
          <p:spPr>
            <a:xfrm>
              <a:off x="0" y="-38100"/>
              <a:ext cx="2186392" cy="304515"/>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726052" y="3524907"/>
            <a:ext cx="7940997" cy="4737288"/>
          </a:xfrm>
          <a:custGeom>
            <a:avLst/>
            <a:gdLst/>
            <a:ahLst/>
            <a:cxnLst/>
            <a:rect r="r" b="b" t="t" l="l"/>
            <a:pathLst>
              <a:path h="4737288" w="7940997">
                <a:moveTo>
                  <a:pt x="0" y="0"/>
                </a:moveTo>
                <a:lnTo>
                  <a:pt x="7940997" y="0"/>
                </a:lnTo>
                <a:lnTo>
                  <a:pt x="7940997" y="4737288"/>
                </a:lnTo>
                <a:lnTo>
                  <a:pt x="0" y="4737288"/>
                </a:lnTo>
                <a:lnTo>
                  <a:pt x="0" y="0"/>
                </a:lnTo>
                <a:close/>
              </a:path>
            </a:pathLst>
          </a:custGeom>
          <a:blipFill>
            <a:blip r:embed="rId3"/>
            <a:stretch>
              <a:fillRect l="0" t="0" r="0" b="0"/>
            </a:stretch>
          </a:blipFill>
        </p:spPr>
      </p:sp>
      <p:sp>
        <p:nvSpPr>
          <p:cNvPr name="Freeform 10" id="10"/>
          <p:cNvSpPr/>
          <p:nvPr/>
        </p:nvSpPr>
        <p:spPr>
          <a:xfrm flipH="false" flipV="false" rot="0">
            <a:off x="9950744" y="3682713"/>
            <a:ext cx="7308556" cy="4421676"/>
          </a:xfrm>
          <a:custGeom>
            <a:avLst/>
            <a:gdLst/>
            <a:ahLst/>
            <a:cxnLst/>
            <a:rect r="r" b="b" t="t" l="l"/>
            <a:pathLst>
              <a:path h="4421676" w="7308556">
                <a:moveTo>
                  <a:pt x="0" y="0"/>
                </a:moveTo>
                <a:lnTo>
                  <a:pt x="7308556" y="0"/>
                </a:lnTo>
                <a:lnTo>
                  <a:pt x="7308556" y="4421676"/>
                </a:lnTo>
                <a:lnTo>
                  <a:pt x="0" y="4421676"/>
                </a:lnTo>
                <a:lnTo>
                  <a:pt x="0" y="0"/>
                </a:lnTo>
                <a:close/>
              </a:path>
            </a:pathLst>
          </a:custGeom>
          <a:blipFill>
            <a:blip r:embed="rId4"/>
            <a:stretch>
              <a:fillRect l="0" t="0" r="0" b="0"/>
            </a:stretch>
          </a:blipFill>
        </p:spPr>
      </p:sp>
      <p:sp>
        <p:nvSpPr>
          <p:cNvPr name="TextBox 11" id="11"/>
          <p:cNvSpPr txBox="true"/>
          <p:nvPr/>
        </p:nvSpPr>
        <p:spPr>
          <a:xfrm rot="0">
            <a:off x="2766856" y="365760"/>
            <a:ext cx="12754287" cy="662940"/>
          </a:xfrm>
          <a:prstGeom prst="rect">
            <a:avLst/>
          </a:prstGeom>
        </p:spPr>
        <p:txBody>
          <a:bodyPr anchor="t" rtlCol="false" tIns="0" lIns="0" bIns="0" rIns="0">
            <a:spAutoFit/>
          </a:bodyPr>
          <a:lstStyle/>
          <a:p>
            <a:pPr algn="l">
              <a:lnSpc>
                <a:spcPts val="4680"/>
              </a:lnSpc>
            </a:pPr>
            <a:r>
              <a:rPr lang="en-US" sz="6000" spc="-527">
                <a:solidFill>
                  <a:srgbClr val="0390A7"/>
                </a:solidFill>
                <a:latin typeface="Happy Font TH"/>
                <a:ea typeface="Happy Font TH"/>
                <a:cs typeface="Happy Font TH"/>
                <a:sym typeface="Happy Font TH"/>
              </a:rPr>
              <a:t>PAYROLL AND COMPENSATION ANALYSIS</a:t>
            </a:r>
          </a:p>
        </p:txBody>
      </p:sp>
      <p:sp>
        <p:nvSpPr>
          <p:cNvPr name="TextBox 12" id="12"/>
          <p:cNvSpPr txBox="true"/>
          <p:nvPr/>
        </p:nvSpPr>
        <p:spPr>
          <a:xfrm rot="0">
            <a:off x="333409" y="2428680"/>
            <a:ext cx="8333640" cy="316859"/>
          </a:xfrm>
          <a:prstGeom prst="rect">
            <a:avLst/>
          </a:prstGeom>
        </p:spPr>
        <p:txBody>
          <a:bodyPr anchor="t" rtlCol="false" tIns="0" lIns="0" bIns="0" rIns="0">
            <a:spAutoFit/>
          </a:bodyPr>
          <a:lstStyle/>
          <a:p>
            <a:pPr algn="ctr">
              <a:lnSpc>
                <a:spcPts val="2277"/>
              </a:lnSpc>
            </a:pPr>
            <a:r>
              <a:rPr lang="en-US" sz="2920" spc="-256">
                <a:solidFill>
                  <a:srgbClr val="010101"/>
                </a:solidFill>
                <a:latin typeface="Happy Font TH"/>
                <a:ea typeface="Happy Font TH"/>
                <a:cs typeface="Happy Font TH"/>
                <a:sym typeface="Happy Font TH"/>
              </a:rPr>
              <a:t>Which department receives the highest total bonuses?</a:t>
            </a:r>
          </a:p>
        </p:txBody>
      </p:sp>
      <p:sp>
        <p:nvSpPr>
          <p:cNvPr name="TextBox 13" id="13"/>
          <p:cNvSpPr txBox="true"/>
          <p:nvPr/>
        </p:nvSpPr>
        <p:spPr>
          <a:xfrm rot="0">
            <a:off x="9562379" y="2538479"/>
            <a:ext cx="8333640" cy="592262"/>
          </a:xfrm>
          <a:prstGeom prst="rect">
            <a:avLst/>
          </a:prstGeom>
        </p:spPr>
        <p:txBody>
          <a:bodyPr anchor="t" rtlCol="false" tIns="0" lIns="0" bIns="0" rIns="0">
            <a:spAutoFit/>
          </a:bodyPr>
          <a:lstStyle/>
          <a:p>
            <a:pPr algn="ctr">
              <a:lnSpc>
                <a:spcPts val="2277"/>
              </a:lnSpc>
            </a:pPr>
            <a:r>
              <a:rPr lang="en-US" sz="2920" spc="-256">
                <a:solidFill>
                  <a:srgbClr val="010101"/>
                </a:solidFill>
                <a:latin typeface="Happy Font TH"/>
                <a:ea typeface="Happy Font TH"/>
                <a:cs typeface="Happy Font TH"/>
                <a:sym typeface="Happy Font TH"/>
              </a:rPr>
              <a:t>What is the average value of total_amount after considering leave deductions?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8E6E6"/>
        </a:solidFill>
      </p:bgPr>
    </p:bg>
    <p:spTree>
      <p:nvGrpSpPr>
        <p:cNvPr id="1" name=""/>
        <p:cNvGrpSpPr/>
        <p:nvPr/>
      </p:nvGrpSpPr>
      <p:grpSpPr>
        <a:xfrm>
          <a:off x="0" y="0"/>
          <a:ext cx="0" cy="0"/>
          <a:chOff x="0" y="0"/>
          <a:chExt cx="0" cy="0"/>
        </a:xfrm>
      </p:grpSpPr>
      <p:sp>
        <p:nvSpPr>
          <p:cNvPr name="TextBox 2" id="2"/>
          <p:cNvSpPr txBox="true"/>
          <p:nvPr/>
        </p:nvSpPr>
        <p:spPr>
          <a:xfrm rot="0">
            <a:off x="1028700" y="578780"/>
            <a:ext cx="4406333" cy="893446"/>
          </a:xfrm>
          <a:prstGeom prst="rect">
            <a:avLst/>
          </a:prstGeom>
        </p:spPr>
        <p:txBody>
          <a:bodyPr anchor="t" rtlCol="false" tIns="0" lIns="0" bIns="0" rIns="0">
            <a:spAutoFit/>
          </a:bodyPr>
          <a:lstStyle/>
          <a:p>
            <a:pPr algn="l">
              <a:lnSpc>
                <a:spcPts val="6240"/>
              </a:lnSpc>
            </a:pPr>
            <a:r>
              <a:rPr lang="en-US" sz="8000" spc="-704">
                <a:solidFill>
                  <a:srgbClr val="0390A7"/>
                </a:solidFill>
                <a:latin typeface="Happy Font TH"/>
                <a:ea typeface="Happy Font TH"/>
                <a:cs typeface="Happy Font TH"/>
                <a:sym typeface="Happy Font TH"/>
              </a:rPr>
              <a:t>SUMMARY</a:t>
            </a:r>
          </a:p>
        </p:txBody>
      </p:sp>
      <p:sp>
        <p:nvSpPr>
          <p:cNvPr name="Freeform 3" id="3"/>
          <p:cNvSpPr/>
          <p:nvPr/>
        </p:nvSpPr>
        <p:spPr>
          <a:xfrm flipH="false" flipV="false" rot="-9706846">
            <a:off x="605847" y="279993"/>
            <a:ext cx="200635" cy="251365"/>
          </a:xfrm>
          <a:custGeom>
            <a:avLst/>
            <a:gdLst/>
            <a:ahLst/>
            <a:cxnLst/>
            <a:rect r="r" b="b" t="t" l="l"/>
            <a:pathLst>
              <a:path h="251365" w="200635">
                <a:moveTo>
                  <a:pt x="0" y="0"/>
                </a:moveTo>
                <a:lnTo>
                  <a:pt x="200634" y="0"/>
                </a:lnTo>
                <a:lnTo>
                  <a:pt x="200634" y="251365"/>
                </a:lnTo>
                <a:lnTo>
                  <a:pt x="0" y="2513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985749">
            <a:off x="9966932" y="7950364"/>
            <a:ext cx="1171310" cy="1245093"/>
          </a:xfrm>
          <a:custGeom>
            <a:avLst/>
            <a:gdLst/>
            <a:ahLst/>
            <a:cxnLst/>
            <a:rect r="r" b="b" t="t" l="l"/>
            <a:pathLst>
              <a:path h="1245093" w="1171310">
                <a:moveTo>
                  <a:pt x="0" y="0"/>
                </a:moveTo>
                <a:lnTo>
                  <a:pt x="1171310" y="0"/>
                </a:lnTo>
                <a:lnTo>
                  <a:pt x="1171310" y="1245093"/>
                </a:lnTo>
                <a:lnTo>
                  <a:pt x="0" y="12450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6072759">
            <a:off x="10345114" y="3725320"/>
            <a:ext cx="920065" cy="996134"/>
          </a:xfrm>
          <a:custGeom>
            <a:avLst/>
            <a:gdLst/>
            <a:ahLst/>
            <a:cxnLst/>
            <a:rect r="r" b="b" t="t" l="l"/>
            <a:pathLst>
              <a:path h="996134" w="920065">
                <a:moveTo>
                  <a:pt x="0" y="0"/>
                </a:moveTo>
                <a:lnTo>
                  <a:pt x="920065" y="0"/>
                </a:lnTo>
                <a:lnTo>
                  <a:pt x="920065" y="996133"/>
                </a:lnTo>
                <a:lnTo>
                  <a:pt x="0" y="9961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840747" y="2034105"/>
            <a:ext cx="754643" cy="703381"/>
          </a:xfrm>
          <a:custGeom>
            <a:avLst/>
            <a:gdLst/>
            <a:ahLst/>
            <a:cxnLst/>
            <a:rect r="r" b="b" t="t" l="l"/>
            <a:pathLst>
              <a:path h="703381" w="754643">
                <a:moveTo>
                  <a:pt x="0" y="0"/>
                </a:moveTo>
                <a:lnTo>
                  <a:pt x="754643" y="0"/>
                </a:lnTo>
                <a:lnTo>
                  <a:pt x="754643" y="703381"/>
                </a:lnTo>
                <a:lnTo>
                  <a:pt x="0" y="7033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1392367">
            <a:off x="14214142" y="662492"/>
            <a:ext cx="1765303" cy="2249088"/>
          </a:xfrm>
          <a:custGeom>
            <a:avLst/>
            <a:gdLst/>
            <a:ahLst/>
            <a:cxnLst/>
            <a:rect r="r" b="b" t="t" l="l"/>
            <a:pathLst>
              <a:path h="2249088" w="1765303">
                <a:moveTo>
                  <a:pt x="0" y="0"/>
                </a:moveTo>
                <a:lnTo>
                  <a:pt x="1765303" y="0"/>
                </a:lnTo>
                <a:lnTo>
                  <a:pt x="1765303" y="2249089"/>
                </a:lnTo>
                <a:lnTo>
                  <a:pt x="0" y="224908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706164" y="9414246"/>
            <a:ext cx="379921" cy="383118"/>
          </a:xfrm>
          <a:custGeom>
            <a:avLst/>
            <a:gdLst/>
            <a:ahLst/>
            <a:cxnLst/>
            <a:rect r="r" b="b" t="t" l="l"/>
            <a:pathLst>
              <a:path h="383118" w="379921">
                <a:moveTo>
                  <a:pt x="0" y="0"/>
                </a:moveTo>
                <a:lnTo>
                  <a:pt x="379920" y="0"/>
                </a:lnTo>
                <a:lnTo>
                  <a:pt x="379920" y="383118"/>
                </a:lnTo>
                <a:lnTo>
                  <a:pt x="0" y="38311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9" id="9"/>
          <p:cNvSpPr txBox="true"/>
          <p:nvPr/>
        </p:nvSpPr>
        <p:spPr>
          <a:xfrm rot="0">
            <a:off x="1367703" y="2756536"/>
            <a:ext cx="8499140" cy="2533650"/>
          </a:xfrm>
          <a:prstGeom prst="rect">
            <a:avLst/>
          </a:prstGeom>
        </p:spPr>
        <p:txBody>
          <a:bodyPr anchor="t" rtlCol="false" tIns="0" lIns="0" bIns="0" rIns="0">
            <a:spAutoFit/>
          </a:bodyPr>
          <a:lstStyle/>
          <a:p>
            <a:pPr algn="ctr">
              <a:lnSpc>
                <a:spcPts val="3300"/>
              </a:lnSpc>
            </a:pPr>
            <a:r>
              <a:rPr lang="en-US" sz="3000" spc="-150">
                <a:solidFill>
                  <a:srgbClr val="010101"/>
                </a:solidFill>
                <a:latin typeface="Happy Font TH"/>
                <a:ea typeface="Happy Font TH"/>
                <a:cs typeface="Happy Font TH"/>
                <a:sym typeface="Happy Font TH"/>
              </a:rPr>
              <a:t>The Employee Management System (EMS) is a structured SQL-based solution designed to efficiently manage employee data, job roles, salary structures, qualifications, leave records, and payroll. By using relational tables and foreign key constraints, the system ensures data consistency and smooth HR operations.</a:t>
            </a:r>
          </a:p>
        </p:txBody>
      </p:sp>
      <p:sp>
        <p:nvSpPr>
          <p:cNvPr name="Freeform 10" id="10"/>
          <p:cNvSpPr/>
          <p:nvPr/>
        </p:nvSpPr>
        <p:spPr>
          <a:xfrm flipH="false" flipV="false" rot="0">
            <a:off x="13385388" y="9414246"/>
            <a:ext cx="4838090" cy="1009526"/>
          </a:xfrm>
          <a:custGeom>
            <a:avLst/>
            <a:gdLst/>
            <a:ahLst/>
            <a:cxnLst/>
            <a:rect r="r" b="b" t="t" l="l"/>
            <a:pathLst>
              <a:path h="1009526" w="4838090">
                <a:moveTo>
                  <a:pt x="0" y="0"/>
                </a:moveTo>
                <a:lnTo>
                  <a:pt x="4838090" y="0"/>
                </a:lnTo>
                <a:lnTo>
                  <a:pt x="4838090" y="1009526"/>
                </a:lnTo>
                <a:lnTo>
                  <a:pt x="0" y="1009526"/>
                </a:lnTo>
                <a:lnTo>
                  <a:pt x="0" y="0"/>
                </a:lnTo>
                <a:close/>
              </a:path>
            </a:pathLst>
          </a:custGeom>
          <a:blipFill>
            <a:blip r:embed="rId14"/>
            <a:stretch>
              <a:fillRect l="0" t="0" r="0" b="0"/>
            </a:stretch>
          </a:blipFill>
        </p:spPr>
      </p:sp>
      <p:sp>
        <p:nvSpPr>
          <p:cNvPr name="TextBox 11" id="11"/>
          <p:cNvSpPr txBox="true"/>
          <p:nvPr/>
        </p:nvSpPr>
        <p:spPr>
          <a:xfrm rot="0">
            <a:off x="1557039" y="6098434"/>
            <a:ext cx="7755989" cy="2114550"/>
          </a:xfrm>
          <a:prstGeom prst="rect">
            <a:avLst/>
          </a:prstGeom>
        </p:spPr>
        <p:txBody>
          <a:bodyPr anchor="t" rtlCol="false" tIns="0" lIns="0" bIns="0" rIns="0">
            <a:spAutoFit/>
          </a:bodyPr>
          <a:lstStyle/>
          <a:p>
            <a:pPr algn="ctr">
              <a:lnSpc>
                <a:spcPts val="3300"/>
              </a:lnSpc>
            </a:pPr>
            <a:r>
              <a:rPr lang="en-US" sz="3000" spc="-150">
                <a:solidFill>
                  <a:srgbClr val="010101"/>
                </a:solidFill>
                <a:latin typeface="Happy Font TH"/>
                <a:ea typeface="Happy Font TH"/>
                <a:cs typeface="Happy Font TH"/>
                <a:sym typeface="Happy Font TH"/>
              </a:rPr>
              <a:t>This project demonstrates the ability to design an end-to-end database, import interconnected datasets, and perform advanced SQL queries to generate meaningful business insights across HR, payroll, and departmental operations.</a:t>
            </a:r>
          </a:p>
        </p:txBody>
      </p:sp>
      <p:sp>
        <p:nvSpPr>
          <p:cNvPr name="Freeform 12" id="12"/>
          <p:cNvSpPr/>
          <p:nvPr/>
        </p:nvSpPr>
        <p:spPr>
          <a:xfrm flipH="false" flipV="false" rot="0">
            <a:off x="11745110" y="2906255"/>
            <a:ext cx="5993578" cy="5666656"/>
          </a:xfrm>
          <a:custGeom>
            <a:avLst/>
            <a:gdLst/>
            <a:ahLst/>
            <a:cxnLst/>
            <a:rect r="r" b="b" t="t" l="l"/>
            <a:pathLst>
              <a:path h="5666656" w="5993578">
                <a:moveTo>
                  <a:pt x="0" y="0"/>
                </a:moveTo>
                <a:lnTo>
                  <a:pt x="5993579" y="0"/>
                </a:lnTo>
                <a:lnTo>
                  <a:pt x="5993579" y="5666656"/>
                </a:lnTo>
                <a:lnTo>
                  <a:pt x="0" y="566665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8E6E6"/>
        </a:solidFill>
      </p:bgPr>
    </p:bg>
    <p:spTree>
      <p:nvGrpSpPr>
        <p:cNvPr id="1" name=""/>
        <p:cNvGrpSpPr/>
        <p:nvPr/>
      </p:nvGrpSpPr>
      <p:grpSpPr>
        <a:xfrm>
          <a:off x="0" y="0"/>
          <a:ext cx="0" cy="0"/>
          <a:chOff x="0" y="0"/>
          <a:chExt cx="0" cy="0"/>
        </a:xfrm>
      </p:grpSpPr>
      <p:sp>
        <p:nvSpPr>
          <p:cNvPr name="Freeform 2" id="2"/>
          <p:cNvSpPr/>
          <p:nvPr/>
        </p:nvSpPr>
        <p:spPr>
          <a:xfrm flipH="false" flipV="false" rot="0">
            <a:off x="4162806" y="3298981"/>
            <a:ext cx="9962387" cy="5959319"/>
          </a:xfrm>
          <a:custGeom>
            <a:avLst/>
            <a:gdLst/>
            <a:ahLst/>
            <a:cxnLst/>
            <a:rect r="r" b="b" t="t" l="l"/>
            <a:pathLst>
              <a:path h="5959319" w="9962387">
                <a:moveTo>
                  <a:pt x="0" y="0"/>
                </a:moveTo>
                <a:lnTo>
                  <a:pt x="9962388" y="0"/>
                </a:lnTo>
                <a:lnTo>
                  <a:pt x="9962388" y="5959319"/>
                </a:lnTo>
                <a:lnTo>
                  <a:pt x="0" y="59593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494726" y="409575"/>
            <a:ext cx="9298548" cy="1114424"/>
          </a:xfrm>
          <a:prstGeom prst="rect">
            <a:avLst/>
          </a:prstGeom>
        </p:spPr>
        <p:txBody>
          <a:bodyPr anchor="t" rtlCol="false" tIns="0" lIns="0" bIns="0" rIns="0">
            <a:spAutoFit/>
          </a:bodyPr>
          <a:lstStyle/>
          <a:p>
            <a:pPr algn="ctr">
              <a:lnSpc>
                <a:spcPts val="7799"/>
              </a:lnSpc>
            </a:pPr>
            <a:r>
              <a:rPr lang="en-US" sz="9999" spc="-879">
                <a:solidFill>
                  <a:srgbClr val="0390A7"/>
                </a:solidFill>
                <a:latin typeface="Happy Font TH"/>
                <a:ea typeface="Happy Font TH"/>
                <a:cs typeface="Happy Font TH"/>
                <a:sym typeface="Happy Font TH"/>
              </a:rPr>
              <a:t>KEY INSIGHTS</a:t>
            </a:r>
          </a:p>
        </p:txBody>
      </p:sp>
      <p:grpSp>
        <p:nvGrpSpPr>
          <p:cNvPr name="Group 4" id="4"/>
          <p:cNvGrpSpPr/>
          <p:nvPr/>
        </p:nvGrpSpPr>
        <p:grpSpPr>
          <a:xfrm rot="-580418">
            <a:off x="8609317" y="2773028"/>
            <a:ext cx="2322728" cy="1147619"/>
            <a:chOff x="0" y="0"/>
            <a:chExt cx="611747" cy="302254"/>
          </a:xfrm>
        </p:grpSpPr>
        <p:sp>
          <p:nvSpPr>
            <p:cNvPr name="Freeform 5" id="5"/>
            <p:cNvSpPr/>
            <p:nvPr/>
          </p:nvSpPr>
          <p:spPr>
            <a:xfrm flipH="false" flipV="false" rot="0">
              <a:off x="0" y="0"/>
              <a:ext cx="611747" cy="302254"/>
            </a:xfrm>
            <a:custGeom>
              <a:avLst/>
              <a:gdLst/>
              <a:ahLst/>
              <a:cxnLst/>
              <a:rect r="r" b="b" t="t" l="l"/>
              <a:pathLst>
                <a:path h="302254" w="611747">
                  <a:moveTo>
                    <a:pt x="151127" y="0"/>
                  </a:moveTo>
                  <a:lnTo>
                    <a:pt x="460620" y="0"/>
                  </a:lnTo>
                  <a:cubicBezTo>
                    <a:pt x="500702" y="0"/>
                    <a:pt x="539141" y="15922"/>
                    <a:pt x="567483" y="44264"/>
                  </a:cubicBezTo>
                  <a:cubicBezTo>
                    <a:pt x="595825" y="72606"/>
                    <a:pt x="611747" y="111046"/>
                    <a:pt x="611747" y="151127"/>
                  </a:cubicBezTo>
                  <a:lnTo>
                    <a:pt x="611747" y="151127"/>
                  </a:lnTo>
                  <a:cubicBezTo>
                    <a:pt x="611747" y="191208"/>
                    <a:pt x="595825" y="229648"/>
                    <a:pt x="567483" y="257990"/>
                  </a:cubicBezTo>
                  <a:cubicBezTo>
                    <a:pt x="539141" y="286331"/>
                    <a:pt x="500702" y="302254"/>
                    <a:pt x="460620" y="302254"/>
                  </a:cubicBezTo>
                  <a:lnTo>
                    <a:pt x="151127" y="302254"/>
                  </a:lnTo>
                  <a:cubicBezTo>
                    <a:pt x="111046" y="302254"/>
                    <a:pt x="72606" y="286331"/>
                    <a:pt x="44264" y="257990"/>
                  </a:cubicBezTo>
                  <a:cubicBezTo>
                    <a:pt x="15922" y="229648"/>
                    <a:pt x="0" y="191208"/>
                    <a:pt x="0" y="151127"/>
                  </a:cubicBezTo>
                  <a:lnTo>
                    <a:pt x="0" y="151127"/>
                  </a:lnTo>
                  <a:cubicBezTo>
                    <a:pt x="0" y="111046"/>
                    <a:pt x="15922" y="72606"/>
                    <a:pt x="44264" y="44264"/>
                  </a:cubicBezTo>
                  <a:cubicBezTo>
                    <a:pt x="72606" y="15922"/>
                    <a:pt x="111046" y="0"/>
                    <a:pt x="151127" y="0"/>
                  </a:cubicBezTo>
                  <a:close/>
                </a:path>
              </a:pathLst>
            </a:custGeom>
            <a:solidFill>
              <a:srgbClr val="F4F4F4"/>
            </a:solidFill>
            <a:ln w="19050" cap="rnd">
              <a:solidFill>
                <a:srgbClr val="000000"/>
              </a:solidFill>
              <a:prstDash val="solid"/>
              <a:round/>
            </a:ln>
          </p:spPr>
        </p:sp>
        <p:sp>
          <p:nvSpPr>
            <p:cNvPr name="TextBox 6" id="6"/>
            <p:cNvSpPr txBox="true"/>
            <p:nvPr/>
          </p:nvSpPr>
          <p:spPr>
            <a:xfrm>
              <a:off x="0" y="-38100"/>
              <a:ext cx="611747" cy="340354"/>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580418">
            <a:off x="8757397" y="2945094"/>
            <a:ext cx="2053027" cy="740526"/>
          </a:xfrm>
          <a:prstGeom prst="rect">
            <a:avLst/>
          </a:prstGeom>
        </p:spPr>
        <p:txBody>
          <a:bodyPr anchor="t" rtlCol="false" tIns="0" lIns="0" bIns="0" rIns="0">
            <a:spAutoFit/>
          </a:bodyPr>
          <a:lstStyle/>
          <a:p>
            <a:pPr algn="ctr">
              <a:lnSpc>
                <a:spcPts val="1496"/>
              </a:lnSpc>
            </a:pPr>
            <a:r>
              <a:rPr lang="en-US" sz="1918" spc="-168">
                <a:solidFill>
                  <a:srgbClr val="010101"/>
                </a:solidFill>
                <a:latin typeface="Happy Font TH"/>
                <a:ea typeface="Happy Font TH"/>
                <a:cs typeface="Happy Font TH"/>
                <a:sym typeface="Happy Font TH"/>
              </a:rPr>
              <a:t>Payroll remains consistent, and bonuses correlate with high-value roles.</a:t>
            </a:r>
          </a:p>
        </p:txBody>
      </p:sp>
      <p:grpSp>
        <p:nvGrpSpPr>
          <p:cNvPr name="Group 8" id="8"/>
          <p:cNvGrpSpPr/>
          <p:nvPr/>
        </p:nvGrpSpPr>
        <p:grpSpPr>
          <a:xfrm rot="-631653">
            <a:off x="13629359" y="3493711"/>
            <a:ext cx="3507055" cy="1536538"/>
            <a:chOff x="0" y="0"/>
            <a:chExt cx="923669" cy="404685"/>
          </a:xfrm>
        </p:grpSpPr>
        <p:sp>
          <p:nvSpPr>
            <p:cNvPr name="Freeform 9" id="9"/>
            <p:cNvSpPr/>
            <p:nvPr/>
          </p:nvSpPr>
          <p:spPr>
            <a:xfrm flipH="false" flipV="false" rot="0">
              <a:off x="0" y="0"/>
              <a:ext cx="923669" cy="404685"/>
            </a:xfrm>
            <a:custGeom>
              <a:avLst/>
              <a:gdLst/>
              <a:ahLst/>
              <a:cxnLst/>
              <a:rect r="r" b="b" t="t" l="l"/>
              <a:pathLst>
                <a:path h="404685" w="923669">
                  <a:moveTo>
                    <a:pt x="112584" y="0"/>
                  </a:moveTo>
                  <a:lnTo>
                    <a:pt x="811085" y="0"/>
                  </a:lnTo>
                  <a:cubicBezTo>
                    <a:pt x="840944" y="0"/>
                    <a:pt x="869580" y="11861"/>
                    <a:pt x="890694" y="32975"/>
                  </a:cubicBezTo>
                  <a:cubicBezTo>
                    <a:pt x="911807" y="54089"/>
                    <a:pt x="923669" y="82725"/>
                    <a:pt x="923669" y="112584"/>
                  </a:cubicBezTo>
                  <a:lnTo>
                    <a:pt x="923669" y="292101"/>
                  </a:lnTo>
                  <a:cubicBezTo>
                    <a:pt x="923669" y="321960"/>
                    <a:pt x="911807" y="350596"/>
                    <a:pt x="890694" y="371710"/>
                  </a:cubicBezTo>
                  <a:cubicBezTo>
                    <a:pt x="869580" y="392824"/>
                    <a:pt x="840944" y="404685"/>
                    <a:pt x="811085" y="404685"/>
                  </a:cubicBezTo>
                  <a:lnTo>
                    <a:pt x="112584" y="404685"/>
                  </a:lnTo>
                  <a:cubicBezTo>
                    <a:pt x="82725" y="404685"/>
                    <a:pt x="54089" y="392824"/>
                    <a:pt x="32975" y="371710"/>
                  </a:cubicBezTo>
                  <a:cubicBezTo>
                    <a:pt x="11861" y="350596"/>
                    <a:pt x="0" y="321960"/>
                    <a:pt x="0" y="292101"/>
                  </a:cubicBezTo>
                  <a:lnTo>
                    <a:pt x="0" y="112584"/>
                  </a:lnTo>
                  <a:cubicBezTo>
                    <a:pt x="0" y="82725"/>
                    <a:pt x="11861" y="54089"/>
                    <a:pt x="32975" y="32975"/>
                  </a:cubicBezTo>
                  <a:cubicBezTo>
                    <a:pt x="54089" y="11861"/>
                    <a:pt x="82725" y="0"/>
                    <a:pt x="112584" y="0"/>
                  </a:cubicBezTo>
                  <a:close/>
                </a:path>
              </a:pathLst>
            </a:custGeom>
            <a:solidFill>
              <a:srgbClr val="F4F4F4"/>
            </a:solidFill>
            <a:ln w="19050" cap="rnd">
              <a:solidFill>
                <a:srgbClr val="000000"/>
              </a:solidFill>
              <a:prstDash val="solid"/>
              <a:round/>
            </a:ln>
          </p:spPr>
        </p:sp>
        <p:sp>
          <p:nvSpPr>
            <p:cNvPr name="TextBox 10" id="10"/>
            <p:cNvSpPr txBox="true"/>
            <p:nvPr/>
          </p:nvSpPr>
          <p:spPr>
            <a:xfrm>
              <a:off x="0" y="-38100"/>
              <a:ext cx="923669" cy="442785"/>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631653">
            <a:off x="14250531" y="3657300"/>
            <a:ext cx="2268190" cy="1228090"/>
          </a:xfrm>
          <a:prstGeom prst="rect">
            <a:avLst/>
          </a:prstGeom>
        </p:spPr>
        <p:txBody>
          <a:bodyPr anchor="t" rtlCol="false" tIns="0" lIns="0" bIns="0" rIns="0">
            <a:spAutoFit/>
          </a:bodyPr>
          <a:lstStyle/>
          <a:p>
            <a:pPr algn="ctr">
              <a:lnSpc>
                <a:spcPts val="2419"/>
              </a:lnSpc>
            </a:pPr>
            <a:r>
              <a:rPr lang="en-US" sz="2199" spc="-109">
                <a:solidFill>
                  <a:srgbClr val="010101"/>
                </a:solidFill>
                <a:latin typeface="Happy Font TH"/>
                <a:ea typeface="Happy Font TH"/>
                <a:cs typeface="Happy Font TH"/>
                <a:sym typeface="Happy Font TH"/>
              </a:rPr>
              <a:t>Employee count is stable, with clear distribution across departments.</a:t>
            </a:r>
          </a:p>
        </p:txBody>
      </p:sp>
      <p:grpSp>
        <p:nvGrpSpPr>
          <p:cNvPr name="Group 12" id="12"/>
          <p:cNvGrpSpPr/>
          <p:nvPr/>
        </p:nvGrpSpPr>
        <p:grpSpPr>
          <a:xfrm rot="295528">
            <a:off x="399046" y="2950508"/>
            <a:ext cx="2665541" cy="1702172"/>
            <a:chOff x="0" y="0"/>
            <a:chExt cx="702036" cy="448309"/>
          </a:xfrm>
        </p:grpSpPr>
        <p:sp>
          <p:nvSpPr>
            <p:cNvPr name="Freeform 13" id="13"/>
            <p:cNvSpPr/>
            <p:nvPr/>
          </p:nvSpPr>
          <p:spPr>
            <a:xfrm flipH="false" flipV="false" rot="0">
              <a:off x="0" y="0"/>
              <a:ext cx="702035" cy="448309"/>
            </a:xfrm>
            <a:custGeom>
              <a:avLst/>
              <a:gdLst/>
              <a:ahLst/>
              <a:cxnLst/>
              <a:rect r="r" b="b" t="t" l="l"/>
              <a:pathLst>
                <a:path h="448309" w="702035">
                  <a:moveTo>
                    <a:pt x="148127" y="0"/>
                  </a:moveTo>
                  <a:lnTo>
                    <a:pt x="553909" y="0"/>
                  </a:lnTo>
                  <a:cubicBezTo>
                    <a:pt x="635717" y="0"/>
                    <a:pt x="702035" y="66319"/>
                    <a:pt x="702035" y="148127"/>
                  </a:cubicBezTo>
                  <a:lnTo>
                    <a:pt x="702035" y="300182"/>
                  </a:lnTo>
                  <a:cubicBezTo>
                    <a:pt x="702035" y="381990"/>
                    <a:pt x="635717" y="448309"/>
                    <a:pt x="553909" y="448309"/>
                  </a:cubicBezTo>
                  <a:lnTo>
                    <a:pt x="148127" y="448309"/>
                  </a:lnTo>
                  <a:cubicBezTo>
                    <a:pt x="66319" y="448309"/>
                    <a:pt x="0" y="381990"/>
                    <a:pt x="0" y="300182"/>
                  </a:cubicBezTo>
                  <a:lnTo>
                    <a:pt x="0" y="148127"/>
                  </a:lnTo>
                  <a:cubicBezTo>
                    <a:pt x="0" y="66319"/>
                    <a:pt x="66319" y="0"/>
                    <a:pt x="148127" y="0"/>
                  </a:cubicBezTo>
                  <a:close/>
                </a:path>
              </a:pathLst>
            </a:custGeom>
            <a:solidFill>
              <a:srgbClr val="F4F4F4"/>
            </a:solidFill>
            <a:ln w="19050" cap="rnd">
              <a:solidFill>
                <a:srgbClr val="000000"/>
              </a:solidFill>
              <a:prstDash val="solid"/>
              <a:round/>
            </a:ln>
          </p:spPr>
        </p:sp>
        <p:sp>
          <p:nvSpPr>
            <p:cNvPr name="TextBox 14" id="14"/>
            <p:cNvSpPr txBox="true"/>
            <p:nvPr/>
          </p:nvSpPr>
          <p:spPr>
            <a:xfrm>
              <a:off x="0" y="-38100"/>
              <a:ext cx="702036" cy="486409"/>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295528">
            <a:off x="583395" y="3175326"/>
            <a:ext cx="2240404" cy="1338819"/>
          </a:xfrm>
          <a:prstGeom prst="rect">
            <a:avLst/>
          </a:prstGeom>
        </p:spPr>
        <p:txBody>
          <a:bodyPr anchor="t" rtlCol="false" tIns="0" lIns="0" bIns="0" rIns="0">
            <a:spAutoFit/>
          </a:bodyPr>
          <a:lstStyle/>
          <a:p>
            <a:pPr algn="ctr">
              <a:lnSpc>
                <a:spcPts val="2110"/>
              </a:lnSpc>
            </a:pPr>
            <a:r>
              <a:rPr lang="en-US" sz="1918" spc="-95">
                <a:solidFill>
                  <a:srgbClr val="010101"/>
                </a:solidFill>
                <a:latin typeface="Happy Font TH"/>
                <a:ea typeface="Happy Font TH"/>
                <a:cs typeface="Happy Font TH"/>
                <a:sym typeface="Happy Font TH"/>
              </a:rPr>
              <a:t>Top salaries align strongly with strategic roles, indicating structured compensation.</a:t>
            </a:r>
          </a:p>
        </p:txBody>
      </p:sp>
      <p:grpSp>
        <p:nvGrpSpPr>
          <p:cNvPr name="Group 16" id="16"/>
          <p:cNvGrpSpPr/>
          <p:nvPr/>
        </p:nvGrpSpPr>
        <p:grpSpPr>
          <a:xfrm rot="6900000">
            <a:off x="1769282" y="6333859"/>
            <a:ext cx="2692902" cy="2241653"/>
            <a:chOff x="0" y="0"/>
            <a:chExt cx="709242" cy="590394"/>
          </a:xfrm>
        </p:grpSpPr>
        <p:sp>
          <p:nvSpPr>
            <p:cNvPr name="Freeform 17" id="17"/>
            <p:cNvSpPr/>
            <p:nvPr/>
          </p:nvSpPr>
          <p:spPr>
            <a:xfrm flipH="false" flipV="false" rot="0">
              <a:off x="0" y="0"/>
              <a:ext cx="709242" cy="590394"/>
            </a:xfrm>
            <a:custGeom>
              <a:avLst/>
              <a:gdLst/>
              <a:ahLst/>
              <a:cxnLst/>
              <a:rect r="r" b="b" t="t" l="l"/>
              <a:pathLst>
                <a:path h="590394" w="709242">
                  <a:moveTo>
                    <a:pt x="146622" y="0"/>
                  </a:moveTo>
                  <a:lnTo>
                    <a:pt x="562620" y="0"/>
                  </a:lnTo>
                  <a:cubicBezTo>
                    <a:pt x="643597" y="0"/>
                    <a:pt x="709242" y="65645"/>
                    <a:pt x="709242" y="146622"/>
                  </a:cubicBezTo>
                  <a:lnTo>
                    <a:pt x="709242" y="443773"/>
                  </a:lnTo>
                  <a:cubicBezTo>
                    <a:pt x="709242" y="482659"/>
                    <a:pt x="693794" y="519953"/>
                    <a:pt x="666297" y="547450"/>
                  </a:cubicBezTo>
                  <a:cubicBezTo>
                    <a:pt x="638800" y="574947"/>
                    <a:pt x="601506" y="590394"/>
                    <a:pt x="562620" y="590394"/>
                  </a:cubicBezTo>
                  <a:lnTo>
                    <a:pt x="146622" y="590394"/>
                  </a:lnTo>
                  <a:cubicBezTo>
                    <a:pt x="65645" y="590394"/>
                    <a:pt x="0" y="524750"/>
                    <a:pt x="0" y="443773"/>
                  </a:cubicBezTo>
                  <a:lnTo>
                    <a:pt x="0" y="146622"/>
                  </a:lnTo>
                  <a:cubicBezTo>
                    <a:pt x="0" y="107735"/>
                    <a:pt x="15448" y="70441"/>
                    <a:pt x="42945" y="42945"/>
                  </a:cubicBezTo>
                  <a:cubicBezTo>
                    <a:pt x="70441" y="15448"/>
                    <a:pt x="107735" y="0"/>
                    <a:pt x="146622" y="0"/>
                  </a:cubicBezTo>
                  <a:close/>
                </a:path>
              </a:pathLst>
            </a:custGeom>
            <a:solidFill>
              <a:srgbClr val="F4F4F4"/>
            </a:solidFill>
            <a:ln w="19050" cap="rnd">
              <a:solidFill>
                <a:srgbClr val="000000"/>
              </a:solidFill>
              <a:prstDash val="solid"/>
              <a:round/>
            </a:ln>
          </p:spPr>
        </p:sp>
        <p:sp>
          <p:nvSpPr>
            <p:cNvPr name="TextBox 18" id="18"/>
            <p:cNvSpPr txBox="true"/>
            <p:nvPr/>
          </p:nvSpPr>
          <p:spPr>
            <a:xfrm>
              <a:off x="0" y="-38100"/>
              <a:ext cx="709242" cy="628494"/>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231756">
            <a:off x="2191654" y="6710631"/>
            <a:ext cx="1883456" cy="1338819"/>
          </a:xfrm>
          <a:prstGeom prst="rect">
            <a:avLst/>
          </a:prstGeom>
        </p:spPr>
        <p:txBody>
          <a:bodyPr anchor="t" rtlCol="false" tIns="0" lIns="0" bIns="0" rIns="0">
            <a:spAutoFit/>
          </a:bodyPr>
          <a:lstStyle/>
          <a:p>
            <a:pPr algn="ctr">
              <a:lnSpc>
                <a:spcPts val="2110"/>
              </a:lnSpc>
            </a:pPr>
            <a:r>
              <a:rPr lang="en-US" sz="1918" spc="-95">
                <a:solidFill>
                  <a:srgbClr val="010101"/>
                </a:solidFill>
                <a:latin typeface="Happy Font TH"/>
                <a:ea typeface="Happy Font TH"/>
                <a:cs typeface="Happy Font TH"/>
                <a:sym typeface="Happy Font TH"/>
              </a:rPr>
              <a:t>Qualifications match job requirements, proving efficient hiring alignment.</a:t>
            </a:r>
          </a:p>
        </p:txBody>
      </p:sp>
      <p:grpSp>
        <p:nvGrpSpPr>
          <p:cNvPr name="Group 20" id="20"/>
          <p:cNvGrpSpPr/>
          <p:nvPr/>
        </p:nvGrpSpPr>
        <p:grpSpPr>
          <a:xfrm rot="432333">
            <a:off x="14088909" y="6466106"/>
            <a:ext cx="3058346" cy="1098540"/>
            <a:chOff x="0" y="0"/>
            <a:chExt cx="805490" cy="289327"/>
          </a:xfrm>
        </p:grpSpPr>
        <p:sp>
          <p:nvSpPr>
            <p:cNvPr name="Freeform 21" id="21"/>
            <p:cNvSpPr/>
            <p:nvPr/>
          </p:nvSpPr>
          <p:spPr>
            <a:xfrm flipH="false" flipV="false" rot="0">
              <a:off x="0" y="0"/>
              <a:ext cx="805490" cy="289327"/>
            </a:xfrm>
            <a:custGeom>
              <a:avLst/>
              <a:gdLst/>
              <a:ahLst/>
              <a:cxnLst/>
              <a:rect r="r" b="b" t="t" l="l"/>
              <a:pathLst>
                <a:path h="289327" w="805490">
                  <a:moveTo>
                    <a:pt x="129102" y="0"/>
                  </a:moveTo>
                  <a:lnTo>
                    <a:pt x="676388" y="0"/>
                  </a:lnTo>
                  <a:cubicBezTo>
                    <a:pt x="747689" y="0"/>
                    <a:pt x="805490" y="57801"/>
                    <a:pt x="805490" y="129102"/>
                  </a:cubicBezTo>
                  <a:lnTo>
                    <a:pt x="805490" y="160226"/>
                  </a:lnTo>
                  <a:cubicBezTo>
                    <a:pt x="805490" y="231526"/>
                    <a:pt x="747689" y="289327"/>
                    <a:pt x="676388" y="289327"/>
                  </a:cubicBezTo>
                  <a:lnTo>
                    <a:pt x="129102" y="289327"/>
                  </a:lnTo>
                  <a:cubicBezTo>
                    <a:pt x="94862" y="289327"/>
                    <a:pt x="62024" y="275726"/>
                    <a:pt x="37813" y="251514"/>
                  </a:cubicBezTo>
                  <a:cubicBezTo>
                    <a:pt x="13602" y="227303"/>
                    <a:pt x="0" y="194465"/>
                    <a:pt x="0" y="160226"/>
                  </a:cubicBezTo>
                  <a:lnTo>
                    <a:pt x="0" y="129102"/>
                  </a:lnTo>
                  <a:cubicBezTo>
                    <a:pt x="0" y="57801"/>
                    <a:pt x="57801" y="0"/>
                    <a:pt x="129102" y="0"/>
                  </a:cubicBezTo>
                  <a:close/>
                </a:path>
              </a:pathLst>
            </a:custGeom>
            <a:solidFill>
              <a:srgbClr val="F4F4F4"/>
            </a:solidFill>
            <a:ln w="19050" cap="rnd">
              <a:solidFill>
                <a:srgbClr val="000000"/>
              </a:solidFill>
              <a:prstDash val="solid"/>
              <a:round/>
            </a:ln>
          </p:spPr>
        </p:sp>
        <p:sp>
          <p:nvSpPr>
            <p:cNvPr name="TextBox 22" id="22"/>
            <p:cNvSpPr txBox="true"/>
            <p:nvPr/>
          </p:nvSpPr>
          <p:spPr>
            <a:xfrm>
              <a:off x="0" y="-38100"/>
              <a:ext cx="805490" cy="327427"/>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432333">
            <a:off x="14194195" y="6622116"/>
            <a:ext cx="2845384" cy="805419"/>
          </a:xfrm>
          <a:prstGeom prst="rect">
            <a:avLst/>
          </a:prstGeom>
        </p:spPr>
        <p:txBody>
          <a:bodyPr anchor="t" rtlCol="false" tIns="0" lIns="0" bIns="0" rIns="0">
            <a:spAutoFit/>
          </a:bodyPr>
          <a:lstStyle/>
          <a:p>
            <a:pPr algn="ctr">
              <a:lnSpc>
                <a:spcPts val="2110"/>
              </a:lnSpc>
            </a:pPr>
            <a:r>
              <a:rPr lang="en-US" sz="1918" spc="-95">
                <a:solidFill>
                  <a:srgbClr val="010101"/>
                </a:solidFill>
                <a:latin typeface="Happy Font TH"/>
                <a:ea typeface="Happy Font TH"/>
                <a:cs typeface="Happy Font TH"/>
                <a:sym typeface="Happy Font TH"/>
              </a:rPr>
              <a:t>IT &amp; HR hold the most employees, showing core operational strength.</a:t>
            </a:r>
          </a:p>
        </p:txBody>
      </p:sp>
      <p:sp>
        <p:nvSpPr>
          <p:cNvPr name="Freeform 24" id="24"/>
          <p:cNvSpPr/>
          <p:nvPr/>
        </p:nvSpPr>
        <p:spPr>
          <a:xfrm flipH="false" flipV="false" rot="-1840441">
            <a:off x="13781375" y="1313713"/>
            <a:ext cx="200635" cy="251365"/>
          </a:xfrm>
          <a:custGeom>
            <a:avLst/>
            <a:gdLst/>
            <a:ahLst/>
            <a:cxnLst/>
            <a:rect r="r" b="b" t="t" l="l"/>
            <a:pathLst>
              <a:path h="251365" w="200635">
                <a:moveTo>
                  <a:pt x="0" y="0"/>
                </a:moveTo>
                <a:lnTo>
                  <a:pt x="200635" y="0"/>
                </a:lnTo>
                <a:lnTo>
                  <a:pt x="200635" y="251364"/>
                </a:lnTo>
                <a:lnTo>
                  <a:pt x="0" y="2513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false" flipV="false" rot="-9706846">
            <a:off x="4465681" y="1386810"/>
            <a:ext cx="200635" cy="251365"/>
          </a:xfrm>
          <a:custGeom>
            <a:avLst/>
            <a:gdLst/>
            <a:ahLst/>
            <a:cxnLst/>
            <a:rect r="r" b="b" t="t" l="l"/>
            <a:pathLst>
              <a:path h="251365" w="200635">
                <a:moveTo>
                  <a:pt x="0" y="0"/>
                </a:moveTo>
                <a:lnTo>
                  <a:pt x="200634" y="0"/>
                </a:lnTo>
                <a:lnTo>
                  <a:pt x="200634" y="251365"/>
                </a:lnTo>
                <a:lnTo>
                  <a:pt x="0" y="2513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6" id="26"/>
          <p:cNvSpPr/>
          <p:nvPr/>
        </p:nvSpPr>
        <p:spPr>
          <a:xfrm flipH="false" flipV="false" rot="0">
            <a:off x="1307871" y="5082262"/>
            <a:ext cx="1281540" cy="764264"/>
          </a:xfrm>
          <a:custGeom>
            <a:avLst/>
            <a:gdLst/>
            <a:ahLst/>
            <a:cxnLst/>
            <a:rect r="r" b="b" t="t" l="l"/>
            <a:pathLst>
              <a:path h="764264" w="1281540">
                <a:moveTo>
                  <a:pt x="0" y="0"/>
                </a:moveTo>
                <a:lnTo>
                  <a:pt x="1281540" y="0"/>
                </a:lnTo>
                <a:lnTo>
                  <a:pt x="1281540" y="764264"/>
                </a:lnTo>
                <a:lnTo>
                  <a:pt x="0" y="7642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7" id="27"/>
          <p:cNvSpPr/>
          <p:nvPr/>
        </p:nvSpPr>
        <p:spPr>
          <a:xfrm flipH="false" flipV="false" rot="8655126">
            <a:off x="14432909" y="2322895"/>
            <a:ext cx="1281540" cy="764264"/>
          </a:xfrm>
          <a:custGeom>
            <a:avLst/>
            <a:gdLst/>
            <a:ahLst/>
            <a:cxnLst/>
            <a:rect r="r" b="b" t="t" l="l"/>
            <a:pathLst>
              <a:path h="764264" w="1281540">
                <a:moveTo>
                  <a:pt x="0" y="0"/>
                </a:moveTo>
                <a:lnTo>
                  <a:pt x="1281540" y="0"/>
                </a:lnTo>
                <a:lnTo>
                  <a:pt x="1281540" y="764264"/>
                </a:lnTo>
                <a:lnTo>
                  <a:pt x="0" y="7642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8" id="28"/>
          <p:cNvSpPr/>
          <p:nvPr/>
        </p:nvSpPr>
        <p:spPr>
          <a:xfrm flipH="false" flipV="false" rot="521015">
            <a:off x="14423107" y="472222"/>
            <a:ext cx="1674414" cy="919138"/>
          </a:xfrm>
          <a:custGeom>
            <a:avLst/>
            <a:gdLst/>
            <a:ahLst/>
            <a:cxnLst/>
            <a:rect r="r" b="b" t="t" l="l"/>
            <a:pathLst>
              <a:path h="919138" w="1674414">
                <a:moveTo>
                  <a:pt x="0" y="0"/>
                </a:moveTo>
                <a:lnTo>
                  <a:pt x="1674414" y="0"/>
                </a:lnTo>
                <a:lnTo>
                  <a:pt x="1674414" y="919139"/>
                </a:lnTo>
                <a:lnTo>
                  <a:pt x="0" y="91913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9" id="29"/>
          <p:cNvSpPr/>
          <p:nvPr/>
        </p:nvSpPr>
        <p:spPr>
          <a:xfrm flipH="false" flipV="false" rot="-701626">
            <a:off x="1970405" y="2352916"/>
            <a:ext cx="631145" cy="279385"/>
          </a:xfrm>
          <a:custGeom>
            <a:avLst/>
            <a:gdLst/>
            <a:ahLst/>
            <a:cxnLst/>
            <a:rect r="r" b="b" t="t" l="l"/>
            <a:pathLst>
              <a:path h="279385" w="631145">
                <a:moveTo>
                  <a:pt x="0" y="0"/>
                </a:moveTo>
                <a:lnTo>
                  <a:pt x="631144" y="0"/>
                </a:lnTo>
                <a:lnTo>
                  <a:pt x="631144" y="279384"/>
                </a:lnTo>
                <a:lnTo>
                  <a:pt x="0" y="27938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0" id="30"/>
          <p:cNvSpPr/>
          <p:nvPr/>
        </p:nvSpPr>
        <p:spPr>
          <a:xfrm flipH="false" flipV="false" rot="0">
            <a:off x="17535300" y="264964"/>
            <a:ext cx="379921" cy="383118"/>
          </a:xfrm>
          <a:custGeom>
            <a:avLst/>
            <a:gdLst/>
            <a:ahLst/>
            <a:cxnLst/>
            <a:rect r="r" b="b" t="t" l="l"/>
            <a:pathLst>
              <a:path h="383118" w="379921">
                <a:moveTo>
                  <a:pt x="0" y="0"/>
                </a:moveTo>
                <a:lnTo>
                  <a:pt x="379921" y="0"/>
                </a:lnTo>
                <a:lnTo>
                  <a:pt x="379921" y="383118"/>
                </a:lnTo>
                <a:lnTo>
                  <a:pt x="0" y="38311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1" id="31"/>
          <p:cNvSpPr/>
          <p:nvPr/>
        </p:nvSpPr>
        <p:spPr>
          <a:xfrm flipH="false" flipV="false" rot="0">
            <a:off x="457318" y="7919810"/>
            <a:ext cx="379921" cy="383118"/>
          </a:xfrm>
          <a:custGeom>
            <a:avLst/>
            <a:gdLst/>
            <a:ahLst/>
            <a:cxnLst/>
            <a:rect r="r" b="b" t="t" l="l"/>
            <a:pathLst>
              <a:path h="383118" w="379921">
                <a:moveTo>
                  <a:pt x="0" y="0"/>
                </a:moveTo>
                <a:lnTo>
                  <a:pt x="379920" y="0"/>
                </a:lnTo>
                <a:lnTo>
                  <a:pt x="379920" y="383118"/>
                </a:lnTo>
                <a:lnTo>
                  <a:pt x="0" y="38311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2" id="32"/>
          <p:cNvSpPr/>
          <p:nvPr/>
        </p:nvSpPr>
        <p:spPr>
          <a:xfrm flipH="false" flipV="false" rot="-6072899">
            <a:off x="3922064" y="3466660"/>
            <a:ext cx="1241082" cy="988353"/>
          </a:xfrm>
          <a:custGeom>
            <a:avLst/>
            <a:gdLst/>
            <a:ahLst/>
            <a:cxnLst/>
            <a:rect r="r" b="b" t="t" l="l"/>
            <a:pathLst>
              <a:path h="988353" w="1241082">
                <a:moveTo>
                  <a:pt x="0" y="0"/>
                </a:moveTo>
                <a:lnTo>
                  <a:pt x="1241082" y="0"/>
                </a:lnTo>
                <a:lnTo>
                  <a:pt x="1241082" y="988353"/>
                </a:lnTo>
                <a:lnTo>
                  <a:pt x="0" y="98835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33" id="33"/>
          <p:cNvGrpSpPr/>
          <p:nvPr/>
        </p:nvGrpSpPr>
        <p:grpSpPr>
          <a:xfrm rot="-580418">
            <a:off x="11468158" y="2173256"/>
            <a:ext cx="2620291" cy="1001332"/>
            <a:chOff x="0" y="0"/>
            <a:chExt cx="690118" cy="263725"/>
          </a:xfrm>
        </p:grpSpPr>
        <p:sp>
          <p:nvSpPr>
            <p:cNvPr name="Freeform 34" id="34"/>
            <p:cNvSpPr/>
            <p:nvPr/>
          </p:nvSpPr>
          <p:spPr>
            <a:xfrm flipH="false" flipV="false" rot="0">
              <a:off x="0" y="0"/>
              <a:ext cx="690118" cy="263725"/>
            </a:xfrm>
            <a:custGeom>
              <a:avLst/>
              <a:gdLst/>
              <a:ahLst/>
              <a:cxnLst/>
              <a:rect r="r" b="b" t="t" l="l"/>
              <a:pathLst>
                <a:path h="263725" w="690118">
                  <a:moveTo>
                    <a:pt x="131863" y="0"/>
                  </a:moveTo>
                  <a:lnTo>
                    <a:pt x="558255" y="0"/>
                  </a:lnTo>
                  <a:cubicBezTo>
                    <a:pt x="631081" y="0"/>
                    <a:pt x="690118" y="59037"/>
                    <a:pt x="690118" y="131863"/>
                  </a:cubicBezTo>
                  <a:lnTo>
                    <a:pt x="690118" y="131863"/>
                  </a:lnTo>
                  <a:cubicBezTo>
                    <a:pt x="690118" y="204688"/>
                    <a:pt x="631081" y="263725"/>
                    <a:pt x="558255" y="263725"/>
                  </a:cubicBezTo>
                  <a:lnTo>
                    <a:pt x="131863" y="263725"/>
                  </a:lnTo>
                  <a:cubicBezTo>
                    <a:pt x="59037" y="263725"/>
                    <a:pt x="0" y="204688"/>
                    <a:pt x="0" y="131863"/>
                  </a:cubicBezTo>
                  <a:lnTo>
                    <a:pt x="0" y="131863"/>
                  </a:lnTo>
                  <a:cubicBezTo>
                    <a:pt x="0" y="59037"/>
                    <a:pt x="59037" y="0"/>
                    <a:pt x="131863" y="0"/>
                  </a:cubicBezTo>
                  <a:close/>
                </a:path>
              </a:pathLst>
            </a:custGeom>
            <a:solidFill>
              <a:srgbClr val="F4F4F4"/>
            </a:solidFill>
            <a:ln w="19050" cap="rnd">
              <a:solidFill>
                <a:srgbClr val="000000"/>
              </a:solidFill>
              <a:prstDash val="solid"/>
              <a:round/>
            </a:ln>
          </p:spPr>
        </p:sp>
        <p:sp>
          <p:nvSpPr>
            <p:cNvPr name="TextBox 35" id="35"/>
            <p:cNvSpPr txBox="true"/>
            <p:nvPr/>
          </p:nvSpPr>
          <p:spPr>
            <a:xfrm>
              <a:off x="0" y="-38100"/>
              <a:ext cx="690118" cy="301825"/>
            </a:xfrm>
            <a:prstGeom prst="rect">
              <a:avLst/>
            </a:prstGeom>
          </p:spPr>
          <p:txBody>
            <a:bodyPr anchor="ctr" rtlCol="false" tIns="50800" lIns="50800" bIns="50800" rIns="50800"/>
            <a:lstStyle/>
            <a:p>
              <a:pPr algn="ctr">
                <a:lnSpc>
                  <a:spcPts val="2659"/>
                </a:lnSpc>
              </a:pPr>
            </a:p>
          </p:txBody>
        </p:sp>
      </p:grpSp>
      <p:sp>
        <p:nvSpPr>
          <p:cNvPr name="TextBox 36" id="36"/>
          <p:cNvSpPr txBox="true"/>
          <p:nvPr/>
        </p:nvSpPr>
        <p:spPr>
          <a:xfrm rot="-580418">
            <a:off x="11630645" y="2369283"/>
            <a:ext cx="2053027" cy="740526"/>
          </a:xfrm>
          <a:prstGeom prst="rect">
            <a:avLst/>
          </a:prstGeom>
        </p:spPr>
        <p:txBody>
          <a:bodyPr anchor="t" rtlCol="false" tIns="0" lIns="0" bIns="0" rIns="0">
            <a:spAutoFit/>
          </a:bodyPr>
          <a:lstStyle/>
          <a:p>
            <a:pPr algn="ctr">
              <a:lnSpc>
                <a:spcPts val="1496"/>
              </a:lnSpc>
            </a:pPr>
            <a:r>
              <a:rPr lang="en-US" sz="1918" spc="-168">
                <a:solidFill>
                  <a:srgbClr val="010101"/>
                </a:solidFill>
                <a:latin typeface="Happy Font TH"/>
                <a:ea typeface="Happy Font TH"/>
                <a:cs typeface="Happy Font TH"/>
                <a:sym typeface="Happy Font TH"/>
              </a:rPr>
              <a:t>Departments with higher skills demand show higher payroll allocations.</a:t>
            </a:r>
          </a:p>
        </p:txBody>
      </p:sp>
      <p:grpSp>
        <p:nvGrpSpPr>
          <p:cNvPr name="Group 37" id="37"/>
          <p:cNvGrpSpPr/>
          <p:nvPr/>
        </p:nvGrpSpPr>
        <p:grpSpPr>
          <a:xfrm rot="-580418">
            <a:off x="5971081" y="2038998"/>
            <a:ext cx="2672448" cy="1132138"/>
            <a:chOff x="0" y="0"/>
            <a:chExt cx="703855" cy="298176"/>
          </a:xfrm>
        </p:grpSpPr>
        <p:sp>
          <p:nvSpPr>
            <p:cNvPr name="Freeform 38" id="38"/>
            <p:cNvSpPr/>
            <p:nvPr/>
          </p:nvSpPr>
          <p:spPr>
            <a:xfrm flipH="false" flipV="false" rot="0">
              <a:off x="0" y="0"/>
              <a:ext cx="703855" cy="298176"/>
            </a:xfrm>
            <a:custGeom>
              <a:avLst/>
              <a:gdLst/>
              <a:ahLst/>
              <a:cxnLst/>
              <a:rect r="r" b="b" t="t" l="l"/>
              <a:pathLst>
                <a:path h="298176" w="703855">
                  <a:moveTo>
                    <a:pt x="147744" y="0"/>
                  </a:moveTo>
                  <a:lnTo>
                    <a:pt x="556111" y="0"/>
                  </a:lnTo>
                  <a:cubicBezTo>
                    <a:pt x="637708" y="0"/>
                    <a:pt x="703855" y="66147"/>
                    <a:pt x="703855" y="147744"/>
                  </a:cubicBezTo>
                  <a:lnTo>
                    <a:pt x="703855" y="150432"/>
                  </a:lnTo>
                  <a:cubicBezTo>
                    <a:pt x="703855" y="232029"/>
                    <a:pt x="637708" y="298176"/>
                    <a:pt x="556111" y="298176"/>
                  </a:cubicBezTo>
                  <a:lnTo>
                    <a:pt x="147744" y="298176"/>
                  </a:lnTo>
                  <a:cubicBezTo>
                    <a:pt x="66147" y="298176"/>
                    <a:pt x="0" y="232029"/>
                    <a:pt x="0" y="150432"/>
                  </a:cubicBezTo>
                  <a:lnTo>
                    <a:pt x="0" y="147744"/>
                  </a:lnTo>
                  <a:cubicBezTo>
                    <a:pt x="0" y="66147"/>
                    <a:pt x="66147" y="0"/>
                    <a:pt x="147744" y="0"/>
                  </a:cubicBezTo>
                  <a:close/>
                </a:path>
              </a:pathLst>
            </a:custGeom>
            <a:solidFill>
              <a:srgbClr val="F4F4F4"/>
            </a:solidFill>
            <a:ln w="19050" cap="rnd">
              <a:solidFill>
                <a:srgbClr val="000000"/>
              </a:solidFill>
              <a:prstDash val="solid"/>
              <a:round/>
            </a:ln>
          </p:spPr>
        </p:sp>
        <p:sp>
          <p:nvSpPr>
            <p:cNvPr name="TextBox 39" id="39"/>
            <p:cNvSpPr txBox="true"/>
            <p:nvPr/>
          </p:nvSpPr>
          <p:spPr>
            <a:xfrm>
              <a:off x="0" y="-38100"/>
              <a:ext cx="703855" cy="336276"/>
            </a:xfrm>
            <a:prstGeom prst="rect">
              <a:avLst/>
            </a:prstGeom>
          </p:spPr>
          <p:txBody>
            <a:bodyPr anchor="ctr" rtlCol="false" tIns="50800" lIns="50800" bIns="50800" rIns="50800"/>
            <a:lstStyle/>
            <a:p>
              <a:pPr algn="ctr">
                <a:lnSpc>
                  <a:spcPts val="2659"/>
                </a:lnSpc>
              </a:pPr>
            </a:p>
          </p:txBody>
        </p:sp>
      </p:grpSp>
      <p:sp>
        <p:nvSpPr>
          <p:cNvPr name="TextBox 40" id="40"/>
          <p:cNvSpPr txBox="true"/>
          <p:nvPr/>
        </p:nvSpPr>
        <p:spPr>
          <a:xfrm rot="-580418">
            <a:off x="6287993" y="2272273"/>
            <a:ext cx="2053027" cy="740526"/>
          </a:xfrm>
          <a:prstGeom prst="rect">
            <a:avLst/>
          </a:prstGeom>
        </p:spPr>
        <p:txBody>
          <a:bodyPr anchor="t" rtlCol="false" tIns="0" lIns="0" bIns="0" rIns="0">
            <a:spAutoFit/>
          </a:bodyPr>
          <a:lstStyle/>
          <a:p>
            <a:pPr algn="ctr">
              <a:lnSpc>
                <a:spcPts val="1496"/>
              </a:lnSpc>
            </a:pPr>
            <a:r>
              <a:rPr lang="en-US" sz="1918" spc="-168">
                <a:solidFill>
                  <a:srgbClr val="010101"/>
                </a:solidFill>
                <a:latin typeface="Happy Font TH"/>
                <a:ea typeface="Happy Font TH"/>
                <a:cs typeface="Happy Font TH"/>
                <a:sym typeface="Happy Font TH"/>
              </a:rPr>
              <a:t>Leave patterns show predictable annual trends, useful for planning.</a:t>
            </a:r>
          </a:p>
        </p:txBody>
      </p:sp>
      <p:grpSp>
        <p:nvGrpSpPr>
          <p:cNvPr name="Group 41" id="41"/>
          <p:cNvGrpSpPr/>
          <p:nvPr/>
        </p:nvGrpSpPr>
        <p:grpSpPr>
          <a:xfrm rot="-631653">
            <a:off x="758130" y="316977"/>
            <a:ext cx="3507055" cy="1536538"/>
            <a:chOff x="0" y="0"/>
            <a:chExt cx="923669" cy="404685"/>
          </a:xfrm>
        </p:grpSpPr>
        <p:sp>
          <p:nvSpPr>
            <p:cNvPr name="Freeform 42" id="42"/>
            <p:cNvSpPr/>
            <p:nvPr/>
          </p:nvSpPr>
          <p:spPr>
            <a:xfrm flipH="false" flipV="false" rot="0">
              <a:off x="0" y="0"/>
              <a:ext cx="923669" cy="404685"/>
            </a:xfrm>
            <a:custGeom>
              <a:avLst/>
              <a:gdLst/>
              <a:ahLst/>
              <a:cxnLst/>
              <a:rect r="r" b="b" t="t" l="l"/>
              <a:pathLst>
                <a:path h="404685" w="923669">
                  <a:moveTo>
                    <a:pt x="112584" y="0"/>
                  </a:moveTo>
                  <a:lnTo>
                    <a:pt x="811085" y="0"/>
                  </a:lnTo>
                  <a:cubicBezTo>
                    <a:pt x="840944" y="0"/>
                    <a:pt x="869580" y="11861"/>
                    <a:pt x="890694" y="32975"/>
                  </a:cubicBezTo>
                  <a:cubicBezTo>
                    <a:pt x="911807" y="54089"/>
                    <a:pt x="923669" y="82725"/>
                    <a:pt x="923669" y="112584"/>
                  </a:cubicBezTo>
                  <a:lnTo>
                    <a:pt x="923669" y="292101"/>
                  </a:lnTo>
                  <a:cubicBezTo>
                    <a:pt x="923669" y="321960"/>
                    <a:pt x="911807" y="350596"/>
                    <a:pt x="890694" y="371710"/>
                  </a:cubicBezTo>
                  <a:cubicBezTo>
                    <a:pt x="869580" y="392824"/>
                    <a:pt x="840944" y="404685"/>
                    <a:pt x="811085" y="404685"/>
                  </a:cubicBezTo>
                  <a:lnTo>
                    <a:pt x="112584" y="404685"/>
                  </a:lnTo>
                  <a:cubicBezTo>
                    <a:pt x="82725" y="404685"/>
                    <a:pt x="54089" y="392824"/>
                    <a:pt x="32975" y="371710"/>
                  </a:cubicBezTo>
                  <a:cubicBezTo>
                    <a:pt x="11861" y="350596"/>
                    <a:pt x="0" y="321960"/>
                    <a:pt x="0" y="292101"/>
                  </a:cubicBezTo>
                  <a:lnTo>
                    <a:pt x="0" y="112584"/>
                  </a:lnTo>
                  <a:cubicBezTo>
                    <a:pt x="0" y="82725"/>
                    <a:pt x="11861" y="54089"/>
                    <a:pt x="32975" y="32975"/>
                  </a:cubicBezTo>
                  <a:cubicBezTo>
                    <a:pt x="54089" y="11861"/>
                    <a:pt x="82725" y="0"/>
                    <a:pt x="112584" y="0"/>
                  </a:cubicBezTo>
                  <a:close/>
                </a:path>
              </a:pathLst>
            </a:custGeom>
            <a:solidFill>
              <a:srgbClr val="F4F4F4"/>
            </a:solidFill>
            <a:ln w="19050" cap="rnd">
              <a:solidFill>
                <a:srgbClr val="000000"/>
              </a:solidFill>
              <a:prstDash val="solid"/>
              <a:round/>
            </a:ln>
          </p:spPr>
        </p:sp>
        <p:sp>
          <p:nvSpPr>
            <p:cNvPr name="TextBox 43" id="43"/>
            <p:cNvSpPr txBox="true"/>
            <p:nvPr/>
          </p:nvSpPr>
          <p:spPr>
            <a:xfrm>
              <a:off x="0" y="-38100"/>
              <a:ext cx="923669" cy="442785"/>
            </a:xfrm>
            <a:prstGeom prst="rect">
              <a:avLst/>
            </a:prstGeom>
          </p:spPr>
          <p:txBody>
            <a:bodyPr anchor="ctr" rtlCol="false" tIns="50800" lIns="50800" bIns="50800" rIns="50800"/>
            <a:lstStyle/>
            <a:p>
              <a:pPr algn="ctr">
                <a:lnSpc>
                  <a:spcPts val="2659"/>
                </a:lnSpc>
              </a:pPr>
            </a:p>
          </p:txBody>
        </p:sp>
      </p:grpSp>
      <p:sp>
        <p:nvSpPr>
          <p:cNvPr name="TextBox 44" id="44"/>
          <p:cNvSpPr txBox="true"/>
          <p:nvPr/>
        </p:nvSpPr>
        <p:spPr>
          <a:xfrm rot="-631653">
            <a:off x="1379303" y="480566"/>
            <a:ext cx="2268190" cy="1228090"/>
          </a:xfrm>
          <a:prstGeom prst="rect">
            <a:avLst/>
          </a:prstGeom>
        </p:spPr>
        <p:txBody>
          <a:bodyPr anchor="t" rtlCol="false" tIns="0" lIns="0" bIns="0" rIns="0">
            <a:spAutoFit/>
          </a:bodyPr>
          <a:lstStyle/>
          <a:p>
            <a:pPr algn="ctr">
              <a:lnSpc>
                <a:spcPts val="2419"/>
              </a:lnSpc>
            </a:pPr>
            <a:r>
              <a:rPr lang="en-US" sz="2199" spc="-109">
                <a:solidFill>
                  <a:srgbClr val="010101"/>
                </a:solidFill>
                <a:latin typeface="Happy Font TH"/>
                <a:ea typeface="Happy Font TH"/>
                <a:cs typeface="Happy Font TH"/>
                <a:sym typeface="Happy Font TH"/>
              </a:rPr>
              <a:t>Minimal data inconsistencies, showing a clean, reliable HR system.</a:t>
            </a:r>
          </a:p>
        </p:txBody>
      </p:sp>
      <p:sp>
        <p:nvSpPr>
          <p:cNvPr name="Freeform 45" id="45"/>
          <p:cNvSpPr/>
          <p:nvPr/>
        </p:nvSpPr>
        <p:spPr>
          <a:xfrm flipH="false" flipV="false" rot="0">
            <a:off x="13385388" y="9414246"/>
            <a:ext cx="4838090" cy="1009526"/>
          </a:xfrm>
          <a:custGeom>
            <a:avLst/>
            <a:gdLst/>
            <a:ahLst/>
            <a:cxnLst/>
            <a:rect r="r" b="b" t="t" l="l"/>
            <a:pathLst>
              <a:path h="1009526" w="4838090">
                <a:moveTo>
                  <a:pt x="0" y="0"/>
                </a:moveTo>
                <a:lnTo>
                  <a:pt x="4838090" y="0"/>
                </a:lnTo>
                <a:lnTo>
                  <a:pt x="4838090" y="1009526"/>
                </a:lnTo>
                <a:lnTo>
                  <a:pt x="0" y="1009526"/>
                </a:lnTo>
                <a:lnTo>
                  <a:pt x="0" y="0"/>
                </a:lnTo>
                <a:close/>
              </a:path>
            </a:pathLst>
          </a:custGeom>
          <a:blipFill>
            <a:blip r:embed="rId16"/>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8E6E6"/>
        </a:solidFill>
      </p:bgPr>
    </p:bg>
    <p:spTree>
      <p:nvGrpSpPr>
        <p:cNvPr id="1" name=""/>
        <p:cNvGrpSpPr/>
        <p:nvPr/>
      </p:nvGrpSpPr>
      <p:grpSpPr>
        <a:xfrm>
          <a:off x="0" y="0"/>
          <a:ext cx="0" cy="0"/>
          <a:chOff x="0" y="0"/>
          <a:chExt cx="0" cy="0"/>
        </a:xfrm>
      </p:grpSpPr>
      <p:sp>
        <p:nvSpPr>
          <p:cNvPr name="TextBox 2" id="2"/>
          <p:cNvSpPr txBox="true"/>
          <p:nvPr/>
        </p:nvSpPr>
        <p:spPr>
          <a:xfrm rot="0">
            <a:off x="1028700" y="578780"/>
            <a:ext cx="6195231" cy="893446"/>
          </a:xfrm>
          <a:prstGeom prst="rect">
            <a:avLst/>
          </a:prstGeom>
        </p:spPr>
        <p:txBody>
          <a:bodyPr anchor="t" rtlCol="false" tIns="0" lIns="0" bIns="0" rIns="0">
            <a:spAutoFit/>
          </a:bodyPr>
          <a:lstStyle/>
          <a:p>
            <a:pPr algn="l">
              <a:lnSpc>
                <a:spcPts val="6240"/>
              </a:lnSpc>
            </a:pPr>
            <a:r>
              <a:rPr lang="en-US" sz="8000" spc="-704">
                <a:solidFill>
                  <a:srgbClr val="0390A7"/>
                </a:solidFill>
                <a:latin typeface="Happy Font TH"/>
                <a:ea typeface="Happy Font TH"/>
                <a:cs typeface="Happy Font TH"/>
                <a:sym typeface="Happy Font TH"/>
              </a:rPr>
              <a:t>CONCLUSION</a:t>
            </a:r>
          </a:p>
        </p:txBody>
      </p:sp>
      <p:sp>
        <p:nvSpPr>
          <p:cNvPr name="Freeform 3" id="3"/>
          <p:cNvSpPr/>
          <p:nvPr/>
        </p:nvSpPr>
        <p:spPr>
          <a:xfrm flipH="false" flipV="false" rot="-9706846">
            <a:off x="605847" y="279993"/>
            <a:ext cx="200635" cy="251365"/>
          </a:xfrm>
          <a:custGeom>
            <a:avLst/>
            <a:gdLst/>
            <a:ahLst/>
            <a:cxnLst/>
            <a:rect r="r" b="b" t="t" l="l"/>
            <a:pathLst>
              <a:path h="251365" w="200635">
                <a:moveTo>
                  <a:pt x="0" y="0"/>
                </a:moveTo>
                <a:lnTo>
                  <a:pt x="200634" y="0"/>
                </a:lnTo>
                <a:lnTo>
                  <a:pt x="200634" y="251365"/>
                </a:lnTo>
                <a:lnTo>
                  <a:pt x="0" y="2513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985749">
            <a:off x="9966932" y="7950364"/>
            <a:ext cx="1171310" cy="1245093"/>
          </a:xfrm>
          <a:custGeom>
            <a:avLst/>
            <a:gdLst/>
            <a:ahLst/>
            <a:cxnLst/>
            <a:rect r="r" b="b" t="t" l="l"/>
            <a:pathLst>
              <a:path h="1245093" w="1171310">
                <a:moveTo>
                  <a:pt x="0" y="0"/>
                </a:moveTo>
                <a:lnTo>
                  <a:pt x="1171310" y="0"/>
                </a:lnTo>
                <a:lnTo>
                  <a:pt x="1171310" y="1245093"/>
                </a:lnTo>
                <a:lnTo>
                  <a:pt x="0" y="12450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6072759">
            <a:off x="9839995" y="5581317"/>
            <a:ext cx="920065" cy="996134"/>
          </a:xfrm>
          <a:custGeom>
            <a:avLst/>
            <a:gdLst/>
            <a:ahLst/>
            <a:cxnLst/>
            <a:rect r="r" b="b" t="t" l="l"/>
            <a:pathLst>
              <a:path h="996134" w="920065">
                <a:moveTo>
                  <a:pt x="0" y="0"/>
                </a:moveTo>
                <a:lnTo>
                  <a:pt x="920065" y="0"/>
                </a:lnTo>
                <a:lnTo>
                  <a:pt x="920065" y="996134"/>
                </a:lnTo>
                <a:lnTo>
                  <a:pt x="0" y="9961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840747" y="2034105"/>
            <a:ext cx="754643" cy="703381"/>
          </a:xfrm>
          <a:custGeom>
            <a:avLst/>
            <a:gdLst/>
            <a:ahLst/>
            <a:cxnLst/>
            <a:rect r="r" b="b" t="t" l="l"/>
            <a:pathLst>
              <a:path h="703381" w="754643">
                <a:moveTo>
                  <a:pt x="0" y="0"/>
                </a:moveTo>
                <a:lnTo>
                  <a:pt x="754643" y="0"/>
                </a:lnTo>
                <a:lnTo>
                  <a:pt x="754643" y="703381"/>
                </a:lnTo>
                <a:lnTo>
                  <a:pt x="0" y="7033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1392367">
            <a:off x="14214142" y="662492"/>
            <a:ext cx="1765303" cy="2249088"/>
          </a:xfrm>
          <a:custGeom>
            <a:avLst/>
            <a:gdLst/>
            <a:ahLst/>
            <a:cxnLst/>
            <a:rect r="r" b="b" t="t" l="l"/>
            <a:pathLst>
              <a:path h="2249088" w="1765303">
                <a:moveTo>
                  <a:pt x="0" y="0"/>
                </a:moveTo>
                <a:lnTo>
                  <a:pt x="1765303" y="0"/>
                </a:lnTo>
                <a:lnTo>
                  <a:pt x="1765303" y="2249089"/>
                </a:lnTo>
                <a:lnTo>
                  <a:pt x="0" y="224908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706164" y="9414246"/>
            <a:ext cx="379921" cy="383118"/>
          </a:xfrm>
          <a:custGeom>
            <a:avLst/>
            <a:gdLst/>
            <a:ahLst/>
            <a:cxnLst/>
            <a:rect r="r" b="b" t="t" l="l"/>
            <a:pathLst>
              <a:path h="383118" w="379921">
                <a:moveTo>
                  <a:pt x="0" y="0"/>
                </a:moveTo>
                <a:lnTo>
                  <a:pt x="379920" y="0"/>
                </a:lnTo>
                <a:lnTo>
                  <a:pt x="379920" y="383118"/>
                </a:lnTo>
                <a:lnTo>
                  <a:pt x="0" y="38311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9" id="9"/>
          <p:cNvSpPr txBox="true"/>
          <p:nvPr/>
        </p:nvSpPr>
        <p:spPr>
          <a:xfrm rot="0">
            <a:off x="1086084" y="2931030"/>
            <a:ext cx="8859430" cy="2622813"/>
          </a:xfrm>
          <a:prstGeom prst="rect">
            <a:avLst/>
          </a:prstGeom>
        </p:spPr>
        <p:txBody>
          <a:bodyPr anchor="t" rtlCol="false" tIns="0" lIns="0" bIns="0" rIns="0">
            <a:spAutoFit/>
          </a:bodyPr>
          <a:lstStyle/>
          <a:p>
            <a:pPr algn="ctr">
              <a:lnSpc>
                <a:spcPts val="3439"/>
              </a:lnSpc>
            </a:pPr>
            <a:r>
              <a:rPr lang="en-US" sz="3127" spc="-156">
                <a:solidFill>
                  <a:srgbClr val="010101"/>
                </a:solidFill>
                <a:latin typeface="Happy Font TH"/>
                <a:ea typeface="Happy Font TH"/>
                <a:cs typeface="Happy Font TH"/>
                <a:sym typeface="Happy Font TH"/>
              </a:rPr>
              <a:t>The Employee Management System SQL project successfully demonstrates real-world database design, data normalization, and analytical querying.</a:t>
            </a:r>
          </a:p>
          <a:p>
            <a:pPr algn="ctr">
              <a:lnSpc>
                <a:spcPts val="3439"/>
              </a:lnSpc>
            </a:pPr>
            <a:r>
              <a:rPr lang="en-US" sz="3127" spc="-156">
                <a:solidFill>
                  <a:srgbClr val="010101"/>
                </a:solidFill>
                <a:latin typeface="Happy Font TH"/>
                <a:ea typeface="Happy Font TH"/>
                <a:cs typeface="Happy Font TH"/>
                <a:sym typeface="Happy Font TH"/>
              </a:rPr>
              <a:t> It provides actionable insights into employee structure, payroll efficiency, departmental performance, and workforce trends.</a:t>
            </a:r>
          </a:p>
        </p:txBody>
      </p:sp>
      <p:sp>
        <p:nvSpPr>
          <p:cNvPr name="Freeform 10" id="10"/>
          <p:cNvSpPr/>
          <p:nvPr/>
        </p:nvSpPr>
        <p:spPr>
          <a:xfrm flipH="false" flipV="false" rot="0">
            <a:off x="13385388" y="9414246"/>
            <a:ext cx="4838090" cy="1009526"/>
          </a:xfrm>
          <a:custGeom>
            <a:avLst/>
            <a:gdLst/>
            <a:ahLst/>
            <a:cxnLst/>
            <a:rect r="r" b="b" t="t" l="l"/>
            <a:pathLst>
              <a:path h="1009526" w="4838090">
                <a:moveTo>
                  <a:pt x="0" y="0"/>
                </a:moveTo>
                <a:lnTo>
                  <a:pt x="4838090" y="0"/>
                </a:lnTo>
                <a:lnTo>
                  <a:pt x="4838090" y="1009526"/>
                </a:lnTo>
                <a:lnTo>
                  <a:pt x="0" y="1009526"/>
                </a:lnTo>
                <a:lnTo>
                  <a:pt x="0" y="0"/>
                </a:lnTo>
                <a:close/>
              </a:path>
            </a:pathLst>
          </a:custGeom>
          <a:blipFill>
            <a:blip r:embed="rId14"/>
            <a:stretch>
              <a:fillRect l="0" t="0" r="0" b="0"/>
            </a:stretch>
          </a:blipFill>
        </p:spPr>
      </p:sp>
      <p:sp>
        <p:nvSpPr>
          <p:cNvPr name="TextBox 11" id="11"/>
          <p:cNvSpPr txBox="true"/>
          <p:nvPr/>
        </p:nvSpPr>
        <p:spPr>
          <a:xfrm rot="0">
            <a:off x="1557039" y="6098434"/>
            <a:ext cx="7755989" cy="2114550"/>
          </a:xfrm>
          <a:prstGeom prst="rect">
            <a:avLst/>
          </a:prstGeom>
        </p:spPr>
        <p:txBody>
          <a:bodyPr anchor="t" rtlCol="false" tIns="0" lIns="0" bIns="0" rIns="0">
            <a:spAutoFit/>
          </a:bodyPr>
          <a:lstStyle/>
          <a:p>
            <a:pPr algn="ctr">
              <a:lnSpc>
                <a:spcPts val="3300"/>
              </a:lnSpc>
            </a:pPr>
            <a:r>
              <a:rPr lang="en-US" sz="3000" spc="-150">
                <a:solidFill>
                  <a:srgbClr val="010101"/>
                </a:solidFill>
                <a:latin typeface="Happy Font TH"/>
                <a:ea typeface="Happy Font TH"/>
                <a:cs typeface="Happy Font TH"/>
                <a:sym typeface="Happy Font TH"/>
              </a:rPr>
              <a:t>The system ensures accurate HR operations through linked tables and structured constraints, making it a scalable and reliable solution for organizational data management.</a:t>
            </a:r>
          </a:p>
          <a:p>
            <a:pPr algn="ctr">
              <a:lnSpc>
                <a:spcPts val="3300"/>
              </a:lnSpc>
            </a:pPr>
          </a:p>
        </p:txBody>
      </p:sp>
      <p:sp>
        <p:nvSpPr>
          <p:cNvPr name="Freeform 12" id="12"/>
          <p:cNvSpPr/>
          <p:nvPr/>
        </p:nvSpPr>
        <p:spPr>
          <a:xfrm flipH="false" flipV="false" rot="0">
            <a:off x="11383160" y="3178585"/>
            <a:ext cx="6339607" cy="4552990"/>
          </a:xfrm>
          <a:custGeom>
            <a:avLst/>
            <a:gdLst/>
            <a:ahLst/>
            <a:cxnLst/>
            <a:rect r="r" b="b" t="t" l="l"/>
            <a:pathLst>
              <a:path h="4552990" w="6339607">
                <a:moveTo>
                  <a:pt x="0" y="0"/>
                </a:moveTo>
                <a:lnTo>
                  <a:pt x="6339607" y="0"/>
                </a:lnTo>
                <a:lnTo>
                  <a:pt x="6339607" y="4552990"/>
                </a:lnTo>
                <a:lnTo>
                  <a:pt x="0" y="455299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8E6E6"/>
        </a:solidFill>
      </p:bgPr>
    </p:bg>
    <p:spTree>
      <p:nvGrpSpPr>
        <p:cNvPr id="1" name=""/>
        <p:cNvGrpSpPr/>
        <p:nvPr/>
      </p:nvGrpSpPr>
      <p:grpSpPr>
        <a:xfrm>
          <a:off x="0" y="0"/>
          <a:ext cx="0" cy="0"/>
          <a:chOff x="0" y="0"/>
          <a:chExt cx="0" cy="0"/>
        </a:xfrm>
      </p:grpSpPr>
      <p:sp>
        <p:nvSpPr>
          <p:cNvPr name="TextBox 2" id="2"/>
          <p:cNvSpPr txBox="true"/>
          <p:nvPr/>
        </p:nvSpPr>
        <p:spPr>
          <a:xfrm rot="0">
            <a:off x="1917722" y="3801868"/>
            <a:ext cx="13596997" cy="1984471"/>
          </a:xfrm>
          <a:prstGeom prst="rect">
            <a:avLst/>
          </a:prstGeom>
        </p:spPr>
        <p:txBody>
          <a:bodyPr anchor="t" rtlCol="false" tIns="0" lIns="0" bIns="0" rIns="0">
            <a:spAutoFit/>
          </a:bodyPr>
          <a:lstStyle/>
          <a:p>
            <a:pPr algn="ctr">
              <a:lnSpc>
                <a:spcPts val="13837"/>
              </a:lnSpc>
            </a:pPr>
            <a:r>
              <a:rPr lang="en-US" sz="17739" spc="-1561">
                <a:solidFill>
                  <a:srgbClr val="0390A7"/>
                </a:solidFill>
                <a:latin typeface="Happy Font TH"/>
                <a:ea typeface="Happy Font TH"/>
                <a:cs typeface="Happy Font TH"/>
                <a:sym typeface="Happy Font TH"/>
              </a:rPr>
              <a:t>THANK YOU</a:t>
            </a:r>
          </a:p>
        </p:txBody>
      </p:sp>
      <p:sp>
        <p:nvSpPr>
          <p:cNvPr name="Freeform 3" id="3"/>
          <p:cNvSpPr/>
          <p:nvPr/>
        </p:nvSpPr>
        <p:spPr>
          <a:xfrm flipH="false" flipV="false" rot="-370173">
            <a:off x="15183538" y="5039787"/>
            <a:ext cx="200635" cy="251365"/>
          </a:xfrm>
          <a:custGeom>
            <a:avLst/>
            <a:gdLst/>
            <a:ahLst/>
            <a:cxnLst/>
            <a:rect r="r" b="b" t="t" l="l"/>
            <a:pathLst>
              <a:path h="251365" w="200635">
                <a:moveTo>
                  <a:pt x="0" y="0"/>
                </a:moveTo>
                <a:lnTo>
                  <a:pt x="200635" y="0"/>
                </a:lnTo>
                <a:lnTo>
                  <a:pt x="200635" y="251364"/>
                </a:lnTo>
                <a:lnTo>
                  <a:pt x="0" y="2513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0800000">
            <a:off x="1913684" y="4160488"/>
            <a:ext cx="200635" cy="251365"/>
          </a:xfrm>
          <a:custGeom>
            <a:avLst/>
            <a:gdLst/>
            <a:ahLst/>
            <a:cxnLst/>
            <a:rect r="r" b="b" t="t" l="l"/>
            <a:pathLst>
              <a:path h="251365" w="200635">
                <a:moveTo>
                  <a:pt x="0" y="0"/>
                </a:moveTo>
                <a:lnTo>
                  <a:pt x="200635" y="0"/>
                </a:lnTo>
                <a:lnTo>
                  <a:pt x="200635" y="251365"/>
                </a:lnTo>
                <a:lnTo>
                  <a:pt x="0" y="2513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385388" y="9414246"/>
            <a:ext cx="4838090" cy="1009526"/>
          </a:xfrm>
          <a:custGeom>
            <a:avLst/>
            <a:gdLst/>
            <a:ahLst/>
            <a:cxnLst/>
            <a:rect r="r" b="b" t="t" l="l"/>
            <a:pathLst>
              <a:path h="1009526" w="4838090">
                <a:moveTo>
                  <a:pt x="0" y="0"/>
                </a:moveTo>
                <a:lnTo>
                  <a:pt x="4838090" y="0"/>
                </a:lnTo>
                <a:lnTo>
                  <a:pt x="4838090" y="1009526"/>
                </a:lnTo>
                <a:lnTo>
                  <a:pt x="0" y="1009526"/>
                </a:lnTo>
                <a:lnTo>
                  <a:pt x="0" y="0"/>
                </a:lnTo>
                <a:close/>
              </a:path>
            </a:pathLst>
          </a:custGeom>
          <a:blipFill>
            <a:blip r:embed="rId4"/>
            <a:stretch>
              <a:fillRect l="0" t="0" r="0" b="0"/>
            </a:stretch>
          </a:blipFill>
        </p:spPr>
      </p:sp>
      <p:sp>
        <p:nvSpPr>
          <p:cNvPr name="Freeform 6" id="6"/>
          <p:cNvSpPr/>
          <p:nvPr/>
        </p:nvSpPr>
        <p:spPr>
          <a:xfrm flipH="false" flipV="false" rot="1986000">
            <a:off x="1528664" y="7950353"/>
            <a:ext cx="1171310" cy="1245093"/>
          </a:xfrm>
          <a:custGeom>
            <a:avLst/>
            <a:gdLst/>
            <a:ahLst/>
            <a:cxnLst/>
            <a:rect r="r" b="b" t="t" l="l"/>
            <a:pathLst>
              <a:path h="1245093" w="1171310">
                <a:moveTo>
                  <a:pt x="0" y="0"/>
                </a:moveTo>
                <a:lnTo>
                  <a:pt x="1171310" y="0"/>
                </a:lnTo>
                <a:lnTo>
                  <a:pt x="1171310" y="1245093"/>
                </a:lnTo>
                <a:lnTo>
                  <a:pt x="0" y="124509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1392000">
            <a:off x="15542242" y="581628"/>
            <a:ext cx="1765303" cy="2249088"/>
          </a:xfrm>
          <a:custGeom>
            <a:avLst/>
            <a:gdLst/>
            <a:ahLst/>
            <a:cxnLst/>
            <a:rect r="r" b="b" t="t" l="l"/>
            <a:pathLst>
              <a:path h="2249088" w="1765303">
                <a:moveTo>
                  <a:pt x="0" y="0"/>
                </a:moveTo>
                <a:lnTo>
                  <a:pt x="1765302" y="0"/>
                </a:lnTo>
                <a:lnTo>
                  <a:pt x="1765302" y="2249088"/>
                </a:lnTo>
                <a:lnTo>
                  <a:pt x="0" y="224908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DAG5ZUF18aw</dc:identifier>
  <dcterms:modified xsi:type="dcterms:W3CDTF">2011-08-01T06:04:30Z</dcterms:modified>
  <cp:revision>1</cp:revision>
  <dc:title>sql_ppt_sourav</dc:title>
</cp:coreProperties>
</file>